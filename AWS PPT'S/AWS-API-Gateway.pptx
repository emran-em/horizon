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614"/>
    <a:srgbClr val="070D25"/>
    <a:srgbClr val="10BF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53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231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231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231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FFB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231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DDDA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231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76313" y="2163247"/>
            <a:ext cx="12868275" cy="1835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450"/>
              </a:lnSpc>
              <a:buNone/>
            </a:pPr>
            <a:r>
              <a:rPr lang="en-US" sz="11550" b="1" dirty="0">
                <a:solidFill>
                  <a:srgbClr val="16FFBB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AWS API Gateway:</a:t>
            </a:r>
            <a:endParaRPr lang="en-US" sz="1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767614" y="4506397"/>
            <a:ext cx="7095053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0FC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The Front Door to Scalable APIs</a:t>
            </a:r>
            <a:endParaRPr lang="en-US" sz="3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81063" y="5448776"/>
            <a:ext cx="12868275" cy="440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1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Unlocking the Power of Modern Application Connectivity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7368" y="924639"/>
            <a:ext cx="6653212" cy="588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0FCFF"/>
                </a:solidFill>
                <a:latin typeface="Arial" panose="020B0604020202020204" pitchFamily="34" charset="0"/>
                <a:ea typeface="Spline Sans Bold"/>
                <a:cs typeface="Arial" panose="020B0604020202020204" pitchFamily="34" charset="0"/>
              </a:rPr>
              <a:t>What is Amazon API Gateway?</a:t>
            </a:r>
            <a:endParaRPr lang="en-US" sz="3700" dirty="0">
              <a:latin typeface="Arial" panose="020B0604020202020204" pitchFamily="34" charset="0"/>
              <a:ea typeface="Spline Sans Bold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47368" y="1936671"/>
            <a:ext cx="12935664" cy="67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Amazon API Gateway is a fully managed service provided by AWS that empowers developers to create, publish, maintain, monitor, and secure APIs at any scale. It acts as a robust front door for applications to access data, business logic, or functionality from your backend services.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47368" y="3170396"/>
            <a:ext cx="4170640" cy="3218617"/>
          </a:xfrm>
          <a:prstGeom prst="roundRect">
            <a:avLst>
              <a:gd name="adj" fmla="val 3409"/>
            </a:avLst>
          </a:prstGeom>
          <a:solidFill>
            <a:srgbClr val="0A081B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7368" y="3147536"/>
            <a:ext cx="4170640" cy="91440"/>
          </a:xfrm>
          <a:prstGeom prst="roundRect">
            <a:avLst>
              <a:gd name="adj" fmla="val 347539"/>
            </a:avLst>
          </a:prstGeom>
          <a:solidFill>
            <a:srgbClr val="16FFBB"/>
          </a:solidFill>
          <a:ln/>
        </p:spPr>
      </p:sp>
      <p:sp>
        <p:nvSpPr>
          <p:cNvPr id="6" name="Shape 4"/>
          <p:cNvSpPr/>
          <p:nvPr/>
        </p:nvSpPr>
        <p:spPr>
          <a:xfrm>
            <a:off x="2614851" y="2852618"/>
            <a:ext cx="635556" cy="635556"/>
          </a:xfrm>
          <a:prstGeom prst="roundRect">
            <a:avLst>
              <a:gd name="adj" fmla="val 143874"/>
            </a:avLst>
          </a:prstGeom>
          <a:solidFill>
            <a:srgbClr val="16FFBB"/>
          </a:solidFill>
          <a:ln/>
        </p:spPr>
      </p:sp>
      <p:sp>
        <p:nvSpPr>
          <p:cNvPr id="7" name="Text 5"/>
          <p:cNvSpPr/>
          <p:nvPr/>
        </p:nvSpPr>
        <p:spPr>
          <a:xfrm>
            <a:off x="1082040" y="3699986"/>
            <a:ext cx="2353985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Versatile API Support</a:t>
            </a: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82040" y="4121229"/>
            <a:ext cx="3701296" cy="2033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Supports various API types including </a:t>
            </a:r>
            <a:r>
              <a:rPr lang="en-US" sz="16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REST APIs</a:t>
            </a:r>
            <a:r>
              <a:rPr lang="en-US" sz="16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for stateless communication, </a:t>
            </a:r>
            <a:r>
              <a:rPr lang="en-US" sz="16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HTTP APIs</a:t>
            </a:r>
            <a:r>
              <a:rPr lang="en-US" sz="16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for high-performance, cost-effective APIs, and </a:t>
            </a:r>
            <a:r>
              <a:rPr lang="en-US" sz="16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WebSocket APIs</a:t>
            </a:r>
            <a:r>
              <a:rPr lang="en-US" sz="16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for real-time, stateful bidirectional communication.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29820" y="3170396"/>
            <a:ext cx="4170640" cy="3218617"/>
          </a:xfrm>
          <a:prstGeom prst="roundRect">
            <a:avLst>
              <a:gd name="adj" fmla="val 3409"/>
            </a:avLst>
          </a:prstGeom>
          <a:solidFill>
            <a:srgbClr val="0A081B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29820" y="3147536"/>
            <a:ext cx="4170640" cy="91440"/>
          </a:xfrm>
          <a:prstGeom prst="roundRect">
            <a:avLst>
              <a:gd name="adj" fmla="val 347539"/>
            </a:avLst>
          </a:prstGeom>
          <a:solidFill>
            <a:srgbClr val="29DDDA"/>
          </a:solidFill>
          <a:ln/>
        </p:spPr>
      </p:sp>
      <p:sp>
        <p:nvSpPr>
          <p:cNvPr id="11" name="Shape 9"/>
          <p:cNvSpPr/>
          <p:nvPr/>
        </p:nvSpPr>
        <p:spPr>
          <a:xfrm>
            <a:off x="6997303" y="2852618"/>
            <a:ext cx="635556" cy="635556"/>
          </a:xfrm>
          <a:prstGeom prst="roundRect">
            <a:avLst>
              <a:gd name="adj" fmla="val 143874"/>
            </a:avLst>
          </a:prstGeom>
          <a:solidFill>
            <a:srgbClr val="16FFBB"/>
          </a:solidFill>
          <a:ln/>
        </p:spPr>
      </p:sp>
      <p:sp>
        <p:nvSpPr>
          <p:cNvPr id="12" name="Text 10"/>
          <p:cNvSpPr/>
          <p:nvPr/>
        </p:nvSpPr>
        <p:spPr>
          <a:xfrm>
            <a:off x="5464493" y="3699986"/>
            <a:ext cx="3362920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85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Seamless Backend Integration</a:t>
            </a:r>
          </a:p>
        </p:txBody>
      </p:sp>
      <p:sp>
        <p:nvSpPr>
          <p:cNvPr id="13" name="Text 11"/>
          <p:cNvSpPr/>
          <p:nvPr/>
        </p:nvSpPr>
        <p:spPr>
          <a:xfrm>
            <a:off x="5464493" y="4121229"/>
            <a:ext cx="3701296" cy="2033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Acts as a sophisticated gateway between your client applications and diverse backend services, such as </a:t>
            </a:r>
            <a:r>
              <a:rPr lang="en-US" sz="16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AWS Lambda functions</a:t>
            </a:r>
            <a:r>
              <a:rPr lang="en-US" sz="16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, applications running on </a:t>
            </a:r>
            <a:r>
              <a:rPr lang="en-US" sz="16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Amazon EC2 instances</a:t>
            </a:r>
            <a:r>
              <a:rPr lang="en-US" sz="16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, or even external </a:t>
            </a:r>
            <a:r>
              <a:rPr lang="en-US" sz="16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on-premises web services</a:t>
            </a:r>
            <a:r>
              <a:rPr lang="en-US" sz="16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12273" y="3170396"/>
            <a:ext cx="4170640" cy="3218617"/>
          </a:xfrm>
          <a:prstGeom prst="roundRect">
            <a:avLst>
              <a:gd name="adj" fmla="val 3409"/>
            </a:avLst>
          </a:prstGeom>
          <a:solidFill>
            <a:srgbClr val="0A081B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612273" y="3147536"/>
            <a:ext cx="4170640" cy="91440"/>
          </a:xfrm>
          <a:prstGeom prst="roundRect">
            <a:avLst>
              <a:gd name="adj" fmla="val 347539"/>
            </a:avLst>
          </a:prstGeom>
          <a:solidFill>
            <a:srgbClr val="37A7E7"/>
          </a:solidFill>
          <a:ln/>
        </p:spPr>
      </p:sp>
      <p:sp>
        <p:nvSpPr>
          <p:cNvPr id="16" name="Shape 14"/>
          <p:cNvSpPr/>
          <p:nvPr/>
        </p:nvSpPr>
        <p:spPr>
          <a:xfrm>
            <a:off x="11379756" y="2852618"/>
            <a:ext cx="635556" cy="635556"/>
          </a:xfrm>
          <a:prstGeom prst="roundRect">
            <a:avLst>
              <a:gd name="adj" fmla="val 143874"/>
            </a:avLst>
          </a:prstGeom>
          <a:solidFill>
            <a:srgbClr val="16FFBB"/>
          </a:solidFill>
          <a:ln/>
        </p:spPr>
      </p:sp>
      <p:sp>
        <p:nvSpPr>
          <p:cNvPr id="17" name="Text 15"/>
          <p:cNvSpPr/>
          <p:nvPr/>
        </p:nvSpPr>
        <p:spPr>
          <a:xfrm>
            <a:off x="9846945" y="3699986"/>
            <a:ext cx="2582347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85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Simplified API Lifecycle</a:t>
            </a:r>
          </a:p>
        </p:txBody>
      </p:sp>
      <p:sp>
        <p:nvSpPr>
          <p:cNvPr id="18" name="Text 16"/>
          <p:cNvSpPr/>
          <p:nvPr/>
        </p:nvSpPr>
        <p:spPr>
          <a:xfrm>
            <a:off x="9846945" y="4121229"/>
            <a:ext cx="3701296" cy="1694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Handles the heavy lifting of API management, allowing you to focus on your application's core logic. From deployment to retirement, API Gateway streamlines the entire API lifecycle.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7368" y="6627257"/>
            <a:ext cx="12935664" cy="67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This foundational service is crucial for building modern serverless and microservices architectures, providing a reliable and secure interface for all your digital interactions.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418022-592F-079F-5EC0-0B3C7D3716A2}"/>
              </a:ext>
            </a:extLst>
          </p:cNvPr>
          <p:cNvSpPr/>
          <p:nvPr/>
        </p:nvSpPr>
        <p:spPr>
          <a:xfrm>
            <a:off x="12804755" y="7724538"/>
            <a:ext cx="1757481" cy="499110"/>
          </a:xfrm>
          <a:prstGeom prst="rect">
            <a:avLst/>
          </a:prstGeom>
          <a:solidFill>
            <a:srgbClr val="070614"/>
          </a:solidFill>
          <a:effectLst>
            <a:softEdge rad="63500"/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7768" y="398383"/>
            <a:ext cx="8434864" cy="402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16FFBB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API Gateway Architecture:</a:t>
            </a:r>
            <a:r>
              <a:rPr lang="en-US" sz="2500" b="1" dirty="0">
                <a:solidFill>
                  <a:srgbClr val="F0FC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 Simplifying API Management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9596" y="1090732"/>
            <a:ext cx="13471208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API Gateway intelligently manages traffic, enhances security, and ensures optimal performance by integrating seamlessly with AWS's global infrastructure.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097" y="1543407"/>
            <a:ext cx="10408206" cy="71726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46719" y="6006505"/>
            <a:ext cx="2694200" cy="336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20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Traffic Management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492" y="4179290"/>
            <a:ext cx="673550" cy="6735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16754" y="3036570"/>
            <a:ext cx="2694200" cy="336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Authorization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542" y="4589946"/>
            <a:ext cx="673550" cy="6735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66912" y="6888646"/>
            <a:ext cx="2844277" cy="673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20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Throttling &amp; Monitoring</a:t>
            </a: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4803" y="5000601"/>
            <a:ext cx="673550" cy="6735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330191" y="3829465"/>
            <a:ext cx="2767238" cy="336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20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Backend &amp; Versioning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0878" y="5441566"/>
            <a:ext cx="673550" cy="6735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79596" y="8879086"/>
            <a:ext cx="13471208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By offloading these critical functions, API Gateway allows your backend services to focus purely on business logic, leading to more resilient and performant applications.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DD5784-DD6E-9303-B153-731A772695F3}"/>
              </a:ext>
            </a:extLst>
          </p:cNvPr>
          <p:cNvSpPr/>
          <p:nvPr/>
        </p:nvSpPr>
        <p:spPr>
          <a:xfrm>
            <a:off x="12804755" y="7724538"/>
            <a:ext cx="1757481" cy="499110"/>
          </a:xfrm>
          <a:prstGeom prst="rect">
            <a:avLst/>
          </a:prstGeom>
          <a:solidFill>
            <a:srgbClr val="070D25"/>
          </a:solidFill>
          <a:effectLst>
            <a:softEdge rad="63500"/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231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183368" y="1326594"/>
            <a:ext cx="10454164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16FFBB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Dynamic Request Routing</a:t>
            </a:r>
            <a:r>
              <a:rPr lang="en-US" sz="3850" b="1" dirty="0">
                <a:solidFill>
                  <a:srgbClr val="F0FC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 and Global Delivery</a:t>
            </a:r>
            <a:endParaRPr lang="en-US" sz="3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47713" y="1931074"/>
            <a:ext cx="12868275" cy="88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1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API Gateway effectively routes and processes client requests, ensuring efficient and secure communication with diverse backend services, all accelerated by CloudFront's global edge network.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8673" y="688181"/>
            <a:ext cx="7267575" cy="561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0FC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Key Features That Power Your APIs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08673" y="1654016"/>
            <a:ext cx="13013055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AWS API Gateway provides a comprehensive suite of features designed to make API creation and management effortless, secure, and highly scalable.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73" y="2204799"/>
            <a:ext cx="404336" cy="404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8673" y="2861786"/>
            <a:ext cx="2784158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RESTful &amp; WebSocket APIs</a:t>
            </a:r>
          </a:p>
        </p:txBody>
      </p:sp>
      <p:sp>
        <p:nvSpPr>
          <p:cNvPr id="6" name="Text 3"/>
          <p:cNvSpPr/>
          <p:nvPr/>
        </p:nvSpPr>
        <p:spPr>
          <a:xfrm>
            <a:off x="808673" y="3263741"/>
            <a:ext cx="6380202" cy="97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Supports both traditional </a:t>
            </a:r>
            <a:r>
              <a:rPr lang="en-US" sz="15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RESTful APIs</a:t>
            </a: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(HTTP and REST) for request-response patterns and </a:t>
            </a:r>
            <a:r>
              <a:rPr lang="en-US" sz="15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WebSocket APIs</a:t>
            </a: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for real-time, bidirectional communication in applications like chat and live updates.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525" y="2204799"/>
            <a:ext cx="404336" cy="404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1525" y="2861786"/>
            <a:ext cx="2437209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Flexible Authentication</a:t>
            </a:r>
          </a:p>
        </p:txBody>
      </p:sp>
      <p:sp>
        <p:nvSpPr>
          <p:cNvPr id="9" name="Text 5"/>
          <p:cNvSpPr/>
          <p:nvPr/>
        </p:nvSpPr>
        <p:spPr>
          <a:xfrm>
            <a:off x="7441525" y="3263741"/>
            <a:ext cx="6380202" cy="129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Offers multiple authentication mechanisms, including </a:t>
            </a:r>
            <a:r>
              <a:rPr lang="en-US" sz="15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IAM policies</a:t>
            </a: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for fine-grained access, </a:t>
            </a:r>
            <a:r>
              <a:rPr lang="en-US" sz="15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Lambda authorizers</a:t>
            </a: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for custom logic, </a:t>
            </a:r>
            <a:r>
              <a:rPr lang="en-US" sz="15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Amazon Cognito</a:t>
            </a: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for user management, and standard </a:t>
            </a:r>
            <a:r>
              <a:rPr lang="en-US" sz="15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OAuth 2.0</a:t>
            </a: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and </a:t>
            </a:r>
            <a:r>
              <a:rPr lang="en-US" sz="15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OpenID Connect</a:t>
            </a: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for broader compatibility.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3" y="4961573"/>
            <a:ext cx="404336" cy="4043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8673" y="5618559"/>
            <a:ext cx="2246352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Canary Deployments</a:t>
            </a:r>
          </a:p>
        </p:txBody>
      </p:sp>
      <p:sp>
        <p:nvSpPr>
          <p:cNvPr id="12" name="Text 7"/>
          <p:cNvSpPr/>
          <p:nvPr/>
        </p:nvSpPr>
        <p:spPr>
          <a:xfrm>
            <a:off x="808673" y="6020514"/>
            <a:ext cx="6380202" cy="97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Enables </a:t>
            </a:r>
            <a:r>
              <a:rPr lang="en-US" sz="15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canary deployments</a:t>
            </a: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to roll out new API versions safely by gradually shifting traffic to the new version, allowing for real-time monitoring and quick rollbacks if issues arise.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1525" y="4961573"/>
            <a:ext cx="404336" cy="40433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1525" y="5618559"/>
            <a:ext cx="2526863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Custom Domains &amp; WAF</a:t>
            </a:r>
          </a:p>
        </p:txBody>
      </p:sp>
      <p:sp>
        <p:nvSpPr>
          <p:cNvPr id="15" name="Text 9"/>
          <p:cNvSpPr/>
          <p:nvPr/>
        </p:nvSpPr>
        <p:spPr>
          <a:xfrm>
            <a:off x="7441525" y="6020514"/>
            <a:ext cx="6380202" cy="970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Supports </a:t>
            </a:r>
            <a:r>
              <a:rPr lang="en-US" sz="15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custom domain names</a:t>
            </a: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for brand consistency and integrates natively with </a:t>
            </a:r>
            <a:r>
              <a:rPr lang="en-US" sz="15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AWS WAF</a:t>
            </a: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(Web Application Firewall) to protect your APIs from common web exploits and bots.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808673" y="7218045"/>
            <a:ext cx="13013055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These features collectively ensure that your APIs are not just functional, but also secure, robust, and easy to manage throughout their lifecycle.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1EB8BF-403A-BD4A-8921-49DD1CB4DA7A}"/>
              </a:ext>
            </a:extLst>
          </p:cNvPr>
          <p:cNvSpPr/>
          <p:nvPr/>
        </p:nvSpPr>
        <p:spPr>
          <a:xfrm>
            <a:off x="12804755" y="7724538"/>
            <a:ext cx="1757481" cy="499110"/>
          </a:xfrm>
          <a:prstGeom prst="rect">
            <a:avLst/>
          </a:prstGeom>
          <a:solidFill>
            <a:srgbClr val="070614"/>
          </a:solidFill>
          <a:effectLst>
            <a:softEdge rad="63500"/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956" y="712827"/>
            <a:ext cx="6948488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91231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Security &amp; Governance</a:t>
            </a:r>
            <a:r>
              <a:rPr lang="en-US" sz="3850" b="1" dirty="0">
                <a:solidFill>
                  <a:srgbClr val="000000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 Built In</a:t>
            </a:r>
            <a:endParaRPr lang="en-US" sz="3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81063" y="1765340"/>
            <a:ext cx="12868275" cy="88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AWS API Gateway offers a multi-layered approach to security and compliance, protecting your APIs and data from endpoint to backend.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1063" y="2894171"/>
            <a:ext cx="12868275" cy="4622483"/>
          </a:xfrm>
          <a:prstGeom prst="roundRect">
            <a:avLst>
              <a:gd name="adj" fmla="val 7149"/>
            </a:avLst>
          </a:prstGeom>
          <a:solidFill>
            <a:srgbClr val="16FFB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3923" y="2917031"/>
            <a:ext cx="6411278" cy="2288381"/>
          </a:xfrm>
          <a:prstGeom prst="roundRect">
            <a:avLst>
              <a:gd name="adj" fmla="val 14440"/>
            </a:avLst>
          </a:prstGeom>
          <a:solidFill>
            <a:srgbClr val="091231"/>
          </a:solidFill>
          <a:ln/>
        </p:spPr>
      </p:sp>
      <p:sp>
        <p:nvSpPr>
          <p:cNvPr id="6" name="Text 4"/>
          <p:cNvSpPr/>
          <p:nvPr/>
        </p:nvSpPr>
        <p:spPr>
          <a:xfrm>
            <a:off x="1124188" y="3137297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AWS WAF Integration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24188" y="3575447"/>
            <a:ext cx="5640348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Natively integrates with </a:t>
            </a: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AWS Web Application Firewall (WAF)</a:t>
            </a: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to provide robust protection against common web exploits and bots, such as SQL injection and cross-site scripting (XSS), safeguarding your APIs at the edge.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0" y="2917031"/>
            <a:ext cx="6411278" cy="2288381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917031"/>
            <a:ext cx="30480" cy="2288381"/>
          </a:xfrm>
          <a:prstGeom prst="roundRect">
            <a:avLst>
              <a:gd name="adj" fmla="val 1084131"/>
            </a:avLst>
          </a:prstGeom>
          <a:solidFill>
            <a:srgbClr val="222B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5864" y="3137297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Access Control</a:t>
            </a:r>
          </a:p>
        </p:txBody>
      </p:sp>
      <p:sp>
        <p:nvSpPr>
          <p:cNvPr id="11" name="Text 9"/>
          <p:cNvSpPr/>
          <p:nvPr/>
        </p:nvSpPr>
        <p:spPr>
          <a:xfrm>
            <a:off x="7865864" y="3575447"/>
            <a:ext cx="5640348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Supports </a:t>
            </a: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fine-grained access control</a:t>
            </a: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using AWS Identity and Access Management (</a:t>
            </a: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IAM</a:t>
            </a: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) policies and </a:t>
            </a: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Amazon Cognito user pools</a:t>
            </a: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, allowing you to define precise permissions for who can access your API resources.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039928" y="3785890"/>
            <a:ext cx="550664" cy="550664"/>
          </a:xfrm>
          <a:prstGeom prst="roundRect">
            <a:avLst>
              <a:gd name="adj" fmla="val 60008"/>
            </a:avLst>
          </a:prstGeom>
          <a:solidFill>
            <a:srgbClr val="16FFBB">
              <a:alpha val="75000"/>
            </a:srgbClr>
          </a:solidFill>
          <a:ln w="30480">
            <a:solidFill>
              <a:srgbClr val="222B4A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564" y="3889117"/>
            <a:ext cx="275273" cy="34421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03923" y="5205413"/>
            <a:ext cx="6411278" cy="2288381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5" name="Shape 12"/>
          <p:cNvSpPr/>
          <p:nvPr/>
        </p:nvSpPr>
        <p:spPr>
          <a:xfrm>
            <a:off x="903923" y="5205413"/>
            <a:ext cx="6411278" cy="30480"/>
          </a:xfrm>
          <a:prstGeom prst="roundRect">
            <a:avLst>
              <a:gd name="adj" fmla="val 1084131"/>
            </a:avLst>
          </a:prstGeom>
          <a:solidFill>
            <a:srgbClr val="222B4A"/>
          </a:solidFill>
          <a:ln/>
        </p:spPr>
      </p:sp>
      <p:sp>
        <p:nvSpPr>
          <p:cNvPr id="16" name="Text 13"/>
          <p:cNvSpPr/>
          <p:nvPr/>
        </p:nvSpPr>
        <p:spPr>
          <a:xfrm>
            <a:off x="1124188" y="5425678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Audit &amp; Compliance</a:t>
            </a:r>
          </a:p>
        </p:txBody>
      </p:sp>
      <p:sp>
        <p:nvSpPr>
          <p:cNvPr id="17" name="Text 14"/>
          <p:cNvSpPr/>
          <p:nvPr/>
        </p:nvSpPr>
        <p:spPr>
          <a:xfrm>
            <a:off x="1124188" y="5863828"/>
            <a:ext cx="5640348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Ensures auditability and compliance readiness with integrations like </a:t>
            </a: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AWS CloudTrail</a:t>
            </a: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for logging API calls and </a:t>
            </a: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AWS Config</a:t>
            </a: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for monitoring resource configurations, maintaining a clear record of all API activities.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315200" y="5205413"/>
            <a:ext cx="6411278" cy="2288381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0" y="5205413"/>
            <a:ext cx="30480" cy="2288381"/>
          </a:xfrm>
          <a:prstGeom prst="roundRect">
            <a:avLst>
              <a:gd name="adj" fmla="val 1084131"/>
            </a:avLst>
          </a:prstGeom>
          <a:solidFill>
            <a:srgbClr val="222B4A"/>
          </a:solidFill>
          <a:ln/>
        </p:spPr>
      </p:sp>
      <p:sp>
        <p:nvSpPr>
          <p:cNvPr id="20" name="Shape 17"/>
          <p:cNvSpPr/>
          <p:nvPr/>
        </p:nvSpPr>
        <p:spPr>
          <a:xfrm>
            <a:off x="7315200" y="5205413"/>
            <a:ext cx="6411278" cy="30480"/>
          </a:xfrm>
          <a:prstGeom prst="roundRect">
            <a:avLst>
              <a:gd name="adj" fmla="val 1084131"/>
            </a:avLst>
          </a:prstGeom>
          <a:solidFill>
            <a:srgbClr val="222B4A"/>
          </a:solidFill>
          <a:ln/>
        </p:spPr>
      </p:sp>
      <p:sp>
        <p:nvSpPr>
          <p:cNvPr id="21" name="Text 18"/>
          <p:cNvSpPr/>
          <p:nvPr/>
        </p:nvSpPr>
        <p:spPr>
          <a:xfrm>
            <a:off x="7865864" y="5425678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b="1" dirty="0">
                <a:solidFill>
                  <a:srgbClr val="FFFF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Monitoring &amp; Tracing</a:t>
            </a:r>
          </a:p>
        </p:txBody>
      </p:sp>
      <p:sp>
        <p:nvSpPr>
          <p:cNvPr id="22" name="Text 19"/>
          <p:cNvSpPr/>
          <p:nvPr/>
        </p:nvSpPr>
        <p:spPr>
          <a:xfrm>
            <a:off x="7865864" y="5863828"/>
            <a:ext cx="5640348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Provides end-to-end monitoring with </a:t>
            </a: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Amazon CloudWatch</a:t>
            </a: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for API metrics and logs, and </a:t>
            </a: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AWS X-Ray</a:t>
            </a:r>
            <a:r>
              <a:rPr lang="en-US" sz="1700" dirty="0">
                <a:solidFill>
                  <a:srgbClr val="FFFFFF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for tracing requests through your API Gateway and integrated backend services, enabling quick troubleshooting.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039928" y="6074271"/>
            <a:ext cx="550664" cy="550664"/>
          </a:xfrm>
          <a:prstGeom prst="roundRect">
            <a:avLst>
              <a:gd name="adj" fmla="val 60008"/>
            </a:avLst>
          </a:prstGeom>
          <a:solidFill>
            <a:srgbClr val="16FFBB">
              <a:alpha val="75000"/>
            </a:srgbClr>
          </a:solidFill>
          <a:ln w="30480">
            <a:solidFill>
              <a:srgbClr val="222B4A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564" y="6177498"/>
            <a:ext cx="275273" cy="34421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53EB079-878F-012C-E90C-49DB9E2E8F69}"/>
              </a:ext>
            </a:extLst>
          </p:cNvPr>
          <p:cNvSpPr/>
          <p:nvPr/>
        </p:nvSpPr>
        <p:spPr>
          <a:xfrm>
            <a:off x="12804755" y="7724538"/>
            <a:ext cx="1757481" cy="499110"/>
          </a:xfrm>
          <a:prstGeom prst="rect">
            <a:avLst/>
          </a:prstGeom>
          <a:solidFill>
            <a:srgbClr val="10BF8C"/>
          </a:solidFill>
          <a:effectLst>
            <a:softEdge rad="63500"/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1205389"/>
            <a:ext cx="8871347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0FCFF"/>
                </a:solidFill>
                <a:latin typeface="Arial" panose="020B0604020202020204" pitchFamily="34" charset="0"/>
                <a:ea typeface="Spline Sans Bold"/>
                <a:cs typeface="Arial" panose="020B0604020202020204" pitchFamily="34" charset="0"/>
              </a:rPr>
              <a:t>Scalability &amp; Performance at Any Scale</a:t>
            </a:r>
            <a:endParaRPr lang="en-US" sz="3850" dirty="0">
              <a:latin typeface="Arial" panose="020B0604020202020204" pitchFamily="34" charset="0"/>
              <a:ea typeface="Spline Sans Bold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81063" y="2257901"/>
            <a:ext cx="1286827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AWS API Gateway is engineered for high performance and elasticity, ensuring your APIs can handle fluctuating demand without manual intervention.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1063" y="3320653"/>
            <a:ext cx="3413284" cy="275273"/>
          </a:xfrm>
          <a:prstGeom prst="roundRect">
            <a:avLst>
              <a:gd name="adj" fmla="val 120042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1063" y="3320653"/>
            <a:ext cx="34052" cy="275273"/>
          </a:xfrm>
          <a:prstGeom prst="roundRect">
            <a:avLst>
              <a:gd name="adj" fmla="val 970407"/>
            </a:avLst>
          </a:prstGeom>
          <a:solidFill>
            <a:srgbClr val="16FFBB"/>
          </a:solidFill>
          <a:ln/>
        </p:spPr>
      </p:sp>
      <p:sp>
        <p:nvSpPr>
          <p:cNvPr id="6" name="Text 4"/>
          <p:cNvSpPr/>
          <p:nvPr/>
        </p:nvSpPr>
        <p:spPr>
          <a:xfrm>
            <a:off x="4459486" y="3320653"/>
            <a:ext cx="527447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1M+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1063" y="3871198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Concurrent Calls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1063" y="4309348"/>
            <a:ext cx="410587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Automatically scales to handle </a:t>
            </a:r>
            <a:r>
              <a:rPr lang="en-US" sz="170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hundreds of thousands of concurrent API calls</a:t>
            </a:r>
            <a:r>
              <a:rPr lang="en-US" sz="17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without requiring pre-provisioning or warm-up, adapting effortlessly to peak loads.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62205" y="3320653"/>
            <a:ext cx="3355181" cy="275273"/>
          </a:xfrm>
          <a:prstGeom prst="roundRect">
            <a:avLst>
              <a:gd name="adj" fmla="val 120042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62205" y="3320653"/>
            <a:ext cx="3019663" cy="275273"/>
          </a:xfrm>
          <a:prstGeom prst="roundRect">
            <a:avLst>
              <a:gd name="adj" fmla="val 120042"/>
            </a:avLst>
          </a:prstGeom>
          <a:solidFill>
            <a:srgbClr val="29DDDA"/>
          </a:solidFill>
          <a:ln/>
        </p:spPr>
      </p:sp>
      <p:sp>
        <p:nvSpPr>
          <p:cNvPr id="11" name="Text 9"/>
          <p:cNvSpPr/>
          <p:nvPr/>
        </p:nvSpPr>
        <p:spPr>
          <a:xfrm>
            <a:off x="8782526" y="3320653"/>
            <a:ext cx="585549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90%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62205" y="3871198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Cost Efficiency</a:t>
            </a:r>
          </a:p>
        </p:txBody>
      </p:sp>
      <p:sp>
        <p:nvSpPr>
          <p:cNvPr id="13" name="Text 11"/>
          <p:cNvSpPr/>
          <p:nvPr/>
        </p:nvSpPr>
        <p:spPr>
          <a:xfrm>
            <a:off x="5262205" y="4309348"/>
            <a:ext cx="4105870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Leverages a tiered pricing model, offering rates as low as </a:t>
            </a:r>
            <a:r>
              <a:rPr lang="en-US" sz="170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$0.90 per million requests</a:t>
            </a:r>
            <a:r>
              <a:rPr lang="en-US" sz="17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at the highest usage tiers, providing significant cost savings as your API usage grows.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43348" y="3320653"/>
            <a:ext cx="3224689" cy="275273"/>
          </a:xfrm>
          <a:prstGeom prst="roundRect">
            <a:avLst>
              <a:gd name="adj" fmla="val 120042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43348" y="3320653"/>
            <a:ext cx="3224689" cy="275273"/>
          </a:xfrm>
          <a:prstGeom prst="roundRect">
            <a:avLst>
              <a:gd name="adj" fmla="val 120042"/>
            </a:avLst>
          </a:prstGeom>
          <a:solidFill>
            <a:srgbClr val="37A7E7"/>
          </a:solidFill>
          <a:ln/>
        </p:spPr>
      </p:sp>
      <p:sp>
        <p:nvSpPr>
          <p:cNvPr id="16" name="Text 14"/>
          <p:cNvSpPr/>
          <p:nvPr/>
        </p:nvSpPr>
        <p:spPr>
          <a:xfrm>
            <a:off x="13033177" y="3320653"/>
            <a:ext cx="716161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100%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43348" y="3871198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Global Reach</a:t>
            </a:r>
          </a:p>
        </p:txBody>
      </p:sp>
      <p:sp>
        <p:nvSpPr>
          <p:cNvPr id="18" name="Text 16"/>
          <p:cNvSpPr/>
          <p:nvPr/>
        </p:nvSpPr>
        <p:spPr>
          <a:xfrm>
            <a:off x="9643348" y="4309348"/>
            <a:ext cx="4105989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Utilizes Amazon CloudFront's </a:t>
            </a:r>
            <a:r>
              <a:rPr lang="en-US" sz="170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global edge network</a:t>
            </a:r>
            <a:r>
              <a:rPr lang="en-US" sz="17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, caching API responses at edge locations worldwide to ensure the fastest possible response times for your users, regardless of their geographic location.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1063" y="6319242"/>
            <a:ext cx="1286827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Additionally, API Gateway includes features like </a:t>
            </a:r>
            <a:r>
              <a:rPr lang="en-US" sz="170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traffic throttling</a:t>
            </a:r>
            <a:r>
              <a:rPr lang="en-US" sz="17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to protect your backend systems from being overwhelmed and </a:t>
            </a:r>
            <a:r>
              <a:rPr lang="en-US" sz="170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caching</a:t>
            </a:r>
            <a:r>
              <a:rPr lang="en-US" sz="17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to reduce latency and the load on your backend.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494EA-FA8E-26A3-4A38-67D85F5DC13E}"/>
              </a:ext>
            </a:extLst>
          </p:cNvPr>
          <p:cNvSpPr/>
          <p:nvPr/>
        </p:nvSpPr>
        <p:spPr>
          <a:xfrm>
            <a:off x="12804755" y="7724538"/>
            <a:ext cx="1757481" cy="499110"/>
          </a:xfrm>
          <a:prstGeom prst="rect">
            <a:avLst/>
          </a:prstGeom>
          <a:solidFill>
            <a:srgbClr val="070614"/>
          </a:solidFill>
          <a:effectLst>
            <a:softEdge rad="63500"/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4648" y="768787"/>
            <a:ext cx="5021104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16FFBB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Real-World</a:t>
            </a:r>
            <a:r>
              <a:rPr lang="en-US" sz="3850" b="1" dirty="0">
                <a:solidFill>
                  <a:srgbClr val="F0FC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 Use Cases</a:t>
            </a:r>
            <a:endParaRPr lang="en-US" sz="3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81063" y="1821299"/>
            <a:ext cx="12868275" cy="88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21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AWS API Gateway empowers a wide range of applications and architectures, from modern serverless apps to legacy system integrations.</a:t>
            </a:r>
            <a:endParaRPr lang="en-US" sz="2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81063" y="3170396"/>
            <a:ext cx="2745819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Serverless Applications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1063" y="3696653"/>
            <a:ext cx="6165413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Seamlessly integrates with AWS Lambda to create powerful serverless applications, handling millions of requests daily without managing any servers. Ideal for dynamic content, mobile backends, and data processing.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81063" y="5326618"/>
            <a:ext cx="3444359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Legacy System Modernization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1063" y="5852874"/>
            <a:ext cx="6165413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Acts as a modern facade for older, monolithic systems, allowing you to proxy HTTP requests through API Gateway. This enables integration with new applications and gradual modernization without re-architecting everything at once.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1544" y="3170396"/>
            <a:ext cx="3249335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Mobile &amp; Web App Backends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1544" y="3696653"/>
            <a:ext cx="6165413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Provides secure, scalable, and low-latency API endpoints for mobile and web applications, ensuring fast data retrieval and submission. Includes features for user authentication and authorization, simplifying development.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1544" y="5326618"/>
            <a:ext cx="2667714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Real-Time Applications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1544" y="5852874"/>
            <a:ext cx="6165413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Leverages WebSocket APIs to enable real-time communication for interactive applications such as chat platforms, multi-player gaming, live dashboards, and streaming data updates.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2B7966-3B59-1F88-B8D8-664A38670BDA}"/>
              </a:ext>
            </a:extLst>
          </p:cNvPr>
          <p:cNvSpPr/>
          <p:nvPr/>
        </p:nvSpPr>
        <p:spPr>
          <a:xfrm>
            <a:off x="12804755" y="7724538"/>
            <a:ext cx="1757481" cy="499110"/>
          </a:xfrm>
          <a:prstGeom prst="rect">
            <a:avLst/>
          </a:prstGeom>
          <a:solidFill>
            <a:srgbClr val="070D25"/>
          </a:solidFill>
          <a:effectLst>
            <a:softEdge rad="63500"/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737" y="572333"/>
            <a:ext cx="7530584" cy="520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0FCFF"/>
                </a:solidFill>
                <a:latin typeface="Arial" panose="020B0604020202020204" pitchFamily="34" charset="0"/>
                <a:ea typeface="Spline Sans Bold"/>
                <a:cs typeface="Arial" panose="020B0604020202020204" pitchFamily="34" charset="0"/>
              </a:rPr>
              <a:t>Getting Started with AWS API Gateway</a:t>
            </a:r>
            <a:endParaRPr lang="en-US" sz="3250" dirty="0">
              <a:latin typeface="Arial" panose="020B0604020202020204" pitchFamily="34" charset="0"/>
              <a:ea typeface="Spline Sans Bold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9737" y="1467803"/>
            <a:ext cx="13130927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Embarking on your API development journey with AWS API Gateway is straightforward, offering multiple tools and resources to get you up and running quickly.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30843" y="2446973"/>
            <a:ext cx="6190536" cy="187404"/>
          </a:xfrm>
          <a:prstGeom prst="roundRect">
            <a:avLst>
              <a:gd name="adj" fmla="val 150044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737" y="2259509"/>
            <a:ext cx="562332" cy="562332"/>
          </a:xfrm>
          <a:prstGeom prst="roundRect">
            <a:avLst>
              <a:gd name="adj" fmla="val 81304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49" y="2364998"/>
            <a:ext cx="281107" cy="351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7141" y="3009305"/>
            <a:ext cx="2082879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Management Tools</a:t>
            </a:r>
          </a:p>
        </p:txBody>
      </p:sp>
      <p:sp>
        <p:nvSpPr>
          <p:cNvPr id="8" name="Text 5"/>
          <p:cNvSpPr/>
          <p:nvPr/>
        </p:nvSpPr>
        <p:spPr>
          <a:xfrm>
            <a:off x="937141" y="3381970"/>
            <a:ext cx="6096953" cy="89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Create and manage your APIs using the intuitive </a:t>
            </a:r>
            <a:r>
              <a:rPr lang="en-US" sz="14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AWS Management Console</a:t>
            </a:r>
            <a:r>
              <a:rPr lang="en-US" sz="14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, automate tasks with the </a:t>
            </a:r>
            <a:r>
              <a:rPr lang="en-US" sz="14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AWS Command Line Interface (CLI)</a:t>
            </a:r>
            <a:r>
              <a:rPr lang="en-US" sz="14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, or integrate directly into your applications using the various </a:t>
            </a:r>
            <a:r>
              <a:rPr lang="en-US" sz="14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AWS SDKs</a:t>
            </a:r>
            <a:r>
              <a:rPr lang="en-US" sz="14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690009" y="2165866"/>
            <a:ext cx="6190536" cy="187404"/>
          </a:xfrm>
          <a:prstGeom prst="roundRect">
            <a:avLst>
              <a:gd name="adj" fmla="val 150044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08902" y="1978402"/>
            <a:ext cx="562332" cy="562332"/>
          </a:xfrm>
          <a:prstGeom prst="roundRect">
            <a:avLst>
              <a:gd name="adj" fmla="val 81304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515" y="2083891"/>
            <a:ext cx="281107" cy="351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96307" y="2728198"/>
            <a:ext cx="2302788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b="1" dirty="0" err="1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OpenAPI</a:t>
            </a:r>
            <a:r>
              <a:rPr lang="en-US" sz="160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 Specifications</a:t>
            </a:r>
          </a:p>
        </p:txBody>
      </p:sp>
      <p:sp>
        <p:nvSpPr>
          <p:cNvPr id="13" name="Text 9"/>
          <p:cNvSpPr/>
          <p:nvPr/>
        </p:nvSpPr>
        <p:spPr>
          <a:xfrm>
            <a:off x="7596307" y="3100864"/>
            <a:ext cx="6096953" cy="89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Easily import existing APIs or export your API Gateway definitions using </a:t>
            </a:r>
            <a:r>
              <a:rPr lang="en-US" sz="14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OpenAPI specifications</a:t>
            </a:r>
            <a:r>
              <a:rPr lang="en-US" sz="14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(versions v2 &amp; v3), facilitating collaboration and consistent API design across your teams.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030843" y="5124688"/>
            <a:ext cx="6190536" cy="187404"/>
          </a:xfrm>
          <a:prstGeom prst="roundRect">
            <a:avLst>
              <a:gd name="adj" fmla="val 150044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737" y="4937224"/>
            <a:ext cx="562332" cy="562332"/>
          </a:xfrm>
          <a:prstGeom prst="roundRect">
            <a:avLst>
              <a:gd name="adj" fmla="val 81304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349" y="5042714"/>
            <a:ext cx="281107" cy="351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141" y="5687020"/>
            <a:ext cx="2082879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Developer Portal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37141" y="6059686"/>
            <a:ext cx="6096953" cy="89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Expedite the onboarding of third-party developers with an optional </a:t>
            </a:r>
            <a:r>
              <a:rPr lang="en-US" sz="1450" b="1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developer portal</a:t>
            </a:r>
            <a:r>
              <a:rPr lang="en-US" sz="14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. This provides a self-service platform for API discovery, documentation, API key management, and SDK generation.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690009" y="4843582"/>
            <a:ext cx="6190536" cy="187404"/>
          </a:xfrm>
          <a:prstGeom prst="roundRect">
            <a:avLst>
              <a:gd name="adj" fmla="val 150044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08902" y="4656118"/>
            <a:ext cx="562332" cy="562332"/>
          </a:xfrm>
          <a:prstGeom prst="roundRect">
            <a:avLst>
              <a:gd name="adj" fmla="val 81304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9515" y="4761607"/>
            <a:ext cx="281107" cy="351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96307" y="5405914"/>
            <a:ext cx="2082879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600" b="1" dirty="0">
                <a:solidFill>
                  <a:srgbClr val="E0E4E6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Hands-On Tutorials</a:t>
            </a:r>
          </a:p>
        </p:txBody>
      </p:sp>
      <p:sp>
        <p:nvSpPr>
          <p:cNvPr id="23" name="Text 17"/>
          <p:cNvSpPr/>
          <p:nvPr/>
        </p:nvSpPr>
        <p:spPr>
          <a:xfrm>
            <a:off x="7596307" y="5778579"/>
            <a:ext cx="6096953" cy="89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Dive in with comprehensive, step-by-step tutorials available for various scenarios, including building serverless web applications and integrating API Gateway into your DevOps pipelines.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49737" y="7357348"/>
            <a:ext cx="13130927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These resources ensure that both new and experienced developers can leverage API Gateway's full potential efficiently.</a:t>
            </a:r>
            <a:endParaRPr lang="en-US" sz="1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1FFD0D-FA1E-7A67-0D90-D3C11EDFA8FC}"/>
              </a:ext>
            </a:extLst>
          </p:cNvPr>
          <p:cNvSpPr/>
          <p:nvPr/>
        </p:nvSpPr>
        <p:spPr>
          <a:xfrm>
            <a:off x="12804755" y="7724538"/>
            <a:ext cx="1757481" cy="499110"/>
          </a:xfrm>
          <a:prstGeom prst="rect">
            <a:avLst/>
          </a:prstGeom>
          <a:solidFill>
            <a:srgbClr val="070614"/>
          </a:solidFill>
          <a:effectLst>
            <a:softEdge rad="63500"/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122" y="632341"/>
            <a:ext cx="7579757" cy="1086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The Future of API Management with </a:t>
            </a:r>
            <a:r>
              <a:rPr lang="en-US" sz="3400" b="1" dirty="0">
                <a:solidFill>
                  <a:srgbClr val="091231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AWS API Gateway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82122" y="2011918"/>
            <a:ext cx="7579757" cy="1564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AWS API Gateway stands as a cornerstone of modern cloud architecture, offering a unified, secure, and infinitely scalable platform for managing all your APIs. It's more than just a gateway; it's an enabler for innovation.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2122" y="3795832"/>
            <a:ext cx="7579757" cy="625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Unified Platform: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A single, consolidated service to handle all API types, from RESTful to WebSockets, simplifying management and reducing operational overhead.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2122" y="4489728"/>
            <a:ext cx="7579757" cy="938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Continuous Innovation: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AWS consistently adds new features, deeper integrations, and performance enhancements, ensuring API Gateway remains at the forefront of API management technology.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82122" y="5496401"/>
            <a:ext cx="7579757" cy="938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Empower Your Teams:</a:t>
            </a: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Barlow" pitchFamily="34" charset="-122"/>
                <a:cs typeface="Arial" panose="020B0604020202020204" pitchFamily="34" charset="0"/>
              </a:rPr>
              <a:t> Provides developers with the tools and confidence to build, deploy, and manage APIs efficiently at any scale, fostering agility and rapid development.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1317" y="6727984"/>
            <a:ext cx="7121366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anose="020B0604020202020204" pitchFamily="34" charset="0"/>
                <a:ea typeface="Spline Sans Bold" pitchFamily="34" charset="-122"/>
                <a:cs typeface="Arial" panose="020B0604020202020204" pitchFamily="34" charset="0"/>
              </a:rPr>
              <a:t>Ready to Unlock Your API Potential? Start Building Today with AWS API Gateway!</a:t>
            </a: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1320</Words>
  <Application>Microsoft Office PowerPoint</Application>
  <PresentationFormat>Custom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MD Waseem</cp:lastModifiedBy>
  <cp:revision>8</cp:revision>
  <dcterms:created xsi:type="dcterms:W3CDTF">2025-08-17T07:29:50Z</dcterms:created>
  <dcterms:modified xsi:type="dcterms:W3CDTF">2025-08-17T12:08:29Z</dcterms:modified>
</cp:coreProperties>
</file>