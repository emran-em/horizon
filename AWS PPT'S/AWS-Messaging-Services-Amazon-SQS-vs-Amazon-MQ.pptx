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14630400" cy="8229600"/>
  <p:notesSz cx="8229600" cy="146304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7061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00" d="100"/>
          <a:sy n="100" d="100"/>
        </p:scale>
        <p:origin x="186" y="9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51157224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3.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4.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5.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6.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7.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8.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9.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10.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11.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A081B">
              <a:alpha val="7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A081B">
              <a:alpha val="7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A081B">
              <a:alpha val="7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A081B">
              <a:alpha val="7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A081B">
              <a:alpha val="7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A081B">
              <a:alpha val="7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A081B">
              <a:alpha val="7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A081B">
              <a:alpha val="7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lide 9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A081B">
              <a:alpha val="7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lide 10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A081B">
              <a:alpha val="7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8.xml"/><Relationship Id="rId4" Type="http://schemas.openxmlformats.org/officeDocument/2006/relationships/image" Target="../media/image5.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0.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5486400" cy="8229600"/>
          </a:xfrm>
          <a:prstGeom prst="rect">
            <a:avLst/>
          </a:prstGeom>
        </p:spPr>
      </p:pic>
      <p:sp>
        <p:nvSpPr>
          <p:cNvPr id="3" name="Text 0"/>
          <p:cNvSpPr/>
          <p:nvPr/>
        </p:nvSpPr>
        <p:spPr>
          <a:xfrm>
            <a:off x="6367462" y="2632710"/>
            <a:ext cx="7381875" cy="1223963"/>
          </a:xfrm>
          <a:prstGeom prst="rect">
            <a:avLst/>
          </a:prstGeom>
          <a:noFill/>
          <a:ln/>
        </p:spPr>
        <p:txBody>
          <a:bodyPr wrap="square" lIns="0" tIns="0" rIns="0" bIns="0" rtlCol="0" anchor="t"/>
          <a:lstStyle/>
          <a:p>
            <a:pPr marL="0" indent="0" algn="l">
              <a:lnSpc>
                <a:spcPts val="4800"/>
              </a:lnSpc>
              <a:buNone/>
            </a:pPr>
            <a:r>
              <a:rPr lang="en-US" sz="3850" b="1" dirty="0">
                <a:solidFill>
                  <a:srgbClr val="F0FCFF"/>
                </a:solidFill>
                <a:latin typeface="Arial" panose="020B0604020202020204" pitchFamily="34" charset="0"/>
                <a:ea typeface="Spline Sans Bold" pitchFamily="34" charset="-122"/>
                <a:cs typeface="Arial" panose="020B0604020202020204" pitchFamily="34" charset="0"/>
              </a:rPr>
              <a:t>AWS Messaging Services: Amazon SQS vs Amazon MQ </a:t>
            </a:r>
            <a:endParaRPr lang="en-US" sz="3850" dirty="0">
              <a:latin typeface="Arial" panose="020B0604020202020204" pitchFamily="34" charset="0"/>
              <a:cs typeface="Arial" panose="020B0604020202020204" pitchFamily="34" charset="0"/>
            </a:endParaRPr>
          </a:p>
        </p:txBody>
      </p:sp>
      <p:sp>
        <p:nvSpPr>
          <p:cNvPr id="4" name="Text 1"/>
          <p:cNvSpPr/>
          <p:nvPr/>
        </p:nvSpPr>
        <p:spPr>
          <a:xfrm>
            <a:off x="6367462" y="4187071"/>
            <a:ext cx="7381875" cy="1409700"/>
          </a:xfrm>
          <a:prstGeom prst="rect">
            <a:avLst/>
          </a:prstGeom>
          <a:noFill/>
          <a:ln/>
        </p:spPr>
        <p:txBody>
          <a:bodyPr wrap="square" lIns="0" tIns="0" rIns="0" bIns="0" rtlCol="0" anchor="t"/>
          <a:lstStyle/>
          <a:p>
            <a:pPr marL="0" indent="0" algn="l">
              <a:lnSpc>
                <a:spcPts val="2750"/>
              </a:lnSpc>
              <a:buNone/>
            </a:pPr>
            <a:r>
              <a:rPr lang="en-US" sz="1700" dirty="0">
                <a:solidFill>
                  <a:srgbClr val="E0E4E6"/>
                </a:solidFill>
                <a:latin typeface="Arial" panose="020B0604020202020204" pitchFamily="34" charset="0"/>
                <a:ea typeface="Barlow" pitchFamily="34" charset="-122"/>
                <a:cs typeface="Arial" panose="020B0604020202020204" pitchFamily="34" charset="0"/>
              </a:rPr>
              <a:t>Choosing the right messaging service is crucial for building scalable, resilient, and loosely coupled applications in the cloud. This presentation explores the capabilities of Amazon Simple Queue Service (SQS) and Amazon MQ, helping you determine which service best fits your architectural needs.</a:t>
            </a:r>
            <a:endParaRPr lang="en-US" sz="1700" dirty="0">
              <a:latin typeface="Arial" panose="020B0604020202020204" pitchFamily="34" charset="0"/>
              <a:cs typeface="Arial" panose="020B0604020202020204" pitchFamily="34" charset="0"/>
            </a:endParaRPr>
          </a:p>
        </p:txBody>
      </p:sp>
      <p:sp>
        <p:nvSpPr>
          <p:cNvPr id="5" name="Rectangle 4">
            <a:extLst>
              <a:ext uri="{FF2B5EF4-FFF2-40B4-BE49-F238E27FC236}">
                <a16:creationId xmlns:a16="http://schemas.microsoft.com/office/drawing/2014/main" id="{87602796-952B-6B9E-171A-93D0E2273777}"/>
              </a:ext>
            </a:extLst>
          </p:cNvPr>
          <p:cNvSpPr/>
          <p:nvPr/>
        </p:nvSpPr>
        <p:spPr>
          <a:xfrm>
            <a:off x="12582525" y="7694414"/>
            <a:ext cx="2047875" cy="535186"/>
          </a:xfrm>
          <a:prstGeom prst="rect">
            <a:avLst/>
          </a:prstGeom>
          <a:solidFill>
            <a:srgbClr val="070614"/>
          </a:solidFill>
          <a:effectLst>
            <a:softEdge rad="63500"/>
          </a:effectLst>
        </p:spPr>
        <p:style>
          <a:lnRef idx="1">
            <a:schemeClr val="dk1"/>
          </a:lnRef>
          <a:fillRef idx="3">
            <a:schemeClr val="dk1"/>
          </a:fillRef>
          <a:effectRef idx="2">
            <a:schemeClr val="dk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IN"/>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836890" y="579239"/>
            <a:ext cx="10288667" cy="581263"/>
          </a:xfrm>
          <a:prstGeom prst="rect">
            <a:avLst/>
          </a:prstGeom>
          <a:noFill/>
          <a:ln/>
        </p:spPr>
        <p:txBody>
          <a:bodyPr wrap="none" lIns="0" tIns="0" rIns="0" bIns="0" rtlCol="0" anchor="t"/>
          <a:lstStyle/>
          <a:p>
            <a:pPr marL="0" indent="0" algn="l">
              <a:lnSpc>
                <a:spcPts val="4550"/>
              </a:lnSpc>
              <a:buNone/>
            </a:pPr>
            <a:r>
              <a:rPr lang="en-US" sz="3650" b="1" dirty="0">
                <a:solidFill>
                  <a:srgbClr val="F0FCFF"/>
                </a:solidFill>
                <a:latin typeface="Arial" panose="020B0604020202020204" pitchFamily="34" charset="0"/>
                <a:ea typeface="Spline Sans Bold" pitchFamily="34" charset="-122"/>
                <a:cs typeface="Arial" panose="020B0604020202020204" pitchFamily="34" charset="0"/>
              </a:rPr>
              <a:t>Why Messaging Matters in Cloud Architectures</a:t>
            </a:r>
            <a:endParaRPr lang="en-US" sz="3650" dirty="0">
              <a:latin typeface="Arial" panose="020B0604020202020204" pitchFamily="34" charset="0"/>
              <a:cs typeface="Arial" panose="020B0604020202020204" pitchFamily="34" charset="0"/>
            </a:endParaRPr>
          </a:p>
        </p:txBody>
      </p:sp>
      <p:sp>
        <p:nvSpPr>
          <p:cNvPr id="3" name="Text 1"/>
          <p:cNvSpPr/>
          <p:nvPr/>
        </p:nvSpPr>
        <p:spPr>
          <a:xfrm>
            <a:off x="836890" y="1578888"/>
            <a:ext cx="12956619" cy="669369"/>
          </a:xfrm>
          <a:prstGeom prst="rect">
            <a:avLst/>
          </a:prstGeom>
          <a:noFill/>
          <a:ln/>
        </p:spPr>
        <p:txBody>
          <a:bodyPr wrap="square" lIns="0" tIns="0" rIns="0" bIns="0" rtlCol="0" anchor="t"/>
          <a:lstStyle/>
          <a:p>
            <a:pPr marL="0" indent="0" algn="l">
              <a:lnSpc>
                <a:spcPts val="2600"/>
              </a:lnSpc>
              <a:buNone/>
            </a:pPr>
            <a:r>
              <a:rPr lang="en-US" sz="1600" dirty="0">
                <a:solidFill>
                  <a:srgbClr val="E0E4E6"/>
                </a:solidFill>
                <a:latin typeface="Arial" panose="020B0604020202020204" pitchFamily="34" charset="0"/>
                <a:ea typeface="Barlow" pitchFamily="34" charset="-122"/>
                <a:cs typeface="Arial" panose="020B0604020202020204" pitchFamily="34" charset="0"/>
              </a:rPr>
              <a:t>In today's complex cloud environments, inter-service communication can quickly become a bottleneck. Messaging services act as a vital intermediary, enabling systems to interact efficiently and reliably.</a:t>
            </a:r>
            <a:endParaRPr lang="en-US" sz="1600" dirty="0">
              <a:latin typeface="Arial" panose="020B0604020202020204" pitchFamily="34" charset="0"/>
              <a:cs typeface="Arial" panose="020B0604020202020204" pitchFamily="34" charset="0"/>
            </a:endParaRPr>
          </a:p>
        </p:txBody>
      </p:sp>
      <p:sp>
        <p:nvSpPr>
          <p:cNvPr id="4" name="Shape 2"/>
          <p:cNvSpPr/>
          <p:nvPr/>
        </p:nvSpPr>
        <p:spPr>
          <a:xfrm>
            <a:off x="836890" y="2797493"/>
            <a:ext cx="6373654" cy="4852749"/>
          </a:xfrm>
          <a:prstGeom prst="roundRect">
            <a:avLst>
              <a:gd name="adj" fmla="val 2261"/>
            </a:avLst>
          </a:prstGeom>
          <a:solidFill>
            <a:srgbClr val="0A081B">
              <a:alpha val="75000"/>
            </a:srgbClr>
          </a:solidFill>
          <a:ln/>
        </p:spPr>
      </p:sp>
      <p:sp>
        <p:nvSpPr>
          <p:cNvPr id="5" name="Shape 3"/>
          <p:cNvSpPr/>
          <p:nvPr/>
        </p:nvSpPr>
        <p:spPr>
          <a:xfrm>
            <a:off x="836890" y="2774633"/>
            <a:ext cx="6373654" cy="91440"/>
          </a:xfrm>
          <a:prstGeom prst="roundRect">
            <a:avLst>
              <a:gd name="adj" fmla="val 343260"/>
            </a:avLst>
          </a:prstGeom>
          <a:solidFill>
            <a:srgbClr val="16FFBB"/>
          </a:solidFill>
          <a:ln/>
        </p:spPr>
      </p:sp>
      <p:sp>
        <p:nvSpPr>
          <p:cNvPr id="6" name="Shape 4"/>
          <p:cNvSpPr/>
          <p:nvPr/>
        </p:nvSpPr>
        <p:spPr>
          <a:xfrm>
            <a:off x="3709868" y="2483644"/>
            <a:ext cx="627698" cy="627698"/>
          </a:xfrm>
          <a:prstGeom prst="roundRect">
            <a:avLst>
              <a:gd name="adj" fmla="val 145675"/>
            </a:avLst>
          </a:prstGeom>
          <a:solidFill>
            <a:srgbClr val="16FFBB"/>
          </a:solidFill>
          <a:ln/>
        </p:spPr>
      </p:sp>
      <p:sp>
        <p:nvSpPr>
          <p:cNvPr id="7" name="Text 5"/>
          <p:cNvSpPr/>
          <p:nvPr/>
        </p:nvSpPr>
        <p:spPr>
          <a:xfrm>
            <a:off x="3898225" y="2640568"/>
            <a:ext cx="250984" cy="313849"/>
          </a:xfrm>
          <a:prstGeom prst="rect">
            <a:avLst/>
          </a:prstGeom>
          <a:noFill/>
          <a:ln/>
        </p:spPr>
        <p:txBody>
          <a:bodyPr wrap="none" lIns="0" tIns="0" rIns="0" bIns="0" rtlCol="0" anchor="t"/>
          <a:lstStyle/>
          <a:p>
            <a:pPr marL="0" indent="0" algn="l">
              <a:lnSpc>
                <a:spcPts val="3150"/>
              </a:lnSpc>
              <a:buNone/>
            </a:pPr>
            <a:r>
              <a:rPr lang="en-US" sz="1950" b="1" dirty="0">
                <a:solidFill>
                  <a:srgbClr val="000000"/>
                </a:solidFill>
                <a:latin typeface="Arial" panose="020B0604020202020204" pitchFamily="34" charset="0"/>
                <a:ea typeface="Spline Sans Bold" pitchFamily="34" charset="-122"/>
                <a:cs typeface="Arial" panose="020B0604020202020204" pitchFamily="34" charset="0"/>
              </a:rPr>
              <a:t>1</a:t>
            </a:r>
            <a:endParaRPr lang="en-US" sz="1950" dirty="0">
              <a:latin typeface="Arial" panose="020B0604020202020204" pitchFamily="34" charset="0"/>
              <a:cs typeface="Arial" panose="020B0604020202020204" pitchFamily="34" charset="0"/>
            </a:endParaRPr>
          </a:p>
        </p:txBody>
      </p:sp>
      <p:sp>
        <p:nvSpPr>
          <p:cNvPr id="8" name="Text 6"/>
          <p:cNvSpPr/>
          <p:nvPr/>
        </p:nvSpPr>
        <p:spPr>
          <a:xfrm>
            <a:off x="1068943" y="3320534"/>
            <a:ext cx="5342811" cy="290632"/>
          </a:xfrm>
          <a:prstGeom prst="rect">
            <a:avLst/>
          </a:prstGeom>
          <a:noFill/>
          <a:ln/>
        </p:spPr>
        <p:txBody>
          <a:bodyPr wrap="none" lIns="0" tIns="0" rIns="0" bIns="0" rtlCol="0" anchor="t"/>
          <a:lstStyle/>
          <a:p>
            <a:pPr marL="0" indent="0" algn="l">
              <a:lnSpc>
                <a:spcPts val="2250"/>
              </a:lnSpc>
              <a:buNone/>
            </a:pPr>
            <a:r>
              <a:rPr lang="en-US" sz="1800" b="1" dirty="0">
                <a:solidFill>
                  <a:srgbClr val="E0E4E6"/>
                </a:solidFill>
                <a:latin typeface="Arial" panose="020B0604020202020204" pitchFamily="34" charset="0"/>
                <a:ea typeface="Spline Sans Bold" pitchFamily="34" charset="-122"/>
                <a:cs typeface="Arial" panose="020B0604020202020204" pitchFamily="34" charset="0"/>
              </a:rPr>
              <a:t>Decoupling Microservices &amp; Distributed Systems</a:t>
            </a:r>
            <a:endParaRPr lang="en-US" sz="1800" dirty="0">
              <a:latin typeface="Arial" panose="020B0604020202020204" pitchFamily="34" charset="0"/>
              <a:cs typeface="Arial" panose="020B0604020202020204" pitchFamily="34" charset="0"/>
            </a:endParaRPr>
          </a:p>
        </p:txBody>
      </p:sp>
      <p:sp>
        <p:nvSpPr>
          <p:cNvPr id="9" name="Text 7"/>
          <p:cNvSpPr/>
          <p:nvPr/>
        </p:nvSpPr>
        <p:spPr>
          <a:xfrm>
            <a:off x="1068943" y="3736658"/>
            <a:ext cx="5909548" cy="2677478"/>
          </a:xfrm>
          <a:prstGeom prst="rect">
            <a:avLst/>
          </a:prstGeom>
          <a:noFill/>
          <a:ln/>
        </p:spPr>
        <p:txBody>
          <a:bodyPr wrap="square" lIns="0" tIns="0" rIns="0" bIns="0" rtlCol="0" anchor="t"/>
          <a:lstStyle/>
          <a:p>
            <a:pPr marL="0" indent="0" algn="l">
              <a:lnSpc>
                <a:spcPts val="2600"/>
              </a:lnSpc>
              <a:buNone/>
            </a:pPr>
            <a:r>
              <a:rPr lang="en-US" sz="1600" dirty="0">
                <a:solidFill>
                  <a:srgbClr val="E0E4E6"/>
                </a:solidFill>
                <a:latin typeface="Arial" panose="020B0604020202020204" pitchFamily="34" charset="0"/>
                <a:ea typeface="Barlow" pitchFamily="34" charset="-122"/>
                <a:cs typeface="Arial" panose="020B0604020202020204" pitchFamily="34" charset="0"/>
              </a:rPr>
              <a:t>Messaging queues allow different components of an application to operate independently without direct dependencies. This architectural pattern enhances scalability, as services can be scaled up or down asynchronously, and improves reliability by preventing failures in one component from cascading across the entire system. It's like having a central post office for all your application's letters, ensuring each message gets to its destination even if the recipient is temporarily unavailable.</a:t>
            </a:r>
            <a:endParaRPr lang="en-US" sz="1600" dirty="0">
              <a:latin typeface="Arial" panose="020B0604020202020204" pitchFamily="34" charset="0"/>
              <a:cs typeface="Arial" panose="020B0604020202020204" pitchFamily="34" charset="0"/>
            </a:endParaRPr>
          </a:p>
        </p:txBody>
      </p:sp>
      <p:sp>
        <p:nvSpPr>
          <p:cNvPr id="10" name="Shape 8"/>
          <p:cNvSpPr/>
          <p:nvPr/>
        </p:nvSpPr>
        <p:spPr>
          <a:xfrm>
            <a:off x="7419737" y="2797493"/>
            <a:ext cx="6373773" cy="4852749"/>
          </a:xfrm>
          <a:prstGeom prst="roundRect">
            <a:avLst>
              <a:gd name="adj" fmla="val 2261"/>
            </a:avLst>
          </a:prstGeom>
          <a:solidFill>
            <a:srgbClr val="0A081B">
              <a:alpha val="75000"/>
            </a:srgbClr>
          </a:solidFill>
          <a:ln/>
        </p:spPr>
      </p:sp>
      <p:sp>
        <p:nvSpPr>
          <p:cNvPr id="11" name="Shape 9"/>
          <p:cNvSpPr/>
          <p:nvPr/>
        </p:nvSpPr>
        <p:spPr>
          <a:xfrm>
            <a:off x="7419737" y="2774633"/>
            <a:ext cx="6373773" cy="91440"/>
          </a:xfrm>
          <a:prstGeom prst="roundRect">
            <a:avLst>
              <a:gd name="adj" fmla="val 343260"/>
            </a:avLst>
          </a:prstGeom>
          <a:solidFill>
            <a:srgbClr val="29DDDA"/>
          </a:solidFill>
          <a:ln/>
        </p:spPr>
      </p:sp>
      <p:sp>
        <p:nvSpPr>
          <p:cNvPr id="12" name="Shape 10"/>
          <p:cNvSpPr/>
          <p:nvPr/>
        </p:nvSpPr>
        <p:spPr>
          <a:xfrm>
            <a:off x="10292715" y="2483644"/>
            <a:ext cx="627698" cy="627698"/>
          </a:xfrm>
          <a:prstGeom prst="roundRect">
            <a:avLst>
              <a:gd name="adj" fmla="val 145675"/>
            </a:avLst>
          </a:prstGeom>
          <a:solidFill>
            <a:srgbClr val="16FFBB"/>
          </a:solidFill>
          <a:ln/>
        </p:spPr>
      </p:sp>
      <p:sp>
        <p:nvSpPr>
          <p:cNvPr id="13" name="Text 11"/>
          <p:cNvSpPr/>
          <p:nvPr/>
        </p:nvSpPr>
        <p:spPr>
          <a:xfrm>
            <a:off x="10481072" y="2640568"/>
            <a:ext cx="250984" cy="313849"/>
          </a:xfrm>
          <a:prstGeom prst="rect">
            <a:avLst/>
          </a:prstGeom>
          <a:noFill/>
          <a:ln/>
        </p:spPr>
        <p:txBody>
          <a:bodyPr wrap="none" lIns="0" tIns="0" rIns="0" bIns="0" rtlCol="0" anchor="t"/>
          <a:lstStyle/>
          <a:p>
            <a:pPr marL="0" indent="0" algn="l">
              <a:lnSpc>
                <a:spcPts val="3150"/>
              </a:lnSpc>
              <a:buNone/>
            </a:pPr>
            <a:r>
              <a:rPr lang="en-US" sz="1950" b="1" dirty="0">
                <a:solidFill>
                  <a:srgbClr val="000000"/>
                </a:solidFill>
                <a:latin typeface="Arial" panose="020B0604020202020204" pitchFamily="34" charset="0"/>
                <a:ea typeface="Spline Sans Bold" pitchFamily="34" charset="-122"/>
                <a:cs typeface="Arial" panose="020B0604020202020204" pitchFamily="34" charset="0"/>
              </a:rPr>
              <a:t>2</a:t>
            </a:r>
            <a:endParaRPr lang="en-US" sz="1950" dirty="0">
              <a:latin typeface="Arial" panose="020B0604020202020204" pitchFamily="34" charset="0"/>
              <a:cs typeface="Arial" panose="020B0604020202020204" pitchFamily="34" charset="0"/>
            </a:endParaRPr>
          </a:p>
        </p:txBody>
      </p:sp>
      <p:sp>
        <p:nvSpPr>
          <p:cNvPr id="14" name="Text 12"/>
          <p:cNvSpPr/>
          <p:nvPr/>
        </p:nvSpPr>
        <p:spPr>
          <a:xfrm>
            <a:off x="7651790" y="3320534"/>
            <a:ext cx="4375666" cy="290632"/>
          </a:xfrm>
          <a:prstGeom prst="rect">
            <a:avLst/>
          </a:prstGeom>
          <a:noFill/>
          <a:ln/>
        </p:spPr>
        <p:txBody>
          <a:bodyPr wrap="none" lIns="0" tIns="0" rIns="0" bIns="0" rtlCol="0" anchor="t"/>
          <a:lstStyle/>
          <a:p>
            <a:pPr marL="0" indent="0" algn="l">
              <a:lnSpc>
                <a:spcPts val="2250"/>
              </a:lnSpc>
              <a:buNone/>
            </a:pPr>
            <a:r>
              <a:rPr lang="en-US" sz="1800" b="1" dirty="0">
                <a:solidFill>
                  <a:srgbClr val="E0E4E6"/>
                </a:solidFill>
                <a:latin typeface="Arial" panose="020B0604020202020204" pitchFamily="34" charset="0"/>
                <a:ea typeface="Spline Sans Bold" pitchFamily="34" charset="-122"/>
                <a:cs typeface="Arial" panose="020B0604020202020204" pitchFamily="34" charset="0"/>
              </a:rPr>
              <a:t>Enabling Asynchronous Communication</a:t>
            </a:r>
            <a:endParaRPr lang="en-US" sz="1800" dirty="0">
              <a:latin typeface="Arial" panose="020B0604020202020204" pitchFamily="34" charset="0"/>
              <a:cs typeface="Arial" panose="020B0604020202020204" pitchFamily="34" charset="0"/>
            </a:endParaRPr>
          </a:p>
        </p:txBody>
      </p:sp>
      <p:sp>
        <p:nvSpPr>
          <p:cNvPr id="15" name="Text 13"/>
          <p:cNvSpPr/>
          <p:nvPr/>
        </p:nvSpPr>
        <p:spPr>
          <a:xfrm>
            <a:off x="7651790" y="3736658"/>
            <a:ext cx="5909667" cy="3681532"/>
          </a:xfrm>
          <a:prstGeom prst="rect">
            <a:avLst/>
          </a:prstGeom>
          <a:noFill/>
          <a:ln/>
        </p:spPr>
        <p:txBody>
          <a:bodyPr wrap="square" lIns="0" tIns="0" rIns="0" bIns="0" rtlCol="0" anchor="t"/>
          <a:lstStyle/>
          <a:p>
            <a:pPr marL="0" indent="0" algn="l">
              <a:lnSpc>
                <a:spcPts val="2600"/>
              </a:lnSpc>
              <a:buNone/>
            </a:pPr>
            <a:r>
              <a:rPr lang="en-US" sz="1600" dirty="0">
                <a:solidFill>
                  <a:srgbClr val="E0E4E6"/>
                </a:solidFill>
                <a:latin typeface="Arial" panose="020B0604020202020204" pitchFamily="34" charset="0"/>
                <a:ea typeface="Barlow" pitchFamily="34" charset="-122"/>
                <a:cs typeface="Arial" panose="020B0604020202020204" pitchFamily="34" charset="0"/>
              </a:rPr>
              <a:t>By enabling asynchronous communication, messaging services significantly improve fault tolerance and performance. Instead of waiting for a direct response, a service can simply send a message to a queue and continue its processing, improving overall system responsiveness. This is particularly critical for long-running tasks or processes that involve multiple steps, where immediate synchronous responses are not required. For example, an e-commerce order processing system can place an order in a queue and immediately confirm receipt to the customer, while the actual fulfillment processes happen in the background.</a:t>
            </a:r>
            <a:endParaRPr lang="en-US" sz="1600" dirty="0">
              <a:latin typeface="Arial" panose="020B0604020202020204" pitchFamily="34" charset="0"/>
              <a:cs typeface="Arial" panose="020B0604020202020204" pitchFamily="34" charset="0"/>
            </a:endParaRPr>
          </a:p>
        </p:txBody>
      </p:sp>
      <p:sp>
        <p:nvSpPr>
          <p:cNvPr id="16" name="Rectangle 15">
            <a:extLst>
              <a:ext uri="{FF2B5EF4-FFF2-40B4-BE49-F238E27FC236}">
                <a16:creationId xmlns:a16="http://schemas.microsoft.com/office/drawing/2014/main" id="{746550B6-614F-0F44-BAB7-4B082F6D5FAA}"/>
              </a:ext>
            </a:extLst>
          </p:cNvPr>
          <p:cNvSpPr/>
          <p:nvPr/>
        </p:nvSpPr>
        <p:spPr>
          <a:xfrm>
            <a:off x="12582525" y="7694414"/>
            <a:ext cx="2047875" cy="535186"/>
          </a:xfrm>
          <a:prstGeom prst="rect">
            <a:avLst/>
          </a:prstGeom>
          <a:solidFill>
            <a:srgbClr val="070614"/>
          </a:solidFill>
          <a:effectLst>
            <a:softEdge rad="63500"/>
          </a:effectLst>
        </p:spPr>
        <p:style>
          <a:lnRef idx="1">
            <a:schemeClr val="dk1"/>
          </a:lnRef>
          <a:fillRef idx="3">
            <a:schemeClr val="dk1"/>
          </a:fillRef>
          <a:effectRef idx="2">
            <a:schemeClr val="dk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IN"/>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849630" y="753547"/>
            <a:ext cx="4803458" cy="590074"/>
          </a:xfrm>
          <a:prstGeom prst="rect">
            <a:avLst/>
          </a:prstGeom>
          <a:noFill/>
          <a:ln/>
        </p:spPr>
        <p:txBody>
          <a:bodyPr wrap="none" lIns="0" tIns="0" rIns="0" bIns="0" rtlCol="0" anchor="t"/>
          <a:lstStyle/>
          <a:p>
            <a:pPr marL="0" indent="0" algn="l">
              <a:lnSpc>
                <a:spcPts val="4600"/>
              </a:lnSpc>
              <a:buNone/>
            </a:pPr>
            <a:r>
              <a:rPr lang="en-US" sz="3700" b="1" dirty="0">
                <a:solidFill>
                  <a:srgbClr val="F0FCFF"/>
                </a:solidFill>
                <a:latin typeface="Arial" panose="020B0604020202020204" pitchFamily="34" charset="0"/>
                <a:ea typeface="Spline Sans Bold" pitchFamily="34" charset="-122"/>
                <a:cs typeface="Arial" panose="020B0604020202020204" pitchFamily="34" charset="0"/>
              </a:rPr>
              <a:t>What is Amazon SQS?</a:t>
            </a:r>
            <a:endParaRPr lang="en-US" sz="3700" dirty="0">
              <a:latin typeface="Arial" panose="020B0604020202020204" pitchFamily="34" charset="0"/>
              <a:cs typeface="Arial" panose="020B0604020202020204" pitchFamily="34" charset="0"/>
            </a:endParaRPr>
          </a:p>
        </p:txBody>
      </p:sp>
      <p:sp>
        <p:nvSpPr>
          <p:cNvPr id="3" name="Text 1"/>
          <p:cNvSpPr/>
          <p:nvPr/>
        </p:nvSpPr>
        <p:spPr>
          <a:xfrm>
            <a:off x="849630" y="1768435"/>
            <a:ext cx="12931140" cy="1019413"/>
          </a:xfrm>
          <a:prstGeom prst="rect">
            <a:avLst/>
          </a:prstGeom>
          <a:noFill/>
          <a:ln/>
        </p:spPr>
        <p:txBody>
          <a:bodyPr wrap="square" lIns="0" tIns="0" rIns="0" bIns="0" rtlCol="0" anchor="t"/>
          <a:lstStyle/>
          <a:p>
            <a:pPr marL="0" indent="0" algn="l">
              <a:lnSpc>
                <a:spcPts val="2650"/>
              </a:lnSpc>
              <a:buNone/>
            </a:pPr>
            <a:r>
              <a:rPr lang="en-US" sz="1650" dirty="0">
                <a:solidFill>
                  <a:srgbClr val="E0E4E6"/>
                </a:solidFill>
                <a:latin typeface="Arial" panose="020B0604020202020204" pitchFamily="34" charset="0"/>
                <a:ea typeface="Barlow" pitchFamily="34" charset="-122"/>
                <a:cs typeface="Arial" panose="020B0604020202020204" pitchFamily="34" charset="0"/>
              </a:rPr>
              <a:t>Amazon Simple Queue Service (SQS) is a fully managed message queuing service that enables you to decouple and scale microservices, distributed systems, and serverless applications. SQS eliminates the complexity associated with managing and operating message-oriented middleware, allowing developers to focus on application logic rather than infrastructure.</a:t>
            </a:r>
            <a:endParaRPr lang="en-US" sz="1650" dirty="0">
              <a:latin typeface="Arial" panose="020B0604020202020204" pitchFamily="34" charset="0"/>
              <a:cs typeface="Arial" panose="020B0604020202020204" pitchFamily="34" charset="0"/>
            </a:endParaRPr>
          </a:p>
        </p:txBody>
      </p:sp>
      <p:sp>
        <p:nvSpPr>
          <p:cNvPr id="4" name="Text 2"/>
          <p:cNvSpPr/>
          <p:nvPr/>
        </p:nvSpPr>
        <p:spPr>
          <a:xfrm>
            <a:off x="849630" y="3026807"/>
            <a:ext cx="12931140" cy="679609"/>
          </a:xfrm>
          <a:prstGeom prst="rect">
            <a:avLst/>
          </a:prstGeom>
          <a:noFill/>
          <a:ln/>
        </p:spPr>
        <p:txBody>
          <a:bodyPr wrap="square" lIns="0" tIns="0" rIns="0" bIns="0" rtlCol="0" anchor="t"/>
          <a:lstStyle/>
          <a:p>
            <a:pPr marL="342900" indent="-342900" algn="l">
              <a:lnSpc>
                <a:spcPts val="2650"/>
              </a:lnSpc>
              <a:buSzPct val="100000"/>
              <a:buChar char="•"/>
            </a:pPr>
            <a:r>
              <a:rPr lang="en-US" sz="1650" b="1" dirty="0">
                <a:solidFill>
                  <a:srgbClr val="E0E4E6"/>
                </a:solidFill>
                <a:latin typeface="Arial" panose="020B0604020202020204" pitchFamily="34" charset="0"/>
                <a:ea typeface="Barlow" pitchFamily="34" charset="-122"/>
                <a:cs typeface="Arial" panose="020B0604020202020204" pitchFamily="34" charset="0"/>
              </a:rPr>
              <a:t>Fully Managed:</a:t>
            </a:r>
            <a:r>
              <a:rPr lang="en-US" sz="1650" dirty="0">
                <a:solidFill>
                  <a:srgbClr val="E0E4E6"/>
                </a:solidFill>
                <a:latin typeface="Arial" panose="020B0604020202020204" pitchFamily="34" charset="0"/>
                <a:ea typeface="Barlow" pitchFamily="34" charset="-122"/>
                <a:cs typeface="Arial" panose="020B0604020202020204" pitchFamily="34" charset="0"/>
              </a:rPr>
              <a:t> AWS handles all the operational heavy lifting, including provisioning, patching, and scaling. You don't need to manage servers or infrastructure.</a:t>
            </a:r>
            <a:endParaRPr lang="en-US" sz="1650" dirty="0">
              <a:latin typeface="Arial" panose="020B0604020202020204" pitchFamily="34" charset="0"/>
              <a:cs typeface="Arial" panose="020B0604020202020204" pitchFamily="34" charset="0"/>
            </a:endParaRPr>
          </a:p>
        </p:txBody>
      </p:sp>
      <p:sp>
        <p:nvSpPr>
          <p:cNvPr id="5" name="Text 3"/>
          <p:cNvSpPr/>
          <p:nvPr/>
        </p:nvSpPr>
        <p:spPr>
          <a:xfrm>
            <a:off x="849630" y="3780711"/>
            <a:ext cx="12931140" cy="679609"/>
          </a:xfrm>
          <a:prstGeom prst="rect">
            <a:avLst/>
          </a:prstGeom>
          <a:noFill/>
          <a:ln/>
        </p:spPr>
        <p:txBody>
          <a:bodyPr wrap="square" lIns="0" tIns="0" rIns="0" bIns="0" rtlCol="0" anchor="t"/>
          <a:lstStyle/>
          <a:p>
            <a:pPr marL="342900" indent="-342900" algn="l">
              <a:lnSpc>
                <a:spcPts val="2650"/>
              </a:lnSpc>
              <a:buSzPct val="100000"/>
              <a:buChar char="•"/>
            </a:pPr>
            <a:r>
              <a:rPr lang="en-US" sz="1650" b="1" dirty="0">
                <a:solidFill>
                  <a:srgbClr val="E0E4E6"/>
                </a:solidFill>
                <a:latin typeface="Arial" panose="020B0604020202020204" pitchFamily="34" charset="0"/>
                <a:ea typeface="Barlow" pitchFamily="34" charset="-122"/>
                <a:cs typeface="Arial" panose="020B0604020202020204" pitchFamily="34" charset="0"/>
              </a:rPr>
              <a:t>Highly Scalable:</a:t>
            </a:r>
            <a:r>
              <a:rPr lang="en-US" sz="1650" dirty="0">
                <a:solidFill>
                  <a:srgbClr val="E0E4E6"/>
                </a:solidFill>
                <a:latin typeface="Arial" panose="020B0604020202020204" pitchFamily="34" charset="0"/>
                <a:ea typeface="Barlow" pitchFamily="34" charset="-122"/>
                <a:cs typeface="Arial" panose="020B0604020202020204" pitchFamily="34" charset="0"/>
              </a:rPr>
              <a:t> SQS scales automatically to handle any volume of messages, from a few to hundreds of thousands per second, without any upfront capacity planning.</a:t>
            </a:r>
            <a:endParaRPr lang="en-US" sz="1650" dirty="0">
              <a:latin typeface="Arial" panose="020B0604020202020204" pitchFamily="34" charset="0"/>
              <a:cs typeface="Arial" panose="020B0604020202020204" pitchFamily="34" charset="0"/>
            </a:endParaRPr>
          </a:p>
        </p:txBody>
      </p:sp>
      <p:sp>
        <p:nvSpPr>
          <p:cNvPr id="6" name="Text 4"/>
          <p:cNvSpPr/>
          <p:nvPr/>
        </p:nvSpPr>
        <p:spPr>
          <a:xfrm>
            <a:off x="849630" y="4534614"/>
            <a:ext cx="12931140" cy="339804"/>
          </a:xfrm>
          <a:prstGeom prst="rect">
            <a:avLst/>
          </a:prstGeom>
          <a:noFill/>
          <a:ln/>
        </p:spPr>
        <p:txBody>
          <a:bodyPr wrap="none" lIns="0" tIns="0" rIns="0" bIns="0" rtlCol="0" anchor="t"/>
          <a:lstStyle/>
          <a:p>
            <a:pPr marL="342900" indent="-342900" algn="l">
              <a:lnSpc>
                <a:spcPts val="2650"/>
              </a:lnSpc>
              <a:buSzPct val="100000"/>
              <a:buChar char="•"/>
            </a:pPr>
            <a:r>
              <a:rPr lang="en-US" sz="1650" b="1" dirty="0">
                <a:solidFill>
                  <a:srgbClr val="E0E4E6"/>
                </a:solidFill>
                <a:latin typeface="Arial" panose="020B0604020202020204" pitchFamily="34" charset="0"/>
                <a:ea typeface="Barlow" pitchFamily="34" charset="-122"/>
                <a:cs typeface="Arial" panose="020B0604020202020204" pitchFamily="34" charset="0"/>
              </a:rPr>
              <a:t>Queue Types:</a:t>
            </a:r>
            <a:endParaRPr lang="en-US" sz="1650" dirty="0">
              <a:latin typeface="Arial" panose="020B0604020202020204" pitchFamily="34" charset="0"/>
              <a:cs typeface="Arial" panose="020B0604020202020204" pitchFamily="34" charset="0"/>
            </a:endParaRPr>
          </a:p>
        </p:txBody>
      </p:sp>
      <p:sp>
        <p:nvSpPr>
          <p:cNvPr id="7" name="Text 5"/>
          <p:cNvSpPr/>
          <p:nvPr/>
        </p:nvSpPr>
        <p:spPr>
          <a:xfrm>
            <a:off x="849630" y="4948714"/>
            <a:ext cx="12931140" cy="679609"/>
          </a:xfrm>
          <a:prstGeom prst="rect">
            <a:avLst/>
          </a:prstGeom>
          <a:noFill/>
          <a:ln/>
        </p:spPr>
        <p:txBody>
          <a:bodyPr wrap="square" lIns="0" tIns="0" rIns="0" bIns="0" rtlCol="0" anchor="t"/>
          <a:lstStyle/>
          <a:p>
            <a:pPr marL="685800" lvl="1" indent="-342900" algn="l">
              <a:lnSpc>
                <a:spcPts val="2650"/>
              </a:lnSpc>
              <a:buSzPct val="100000"/>
              <a:buChar char="•"/>
            </a:pPr>
            <a:r>
              <a:rPr lang="en-US" sz="1650" b="1" dirty="0">
                <a:solidFill>
                  <a:srgbClr val="E0E4E6"/>
                </a:solidFill>
                <a:latin typeface="Arial" panose="020B0604020202020204" pitchFamily="34" charset="0"/>
                <a:ea typeface="Barlow" pitchFamily="34" charset="-122"/>
                <a:cs typeface="Arial" panose="020B0604020202020204" pitchFamily="34" charset="0"/>
              </a:rPr>
              <a:t>Standard Queues:</a:t>
            </a:r>
            <a:r>
              <a:rPr lang="en-US" sz="1650" dirty="0">
                <a:solidFill>
                  <a:srgbClr val="E0E4E6"/>
                </a:solidFill>
                <a:latin typeface="Arial" panose="020B0604020202020204" pitchFamily="34" charset="0"/>
                <a:ea typeface="Barlow" pitchFamily="34" charset="-122"/>
                <a:cs typeface="Arial" panose="020B0604020202020204" pitchFamily="34" charset="0"/>
              </a:rPr>
              <a:t> Offer maximum throughput, best-effort ordering, and at-least-once delivery. Ideal for scenarios where duplicate messages or out-of-order messages are acceptable (e.g., event notifications, work queues).</a:t>
            </a:r>
            <a:endParaRPr lang="en-US" sz="1650" dirty="0">
              <a:latin typeface="Arial" panose="020B0604020202020204" pitchFamily="34" charset="0"/>
              <a:cs typeface="Arial" panose="020B0604020202020204" pitchFamily="34" charset="0"/>
            </a:endParaRPr>
          </a:p>
        </p:txBody>
      </p:sp>
      <p:sp>
        <p:nvSpPr>
          <p:cNvPr id="8" name="Text 6"/>
          <p:cNvSpPr/>
          <p:nvPr/>
        </p:nvSpPr>
        <p:spPr>
          <a:xfrm>
            <a:off x="849630" y="5702618"/>
            <a:ext cx="12931140" cy="679609"/>
          </a:xfrm>
          <a:prstGeom prst="rect">
            <a:avLst/>
          </a:prstGeom>
          <a:noFill/>
          <a:ln/>
        </p:spPr>
        <p:txBody>
          <a:bodyPr wrap="square" lIns="0" tIns="0" rIns="0" bIns="0" rtlCol="0" anchor="t"/>
          <a:lstStyle/>
          <a:p>
            <a:pPr marL="685800" lvl="1" indent="-342900" algn="l">
              <a:lnSpc>
                <a:spcPts val="2650"/>
              </a:lnSpc>
              <a:buSzPct val="100000"/>
              <a:buChar char="•"/>
            </a:pPr>
            <a:r>
              <a:rPr lang="en-US" sz="1650" b="1" dirty="0">
                <a:solidFill>
                  <a:srgbClr val="E0E4E6"/>
                </a:solidFill>
                <a:latin typeface="Arial" panose="020B0604020202020204" pitchFamily="34" charset="0"/>
                <a:ea typeface="Barlow" pitchFamily="34" charset="-122"/>
                <a:cs typeface="Arial" panose="020B0604020202020204" pitchFamily="34" charset="0"/>
              </a:rPr>
              <a:t>FIFO (First-In-First-Out) Queues:</a:t>
            </a:r>
            <a:r>
              <a:rPr lang="en-US" sz="1650" dirty="0">
                <a:solidFill>
                  <a:srgbClr val="E0E4E6"/>
                </a:solidFill>
                <a:latin typeface="Arial" panose="020B0604020202020204" pitchFamily="34" charset="0"/>
                <a:ea typeface="Barlow" pitchFamily="34" charset="-122"/>
                <a:cs typeface="Arial" panose="020B0604020202020204" pitchFamily="34" charset="0"/>
              </a:rPr>
              <a:t> Ensure that messages are processed exactly once, in the exact order that they are sent. Perfect for situations where the order of operations and preventing duplicates is critical (e.g., financial transactions, inventory updates).</a:t>
            </a:r>
            <a:endParaRPr lang="en-US" sz="1650" dirty="0">
              <a:latin typeface="Arial" panose="020B0604020202020204" pitchFamily="34" charset="0"/>
              <a:cs typeface="Arial" panose="020B0604020202020204" pitchFamily="34" charset="0"/>
            </a:endParaRPr>
          </a:p>
        </p:txBody>
      </p:sp>
      <p:sp>
        <p:nvSpPr>
          <p:cNvPr id="9" name="Text 7"/>
          <p:cNvSpPr/>
          <p:nvPr/>
        </p:nvSpPr>
        <p:spPr>
          <a:xfrm>
            <a:off x="849630" y="6456521"/>
            <a:ext cx="12931140" cy="1019413"/>
          </a:xfrm>
          <a:prstGeom prst="rect">
            <a:avLst/>
          </a:prstGeom>
          <a:noFill/>
          <a:ln/>
        </p:spPr>
        <p:txBody>
          <a:bodyPr wrap="square" lIns="0" tIns="0" rIns="0" bIns="0" rtlCol="0" anchor="t"/>
          <a:lstStyle/>
          <a:p>
            <a:pPr marL="342900" indent="-342900" algn="l">
              <a:lnSpc>
                <a:spcPts val="2650"/>
              </a:lnSpc>
              <a:buSzPct val="100000"/>
              <a:buChar char="•"/>
            </a:pPr>
            <a:r>
              <a:rPr lang="en-US" sz="1650" b="1" dirty="0">
                <a:solidFill>
                  <a:srgbClr val="E0E4E6"/>
                </a:solidFill>
                <a:latin typeface="Arial" panose="020B0604020202020204" pitchFamily="34" charset="0"/>
                <a:ea typeface="Barlow" pitchFamily="34" charset="-122"/>
                <a:cs typeface="Arial" panose="020B0604020202020204" pitchFamily="34" charset="0"/>
              </a:rPr>
              <a:t>Built-in Features:</a:t>
            </a:r>
            <a:r>
              <a:rPr lang="en-US" sz="1650" dirty="0">
                <a:solidFill>
                  <a:srgbClr val="E0E4E6"/>
                </a:solidFill>
                <a:latin typeface="Arial" panose="020B0604020202020204" pitchFamily="34" charset="0"/>
                <a:ea typeface="Barlow" pitchFamily="34" charset="-122"/>
                <a:cs typeface="Arial" panose="020B0604020202020204" pitchFamily="34" charset="0"/>
              </a:rPr>
              <a:t> SQS handles message storage, configurable visibility timeouts (to prevent multiple consumers from processing the same message), dead-letter queues (for messages that can't be processed), and offers encryption at rest using AWS Key Management Service (KMS).</a:t>
            </a:r>
            <a:endParaRPr lang="en-US" sz="1650" dirty="0">
              <a:latin typeface="Arial" panose="020B0604020202020204" pitchFamily="34" charset="0"/>
              <a:cs typeface="Arial" panose="020B0604020202020204" pitchFamily="34" charset="0"/>
            </a:endParaRPr>
          </a:p>
        </p:txBody>
      </p:sp>
      <p:sp>
        <p:nvSpPr>
          <p:cNvPr id="10" name="Rectangle 9">
            <a:extLst>
              <a:ext uri="{FF2B5EF4-FFF2-40B4-BE49-F238E27FC236}">
                <a16:creationId xmlns:a16="http://schemas.microsoft.com/office/drawing/2014/main" id="{EC62E57F-9D67-5AB0-57EA-6BC3067F565C}"/>
              </a:ext>
            </a:extLst>
          </p:cNvPr>
          <p:cNvSpPr/>
          <p:nvPr/>
        </p:nvSpPr>
        <p:spPr>
          <a:xfrm>
            <a:off x="12582525" y="7694414"/>
            <a:ext cx="2047875" cy="535186"/>
          </a:xfrm>
          <a:prstGeom prst="rect">
            <a:avLst/>
          </a:prstGeom>
          <a:solidFill>
            <a:srgbClr val="070614"/>
          </a:solidFill>
          <a:effectLst>
            <a:softEdge rad="63500"/>
          </a:effectLst>
        </p:spPr>
        <p:style>
          <a:lnRef idx="1">
            <a:schemeClr val="dk1"/>
          </a:lnRef>
          <a:fillRef idx="3">
            <a:schemeClr val="dk1"/>
          </a:fillRef>
          <a:effectRef idx="2">
            <a:schemeClr val="dk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IN"/>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781883" y="537567"/>
            <a:ext cx="7619881" cy="543044"/>
          </a:xfrm>
          <a:prstGeom prst="rect">
            <a:avLst/>
          </a:prstGeom>
          <a:noFill/>
          <a:ln/>
        </p:spPr>
        <p:txBody>
          <a:bodyPr wrap="none" lIns="0" tIns="0" rIns="0" bIns="0" rtlCol="0" anchor="t"/>
          <a:lstStyle/>
          <a:p>
            <a:pPr marL="0" indent="0" algn="l">
              <a:lnSpc>
                <a:spcPts val="4250"/>
              </a:lnSpc>
              <a:buNone/>
            </a:pPr>
            <a:r>
              <a:rPr lang="en-US" sz="3400" b="1" dirty="0">
                <a:solidFill>
                  <a:srgbClr val="F0FCFF"/>
                </a:solidFill>
                <a:latin typeface="Arial" panose="020B0604020202020204" pitchFamily="34" charset="0"/>
                <a:ea typeface="Spline Sans Bold" pitchFamily="34" charset="-122"/>
                <a:cs typeface="Arial" panose="020B0604020202020204" pitchFamily="34" charset="0"/>
              </a:rPr>
              <a:t>Amazon SQS: Key Benefits &amp; Features</a:t>
            </a:r>
            <a:endParaRPr lang="en-US" sz="3400" dirty="0">
              <a:latin typeface="Arial" panose="020B0604020202020204" pitchFamily="34" charset="0"/>
              <a:cs typeface="Arial" panose="020B0604020202020204" pitchFamily="34" charset="0"/>
            </a:endParaRPr>
          </a:p>
        </p:txBody>
      </p:sp>
      <p:sp>
        <p:nvSpPr>
          <p:cNvPr id="3" name="Shape 1"/>
          <p:cNvSpPr/>
          <p:nvPr/>
        </p:nvSpPr>
        <p:spPr>
          <a:xfrm>
            <a:off x="781883" y="1471493"/>
            <a:ext cx="6435566" cy="3014663"/>
          </a:xfrm>
          <a:prstGeom prst="roundRect">
            <a:avLst>
              <a:gd name="adj" fmla="val 15564"/>
            </a:avLst>
          </a:prstGeom>
          <a:solidFill>
            <a:srgbClr val="0A081B"/>
          </a:solidFill>
          <a:ln w="22860">
            <a:solidFill>
              <a:srgbClr val="16FFBB"/>
            </a:solidFill>
            <a:prstDash val="solid"/>
          </a:ln>
        </p:spPr>
      </p:sp>
      <p:sp>
        <p:nvSpPr>
          <p:cNvPr id="4" name="Text 2"/>
          <p:cNvSpPr/>
          <p:nvPr/>
        </p:nvSpPr>
        <p:spPr>
          <a:xfrm>
            <a:off x="1000125" y="1689735"/>
            <a:ext cx="2172057" cy="271463"/>
          </a:xfrm>
          <a:prstGeom prst="rect">
            <a:avLst/>
          </a:prstGeom>
          <a:noFill/>
          <a:ln/>
        </p:spPr>
        <p:txBody>
          <a:bodyPr wrap="none" lIns="0" tIns="0" rIns="0" bIns="0" rtlCol="0" anchor="t"/>
          <a:lstStyle/>
          <a:p>
            <a:pPr marL="0" indent="0" algn="l">
              <a:lnSpc>
                <a:spcPts val="2100"/>
              </a:lnSpc>
              <a:buNone/>
            </a:pPr>
            <a:r>
              <a:rPr lang="en-US" sz="1700" b="1" dirty="0">
                <a:solidFill>
                  <a:srgbClr val="E0E4E6"/>
                </a:solidFill>
                <a:latin typeface="Arial" panose="020B0604020202020204" pitchFamily="34" charset="0"/>
                <a:ea typeface="Spline Sans Bold" pitchFamily="34" charset="-122"/>
                <a:cs typeface="Arial" panose="020B0604020202020204" pitchFamily="34" charset="0"/>
              </a:rPr>
              <a:t>Effortless Scalability</a:t>
            </a:r>
            <a:endParaRPr lang="en-US" sz="1700" dirty="0">
              <a:latin typeface="Arial" panose="020B0604020202020204" pitchFamily="34" charset="0"/>
              <a:cs typeface="Arial" panose="020B0604020202020204" pitchFamily="34" charset="0"/>
            </a:endParaRPr>
          </a:p>
        </p:txBody>
      </p:sp>
      <p:sp>
        <p:nvSpPr>
          <p:cNvPr id="5" name="Text 3"/>
          <p:cNvSpPr/>
          <p:nvPr/>
        </p:nvSpPr>
        <p:spPr>
          <a:xfrm>
            <a:off x="1000125" y="2078474"/>
            <a:ext cx="5999083" cy="2189440"/>
          </a:xfrm>
          <a:prstGeom prst="rect">
            <a:avLst/>
          </a:prstGeom>
          <a:noFill/>
          <a:ln/>
        </p:spPr>
        <p:txBody>
          <a:bodyPr wrap="square" lIns="0" tIns="0" rIns="0" bIns="0" rtlCol="0" anchor="t"/>
          <a:lstStyle/>
          <a:p>
            <a:pPr marL="0" indent="0" algn="l">
              <a:lnSpc>
                <a:spcPts val="2450"/>
              </a:lnSpc>
              <a:buNone/>
            </a:pPr>
            <a:r>
              <a:rPr lang="en-US" sz="1500" dirty="0">
                <a:solidFill>
                  <a:srgbClr val="E0E4E6"/>
                </a:solidFill>
                <a:latin typeface="Arial" panose="020B0604020202020204" pitchFamily="34" charset="0"/>
                <a:ea typeface="Barlow" pitchFamily="34" charset="-122"/>
                <a:cs typeface="Arial" panose="020B0604020202020204" pitchFamily="34" charset="0"/>
              </a:rPr>
              <a:t>SQS is designed for infinite scaling. It automatically expands or contracts its capacity to meet demand, meaning you never have to provision servers or worry about throughput limits. This elasticity ensures your application can handle sudden spikes in traffic without performance degradation or manual intervention, making it ideal for event-driven architectures and microservices that experience variable loads.</a:t>
            </a:r>
            <a:endParaRPr lang="en-US" sz="1500" dirty="0">
              <a:latin typeface="Arial" panose="020B0604020202020204" pitchFamily="34" charset="0"/>
              <a:cs typeface="Arial" panose="020B0604020202020204" pitchFamily="34" charset="0"/>
            </a:endParaRPr>
          </a:p>
        </p:txBody>
      </p:sp>
      <p:sp>
        <p:nvSpPr>
          <p:cNvPr id="6" name="Shape 4"/>
          <p:cNvSpPr/>
          <p:nvPr/>
        </p:nvSpPr>
        <p:spPr>
          <a:xfrm>
            <a:off x="7412831" y="1471493"/>
            <a:ext cx="6435685" cy="3014663"/>
          </a:xfrm>
          <a:prstGeom prst="roundRect">
            <a:avLst>
              <a:gd name="adj" fmla="val 15564"/>
            </a:avLst>
          </a:prstGeom>
          <a:solidFill>
            <a:srgbClr val="0A081B"/>
          </a:solidFill>
          <a:ln w="22860">
            <a:solidFill>
              <a:srgbClr val="29DDDA"/>
            </a:solidFill>
            <a:prstDash val="solid"/>
          </a:ln>
        </p:spPr>
      </p:sp>
      <p:sp>
        <p:nvSpPr>
          <p:cNvPr id="7" name="Text 5"/>
          <p:cNvSpPr/>
          <p:nvPr/>
        </p:nvSpPr>
        <p:spPr>
          <a:xfrm>
            <a:off x="7631073" y="1689735"/>
            <a:ext cx="2172057" cy="271463"/>
          </a:xfrm>
          <a:prstGeom prst="rect">
            <a:avLst/>
          </a:prstGeom>
          <a:noFill/>
          <a:ln/>
        </p:spPr>
        <p:txBody>
          <a:bodyPr wrap="none" lIns="0" tIns="0" rIns="0" bIns="0" rtlCol="0" anchor="t"/>
          <a:lstStyle/>
          <a:p>
            <a:pPr marL="0" indent="0" algn="l">
              <a:lnSpc>
                <a:spcPts val="2100"/>
              </a:lnSpc>
              <a:buNone/>
            </a:pPr>
            <a:r>
              <a:rPr lang="en-US" sz="1700" b="1" dirty="0">
                <a:solidFill>
                  <a:srgbClr val="E0E4E6"/>
                </a:solidFill>
                <a:latin typeface="Arial" panose="020B0604020202020204" pitchFamily="34" charset="0"/>
                <a:ea typeface="Spline Sans Bold" pitchFamily="34" charset="-122"/>
                <a:cs typeface="Arial" panose="020B0604020202020204" pitchFamily="34" charset="0"/>
              </a:rPr>
              <a:t>Robust Security</a:t>
            </a:r>
            <a:endParaRPr lang="en-US" sz="1700" dirty="0">
              <a:latin typeface="Arial" panose="020B0604020202020204" pitchFamily="34" charset="0"/>
              <a:cs typeface="Arial" panose="020B0604020202020204" pitchFamily="34" charset="0"/>
            </a:endParaRPr>
          </a:p>
        </p:txBody>
      </p:sp>
      <p:sp>
        <p:nvSpPr>
          <p:cNvPr id="8" name="Text 6"/>
          <p:cNvSpPr/>
          <p:nvPr/>
        </p:nvSpPr>
        <p:spPr>
          <a:xfrm>
            <a:off x="7631073" y="2078474"/>
            <a:ext cx="5999202" cy="1876663"/>
          </a:xfrm>
          <a:prstGeom prst="rect">
            <a:avLst/>
          </a:prstGeom>
          <a:noFill/>
          <a:ln/>
        </p:spPr>
        <p:txBody>
          <a:bodyPr wrap="square" lIns="0" tIns="0" rIns="0" bIns="0" rtlCol="0" anchor="t"/>
          <a:lstStyle/>
          <a:p>
            <a:pPr marL="0" indent="0" algn="l">
              <a:lnSpc>
                <a:spcPts val="2450"/>
              </a:lnSpc>
              <a:buNone/>
            </a:pPr>
            <a:r>
              <a:rPr lang="en-US" sz="1500" dirty="0">
                <a:solidFill>
                  <a:srgbClr val="E0E4E6"/>
                </a:solidFill>
                <a:latin typeface="Arial" panose="020B0604020202020204" pitchFamily="34" charset="0"/>
                <a:ea typeface="Barlow" pitchFamily="34" charset="-122"/>
                <a:cs typeface="Arial" panose="020B0604020202020204" pitchFamily="34" charset="0"/>
              </a:rPr>
              <a:t>Security is paramount, and SQS offers comprehensive features to protect your data. This includes server-side encryption with AWS Key Management Service (KMS) for data at rest, and fine-grained access control through AWS Identity and Access Management (IAM) policies. You can control exactly who can send and receive messages, ensuring only authorized entities interact with your queues.</a:t>
            </a:r>
            <a:endParaRPr lang="en-US" sz="1500" dirty="0">
              <a:latin typeface="Arial" panose="020B0604020202020204" pitchFamily="34" charset="0"/>
              <a:cs typeface="Arial" panose="020B0604020202020204" pitchFamily="34" charset="0"/>
            </a:endParaRPr>
          </a:p>
        </p:txBody>
      </p:sp>
      <p:sp>
        <p:nvSpPr>
          <p:cNvPr id="9" name="Shape 7"/>
          <p:cNvSpPr/>
          <p:nvPr/>
        </p:nvSpPr>
        <p:spPr>
          <a:xfrm>
            <a:off x="781883" y="4681538"/>
            <a:ext cx="6435566" cy="3014663"/>
          </a:xfrm>
          <a:prstGeom prst="roundRect">
            <a:avLst>
              <a:gd name="adj" fmla="val 15564"/>
            </a:avLst>
          </a:prstGeom>
          <a:solidFill>
            <a:srgbClr val="0A081B"/>
          </a:solidFill>
          <a:ln w="22860">
            <a:solidFill>
              <a:srgbClr val="37A7E7"/>
            </a:solidFill>
            <a:prstDash val="solid"/>
          </a:ln>
        </p:spPr>
      </p:sp>
      <p:sp>
        <p:nvSpPr>
          <p:cNvPr id="10" name="Text 8"/>
          <p:cNvSpPr/>
          <p:nvPr/>
        </p:nvSpPr>
        <p:spPr>
          <a:xfrm>
            <a:off x="1000125" y="4899779"/>
            <a:ext cx="2701171" cy="271463"/>
          </a:xfrm>
          <a:prstGeom prst="rect">
            <a:avLst/>
          </a:prstGeom>
          <a:noFill/>
          <a:ln/>
        </p:spPr>
        <p:txBody>
          <a:bodyPr wrap="none" lIns="0" tIns="0" rIns="0" bIns="0" rtlCol="0" anchor="t"/>
          <a:lstStyle/>
          <a:p>
            <a:pPr marL="0" indent="0" algn="l">
              <a:lnSpc>
                <a:spcPts val="2100"/>
              </a:lnSpc>
              <a:buNone/>
            </a:pPr>
            <a:r>
              <a:rPr lang="en-US" sz="1700" b="1" dirty="0">
                <a:solidFill>
                  <a:srgbClr val="E0E4E6"/>
                </a:solidFill>
                <a:latin typeface="Arial" panose="020B0604020202020204" pitchFamily="34" charset="0"/>
                <a:ea typeface="Spline Sans Bold" pitchFamily="34" charset="-122"/>
                <a:cs typeface="Arial" panose="020B0604020202020204" pitchFamily="34" charset="0"/>
              </a:rPr>
              <a:t>Seamless AWS Integration</a:t>
            </a:r>
            <a:endParaRPr lang="en-US" sz="1700" dirty="0">
              <a:latin typeface="Arial" panose="020B0604020202020204" pitchFamily="34" charset="0"/>
              <a:cs typeface="Arial" panose="020B0604020202020204" pitchFamily="34" charset="0"/>
            </a:endParaRPr>
          </a:p>
        </p:txBody>
      </p:sp>
      <p:sp>
        <p:nvSpPr>
          <p:cNvPr id="11" name="Text 9"/>
          <p:cNvSpPr/>
          <p:nvPr/>
        </p:nvSpPr>
        <p:spPr>
          <a:xfrm>
            <a:off x="1000125" y="5288518"/>
            <a:ext cx="5999083" cy="2189440"/>
          </a:xfrm>
          <a:prstGeom prst="rect">
            <a:avLst/>
          </a:prstGeom>
          <a:noFill/>
          <a:ln/>
        </p:spPr>
        <p:txBody>
          <a:bodyPr wrap="square" lIns="0" tIns="0" rIns="0" bIns="0" rtlCol="0" anchor="t"/>
          <a:lstStyle/>
          <a:p>
            <a:pPr marL="0" indent="0" algn="l">
              <a:lnSpc>
                <a:spcPts val="2450"/>
              </a:lnSpc>
              <a:buNone/>
            </a:pPr>
            <a:r>
              <a:rPr lang="en-US" sz="1500" dirty="0">
                <a:solidFill>
                  <a:srgbClr val="E0E4E6"/>
                </a:solidFill>
                <a:latin typeface="Arial" panose="020B0604020202020204" pitchFamily="34" charset="0"/>
                <a:ea typeface="Barlow" pitchFamily="34" charset="-122"/>
                <a:cs typeface="Arial" panose="020B0604020202020204" pitchFamily="34" charset="0"/>
              </a:rPr>
              <a:t>SQS deeply integrates with other AWS services, simplifying your architecture. It can serve as a native event source for AWS Lambda, allowing you to build serverless workflows. Monitoring is readily available through Amazon CloudWatch, providing metrics and logs for your queues. Additionally, comprehensive SDK support across multiple programming languages makes it easy to integrate SQS into your existing applications.</a:t>
            </a:r>
            <a:endParaRPr lang="en-US" sz="1500" dirty="0">
              <a:latin typeface="Arial" panose="020B0604020202020204" pitchFamily="34" charset="0"/>
              <a:cs typeface="Arial" panose="020B0604020202020204" pitchFamily="34" charset="0"/>
            </a:endParaRPr>
          </a:p>
        </p:txBody>
      </p:sp>
      <p:sp>
        <p:nvSpPr>
          <p:cNvPr id="12" name="Shape 10"/>
          <p:cNvSpPr/>
          <p:nvPr/>
        </p:nvSpPr>
        <p:spPr>
          <a:xfrm>
            <a:off x="7412831" y="4681538"/>
            <a:ext cx="6435685" cy="3014663"/>
          </a:xfrm>
          <a:prstGeom prst="roundRect">
            <a:avLst>
              <a:gd name="adj" fmla="val 15564"/>
            </a:avLst>
          </a:prstGeom>
          <a:solidFill>
            <a:srgbClr val="0A081B"/>
          </a:solidFill>
          <a:ln w="22860">
            <a:solidFill>
              <a:srgbClr val="091231"/>
            </a:solidFill>
            <a:prstDash val="solid"/>
          </a:ln>
        </p:spPr>
      </p:sp>
      <p:sp>
        <p:nvSpPr>
          <p:cNvPr id="13" name="Text 11"/>
          <p:cNvSpPr/>
          <p:nvPr/>
        </p:nvSpPr>
        <p:spPr>
          <a:xfrm>
            <a:off x="7631073" y="4899779"/>
            <a:ext cx="2237184" cy="271463"/>
          </a:xfrm>
          <a:prstGeom prst="rect">
            <a:avLst/>
          </a:prstGeom>
          <a:noFill/>
          <a:ln/>
        </p:spPr>
        <p:txBody>
          <a:bodyPr wrap="none" lIns="0" tIns="0" rIns="0" bIns="0" rtlCol="0" anchor="t"/>
          <a:lstStyle/>
          <a:p>
            <a:pPr marL="0" indent="0" algn="l">
              <a:lnSpc>
                <a:spcPts val="2100"/>
              </a:lnSpc>
              <a:buNone/>
            </a:pPr>
            <a:r>
              <a:rPr lang="en-US" sz="1700" b="1" dirty="0">
                <a:solidFill>
                  <a:srgbClr val="E0E4E6"/>
                </a:solidFill>
                <a:latin typeface="Arial" panose="020B0604020202020204" pitchFamily="34" charset="0"/>
                <a:ea typeface="Spline Sans Bold" pitchFamily="34" charset="-122"/>
                <a:cs typeface="Arial" panose="020B0604020202020204" pitchFamily="34" charset="0"/>
              </a:rPr>
              <a:t>Cost-Effective Pricing</a:t>
            </a:r>
            <a:endParaRPr lang="en-US" sz="1700" dirty="0">
              <a:latin typeface="Arial" panose="020B0604020202020204" pitchFamily="34" charset="0"/>
              <a:cs typeface="Arial" panose="020B0604020202020204" pitchFamily="34" charset="0"/>
            </a:endParaRPr>
          </a:p>
        </p:txBody>
      </p:sp>
      <p:sp>
        <p:nvSpPr>
          <p:cNvPr id="14" name="Text 12"/>
          <p:cNvSpPr/>
          <p:nvPr/>
        </p:nvSpPr>
        <p:spPr>
          <a:xfrm>
            <a:off x="7631073" y="5288518"/>
            <a:ext cx="5999202" cy="1563886"/>
          </a:xfrm>
          <a:prstGeom prst="rect">
            <a:avLst/>
          </a:prstGeom>
          <a:noFill/>
          <a:ln/>
        </p:spPr>
        <p:txBody>
          <a:bodyPr wrap="square" lIns="0" tIns="0" rIns="0" bIns="0" rtlCol="0" anchor="t"/>
          <a:lstStyle/>
          <a:p>
            <a:pPr marL="0" indent="0" algn="l">
              <a:lnSpc>
                <a:spcPts val="2450"/>
              </a:lnSpc>
              <a:buNone/>
            </a:pPr>
            <a:r>
              <a:rPr lang="en-US" sz="1500" dirty="0">
                <a:solidFill>
                  <a:srgbClr val="E0E4E6"/>
                </a:solidFill>
                <a:latin typeface="Arial" panose="020B0604020202020204" pitchFamily="34" charset="0"/>
                <a:ea typeface="Barlow" pitchFamily="34" charset="-122"/>
                <a:cs typeface="Arial" panose="020B0604020202020204" pitchFamily="34" charset="0"/>
              </a:rPr>
              <a:t>SQS operates on a pay-as-you-go model, meaning you only incur costs for the messages you send and receive. There are no upfront fees, minimum commitments, or charges for idle queues. This makes SQS highly cost-efficient, especially for applications with fluctuating workloads, as you only pay for the actual resources consumed.</a:t>
            </a:r>
            <a:endParaRPr lang="en-US" sz="1500" dirty="0">
              <a:latin typeface="Arial" panose="020B0604020202020204" pitchFamily="34" charset="0"/>
              <a:cs typeface="Arial" panose="020B0604020202020204" pitchFamily="34" charset="0"/>
            </a:endParaRPr>
          </a:p>
        </p:txBody>
      </p:sp>
      <p:sp>
        <p:nvSpPr>
          <p:cNvPr id="15" name="Rectangle 14">
            <a:extLst>
              <a:ext uri="{FF2B5EF4-FFF2-40B4-BE49-F238E27FC236}">
                <a16:creationId xmlns:a16="http://schemas.microsoft.com/office/drawing/2014/main" id="{72F3E57C-0D5B-67BC-F904-621857FB1858}"/>
              </a:ext>
            </a:extLst>
          </p:cNvPr>
          <p:cNvSpPr/>
          <p:nvPr/>
        </p:nvSpPr>
        <p:spPr>
          <a:xfrm>
            <a:off x="12582525" y="7694414"/>
            <a:ext cx="2047875" cy="535186"/>
          </a:xfrm>
          <a:prstGeom prst="rect">
            <a:avLst/>
          </a:prstGeom>
          <a:solidFill>
            <a:srgbClr val="070614"/>
          </a:solidFill>
          <a:effectLst>
            <a:softEdge rad="63500"/>
          </a:effectLst>
        </p:spPr>
        <p:style>
          <a:lnRef idx="1">
            <a:schemeClr val="dk1"/>
          </a:lnRef>
          <a:fillRef idx="3">
            <a:schemeClr val="dk1"/>
          </a:fillRef>
          <a:effectRef idx="2">
            <a:schemeClr val="dk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IN"/>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799981" y="649724"/>
            <a:ext cx="4444841" cy="555546"/>
          </a:xfrm>
          <a:prstGeom prst="rect">
            <a:avLst/>
          </a:prstGeom>
          <a:noFill/>
          <a:ln/>
        </p:spPr>
        <p:txBody>
          <a:bodyPr wrap="none" lIns="0" tIns="0" rIns="0" bIns="0" rtlCol="0" anchor="t"/>
          <a:lstStyle/>
          <a:p>
            <a:pPr marL="0" indent="0" algn="l">
              <a:lnSpc>
                <a:spcPts val="4350"/>
              </a:lnSpc>
              <a:buNone/>
            </a:pPr>
            <a:r>
              <a:rPr lang="en-US" sz="3450" b="1" dirty="0">
                <a:solidFill>
                  <a:srgbClr val="F0FCFF"/>
                </a:solidFill>
                <a:latin typeface="Arial" panose="020B0604020202020204" pitchFamily="34" charset="0"/>
                <a:ea typeface="Spline Sans Bold" pitchFamily="34" charset="-122"/>
                <a:cs typeface="Arial" panose="020B0604020202020204" pitchFamily="34" charset="0"/>
              </a:rPr>
              <a:t>What is Amazon MQ?</a:t>
            </a:r>
            <a:endParaRPr lang="en-US" sz="3450" dirty="0">
              <a:latin typeface="Arial" panose="020B0604020202020204" pitchFamily="34" charset="0"/>
              <a:cs typeface="Arial" panose="020B0604020202020204" pitchFamily="34" charset="0"/>
            </a:endParaRPr>
          </a:p>
        </p:txBody>
      </p:sp>
      <p:sp>
        <p:nvSpPr>
          <p:cNvPr id="3" name="Text 1"/>
          <p:cNvSpPr/>
          <p:nvPr/>
        </p:nvSpPr>
        <p:spPr>
          <a:xfrm>
            <a:off x="799981" y="1605201"/>
            <a:ext cx="13030438" cy="960120"/>
          </a:xfrm>
          <a:prstGeom prst="rect">
            <a:avLst/>
          </a:prstGeom>
          <a:noFill/>
          <a:ln/>
        </p:spPr>
        <p:txBody>
          <a:bodyPr wrap="square" lIns="0" tIns="0" rIns="0" bIns="0" rtlCol="0" anchor="t"/>
          <a:lstStyle/>
          <a:p>
            <a:pPr marL="0" indent="0" algn="l">
              <a:lnSpc>
                <a:spcPts val="2500"/>
              </a:lnSpc>
              <a:buNone/>
            </a:pPr>
            <a:r>
              <a:rPr lang="en-US" sz="1550" dirty="0">
                <a:solidFill>
                  <a:srgbClr val="E0E4E6"/>
                </a:solidFill>
                <a:latin typeface="Arial" panose="020B0604020202020204" pitchFamily="34" charset="0"/>
                <a:ea typeface="Barlow" pitchFamily="34" charset="-122"/>
                <a:cs typeface="Arial" panose="020B0604020202020204" pitchFamily="34" charset="0"/>
              </a:rPr>
              <a:t>Amazon MQ is a managed message broker service for Apache ActiveMQ Classic and RabbitMQ that makes it easy to set up and operate message brokers in the cloud. It is particularly well-suited for applications that rely on industry-standard messaging APIs and protocols, or those migrating from on-premises message brokers.</a:t>
            </a:r>
            <a:endParaRPr lang="en-US" sz="1550" dirty="0">
              <a:latin typeface="Arial" panose="020B0604020202020204" pitchFamily="34" charset="0"/>
              <a:cs typeface="Arial" panose="020B0604020202020204" pitchFamily="34" charset="0"/>
            </a:endParaRPr>
          </a:p>
        </p:txBody>
      </p:sp>
      <p:sp>
        <p:nvSpPr>
          <p:cNvPr id="4" name="Text 2"/>
          <p:cNvSpPr/>
          <p:nvPr/>
        </p:nvSpPr>
        <p:spPr>
          <a:xfrm>
            <a:off x="799981" y="2790230"/>
            <a:ext cx="13030438" cy="640080"/>
          </a:xfrm>
          <a:prstGeom prst="rect">
            <a:avLst/>
          </a:prstGeom>
          <a:noFill/>
          <a:ln/>
        </p:spPr>
        <p:txBody>
          <a:bodyPr wrap="square" lIns="0" tIns="0" rIns="0" bIns="0" rtlCol="0" anchor="t"/>
          <a:lstStyle/>
          <a:p>
            <a:pPr marL="342900" indent="-342900" algn="l">
              <a:lnSpc>
                <a:spcPts val="2500"/>
              </a:lnSpc>
              <a:buSzPct val="100000"/>
              <a:buChar char="•"/>
            </a:pPr>
            <a:r>
              <a:rPr lang="en-US" sz="1550" b="1" dirty="0">
                <a:solidFill>
                  <a:srgbClr val="E0E4E6"/>
                </a:solidFill>
                <a:latin typeface="Arial" panose="020B0604020202020204" pitchFamily="34" charset="0"/>
                <a:ea typeface="Barlow" pitchFamily="34" charset="-122"/>
                <a:cs typeface="Arial" panose="020B0604020202020204" pitchFamily="34" charset="0"/>
              </a:rPr>
              <a:t>Managed Service:</a:t>
            </a:r>
            <a:r>
              <a:rPr lang="en-US" sz="1550" dirty="0">
                <a:solidFill>
                  <a:srgbClr val="E0E4E6"/>
                </a:solidFill>
                <a:latin typeface="Arial" panose="020B0604020202020204" pitchFamily="34" charset="0"/>
                <a:ea typeface="Barlow" pitchFamily="34" charset="-122"/>
                <a:cs typeface="Arial" panose="020B0604020202020204" pitchFamily="34" charset="0"/>
              </a:rPr>
              <a:t> Amazon MQ takes care of the administrative burden of managing message brokers, including provisioning infrastructure, software upgrades, patching, and backups. This reduces operational overhead and allows you to focus on application development.</a:t>
            </a:r>
            <a:endParaRPr lang="en-US" sz="1550" dirty="0">
              <a:latin typeface="Arial" panose="020B0604020202020204" pitchFamily="34" charset="0"/>
              <a:cs typeface="Arial" panose="020B0604020202020204" pitchFamily="34" charset="0"/>
            </a:endParaRPr>
          </a:p>
        </p:txBody>
      </p:sp>
      <p:sp>
        <p:nvSpPr>
          <p:cNvPr id="5" name="Text 3"/>
          <p:cNvSpPr/>
          <p:nvPr/>
        </p:nvSpPr>
        <p:spPr>
          <a:xfrm>
            <a:off x="799981" y="3500199"/>
            <a:ext cx="13030438" cy="320040"/>
          </a:xfrm>
          <a:prstGeom prst="rect">
            <a:avLst/>
          </a:prstGeom>
          <a:noFill/>
          <a:ln/>
        </p:spPr>
        <p:txBody>
          <a:bodyPr wrap="none" lIns="0" tIns="0" rIns="0" bIns="0" rtlCol="0" anchor="t"/>
          <a:lstStyle/>
          <a:p>
            <a:pPr marL="342900" indent="-342900" algn="l">
              <a:lnSpc>
                <a:spcPts val="2500"/>
              </a:lnSpc>
              <a:buSzPct val="100000"/>
              <a:buChar char="•"/>
            </a:pPr>
            <a:r>
              <a:rPr lang="en-US" sz="1550" b="1" dirty="0">
                <a:solidFill>
                  <a:srgbClr val="E0E4E6"/>
                </a:solidFill>
                <a:latin typeface="Arial" panose="020B0604020202020204" pitchFamily="34" charset="0"/>
                <a:ea typeface="Barlow" pitchFamily="34" charset="-122"/>
                <a:cs typeface="Arial" panose="020B0604020202020204" pitchFamily="34" charset="0"/>
              </a:rPr>
              <a:t>Broker Compatibility:</a:t>
            </a:r>
            <a:r>
              <a:rPr lang="en-US" sz="1550" dirty="0">
                <a:solidFill>
                  <a:srgbClr val="E0E4E6"/>
                </a:solidFill>
                <a:latin typeface="Arial" panose="020B0604020202020204" pitchFamily="34" charset="0"/>
                <a:ea typeface="Barlow" pitchFamily="34" charset="-122"/>
                <a:cs typeface="Arial" panose="020B0604020202020204" pitchFamily="34" charset="0"/>
              </a:rPr>
              <a:t> It supports widely used open-source message brokers:</a:t>
            </a:r>
            <a:endParaRPr lang="en-US" sz="1550" dirty="0">
              <a:latin typeface="Arial" panose="020B0604020202020204" pitchFamily="34" charset="0"/>
              <a:cs typeface="Arial" panose="020B0604020202020204" pitchFamily="34" charset="0"/>
            </a:endParaRPr>
          </a:p>
        </p:txBody>
      </p:sp>
      <p:sp>
        <p:nvSpPr>
          <p:cNvPr id="6" name="Text 4"/>
          <p:cNvSpPr/>
          <p:nvPr/>
        </p:nvSpPr>
        <p:spPr>
          <a:xfrm>
            <a:off x="799981" y="3890129"/>
            <a:ext cx="13030438" cy="320040"/>
          </a:xfrm>
          <a:prstGeom prst="rect">
            <a:avLst/>
          </a:prstGeom>
          <a:noFill/>
          <a:ln/>
        </p:spPr>
        <p:txBody>
          <a:bodyPr wrap="none" lIns="0" tIns="0" rIns="0" bIns="0" rtlCol="0" anchor="t"/>
          <a:lstStyle/>
          <a:p>
            <a:pPr marL="685800" lvl="1" indent="-342900" algn="l">
              <a:lnSpc>
                <a:spcPts val="2500"/>
              </a:lnSpc>
              <a:buSzPct val="100000"/>
              <a:buChar char="•"/>
            </a:pPr>
            <a:r>
              <a:rPr lang="en-US" sz="1550" b="1" dirty="0">
                <a:solidFill>
                  <a:srgbClr val="E0E4E6"/>
                </a:solidFill>
                <a:latin typeface="Arial" panose="020B0604020202020204" pitchFamily="34" charset="0"/>
                <a:ea typeface="Barlow" pitchFamily="34" charset="-122"/>
                <a:cs typeface="Arial" panose="020B0604020202020204" pitchFamily="34" charset="0"/>
              </a:rPr>
              <a:t>Apache ActiveMQ Classic:</a:t>
            </a:r>
            <a:r>
              <a:rPr lang="en-US" sz="1550" dirty="0">
                <a:solidFill>
                  <a:srgbClr val="E0E4E6"/>
                </a:solidFill>
                <a:latin typeface="Arial" panose="020B0604020202020204" pitchFamily="34" charset="0"/>
                <a:ea typeface="Barlow" pitchFamily="34" charset="-122"/>
                <a:cs typeface="Arial" panose="020B0604020202020204" pitchFamily="34" charset="0"/>
              </a:rPr>
              <a:t> A popular, robust open-source message broker.</a:t>
            </a:r>
            <a:endParaRPr lang="en-US" sz="1550" dirty="0">
              <a:latin typeface="Arial" panose="020B0604020202020204" pitchFamily="34" charset="0"/>
              <a:cs typeface="Arial" panose="020B0604020202020204" pitchFamily="34" charset="0"/>
            </a:endParaRPr>
          </a:p>
        </p:txBody>
      </p:sp>
      <p:sp>
        <p:nvSpPr>
          <p:cNvPr id="7" name="Text 5"/>
          <p:cNvSpPr/>
          <p:nvPr/>
        </p:nvSpPr>
        <p:spPr>
          <a:xfrm>
            <a:off x="799981" y="4280059"/>
            <a:ext cx="13030438" cy="320040"/>
          </a:xfrm>
          <a:prstGeom prst="rect">
            <a:avLst/>
          </a:prstGeom>
          <a:noFill/>
          <a:ln/>
        </p:spPr>
        <p:txBody>
          <a:bodyPr wrap="none" lIns="0" tIns="0" rIns="0" bIns="0" rtlCol="0" anchor="t"/>
          <a:lstStyle/>
          <a:p>
            <a:pPr marL="685800" lvl="1" indent="-342900" algn="l">
              <a:lnSpc>
                <a:spcPts val="2500"/>
              </a:lnSpc>
              <a:buSzPct val="100000"/>
              <a:buChar char="•"/>
            </a:pPr>
            <a:r>
              <a:rPr lang="en-US" sz="1550" b="1" dirty="0">
                <a:solidFill>
                  <a:srgbClr val="E0E4E6"/>
                </a:solidFill>
                <a:latin typeface="Arial" panose="020B0604020202020204" pitchFamily="34" charset="0"/>
                <a:ea typeface="Barlow" pitchFamily="34" charset="-122"/>
                <a:cs typeface="Arial" panose="020B0604020202020204" pitchFamily="34" charset="0"/>
              </a:rPr>
              <a:t>RabbitMQ:</a:t>
            </a:r>
            <a:r>
              <a:rPr lang="en-US" sz="1550" dirty="0">
                <a:solidFill>
                  <a:srgbClr val="E0E4E6"/>
                </a:solidFill>
                <a:latin typeface="Arial" panose="020B0604020202020204" pitchFamily="34" charset="0"/>
                <a:ea typeface="Barlow" pitchFamily="34" charset="-122"/>
                <a:cs typeface="Arial" panose="020B0604020202020204" pitchFamily="34" charset="0"/>
              </a:rPr>
              <a:t> Another highly popular and feature-rich message broker known for its flexibility.</a:t>
            </a:r>
            <a:endParaRPr lang="en-US" sz="1550" dirty="0">
              <a:latin typeface="Arial" panose="020B0604020202020204" pitchFamily="34" charset="0"/>
              <a:cs typeface="Arial" panose="020B0604020202020204" pitchFamily="34" charset="0"/>
            </a:endParaRPr>
          </a:p>
        </p:txBody>
      </p:sp>
      <p:sp>
        <p:nvSpPr>
          <p:cNvPr id="8" name="Text 6"/>
          <p:cNvSpPr/>
          <p:nvPr/>
        </p:nvSpPr>
        <p:spPr>
          <a:xfrm>
            <a:off x="799981" y="4669988"/>
            <a:ext cx="13030438" cy="640080"/>
          </a:xfrm>
          <a:prstGeom prst="rect">
            <a:avLst/>
          </a:prstGeom>
          <a:noFill/>
          <a:ln/>
        </p:spPr>
        <p:txBody>
          <a:bodyPr wrap="square" lIns="0" tIns="0" rIns="0" bIns="0" rtlCol="0" anchor="t"/>
          <a:lstStyle/>
          <a:p>
            <a:pPr marL="342900" indent="-342900" algn="l">
              <a:lnSpc>
                <a:spcPts val="2500"/>
              </a:lnSpc>
              <a:buSzPct val="100000"/>
              <a:buChar char="•"/>
            </a:pPr>
            <a:r>
              <a:rPr lang="en-US" sz="1550" b="1" dirty="0">
                <a:solidFill>
                  <a:srgbClr val="E0E4E6"/>
                </a:solidFill>
                <a:latin typeface="Arial" panose="020B0604020202020204" pitchFamily="34" charset="0"/>
                <a:ea typeface="Barlow" pitchFamily="34" charset="-122"/>
                <a:cs typeface="Arial" panose="020B0604020202020204" pitchFamily="34" charset="0"/>
              </a:rPr>
              <a:t>Simplified Migration:</a:t>
            </a:r>
            <a:r>
              <a:rPr lang="en-US" sz="1550" dirty="0">
                <a:solidFill>
                  <a:srgbClr val="E0E4E6"/>
                </a:solidFill>
                <a:latin typeface="Arial" panose="020B0604020202020204" pitchFamily="34" charset="0"/>
                <a:ea typeface="Barlow" pitchFamily="34" charset="-122"/>
                <a:cs typeface="Arial" panose="020B0604020202020204" pitchFamily="34" charset="0"/>
              </a:rPr>
              <a:t> Amazon MQ is designed to simplify the migration of existing applications that use ActiveMQ or RabbitMQ from on-premises to the cloud. Since it supports the same APIs and protocols, you can often migrate your applications with minimal to no code changes.</a:t>
            </a:r>
            <a:endParaRPr lang="en-US" sz="1550" dirty="0">
              <a:latin typeface="Arial" panose="020B0604020202020204" pitchFamily="34" charset="0"/>
              <a:cs typeface="Arial" panose="020B0604020202020204" pitchFamily="34" charset="0"/>
            </a:endParaRPr>
          </a:p>
        </p:txBody>
      </p:sp>
      <p:sp>
        <p:nvSpPr>
          <p:cNvPr id="9" name="Text 7"/>
          <p:cNvSpPr/>
          <p:nvPr/>
        </p:nvSpPr>
        <p:spPr>
          <a:xfrm>
            <a:off x="799981" y="5379958"/>
            <a:ext cx="13030438" cy="640080"/>
          </a:xfrm>
          <a:prstGeom prst="rect">
            <a:avLst/>
          </a:prstGeom>
          <a:noFill/>
          <a:ln/>
        </p:spPr>
        <p:txBody>
          <a:bodyPr wrap="square" lIns="0" tIns="0" rIns="0" bIns="0" rtlCol="0" anchor="t"/>
          <a:lstStyle/>
          <a:p>
            <a:pPr marL="342900" indent="-342900" algn="l">
              <a:lnSpc>
                <a:spcPts val="2500"/>
              </a:lnSpc>
              <a:buSzPct val="100000"/>
              <a:buChar char="•"/>
            </a:pPr>
            <a:r>
              <a:rPr lang="en-US" sz="1550" b="1" dirty="0">
                <a:solidFill>
                  <a:srgbClr val="E0E4E6"/>
                </a:solidFill>
                <a:latin typeface="Arial" panose="020B0604020202020204" pitchFamily="34" charset="0"/>
                <a:ea typeface="Barlow" pitchFamily="34" charset="-122"/>
                <a:cs typeface="Arial" panose="020B0604020202020204" pitchFamily="34" charset="0"/>
              </a:rPr>
              <a:t>Industry-Standard Protocols:</a:t>
            </a:r>
            <a:r>
              <a:rPr lang="en-US" sz="1550" dirty="0">
                <a:solidFill>
                  <a:srgbClr val="E0E4E6"/>
                </a:solidFill>
                <a:latin typeface="Arial" panose="020B0604020202020204" pitchFamily="34" charset="0"/>
                <a:ea typeface="Barlow" pitchFamily="34" charset="-122"/>
                <a:cs typeface="Arial" panose="020B0604020202020204" pitchFamily="34" charset="0"/>
              </a:rPr>
              <a:t> Amazon MQ supports a wide array of industry-standard messaging protocols, ensuring broad compatibility with diverse applications:</a:t>
            </a:r>
            <a:endParaRPr lang="en-US" sz="1550" dirty="0">
              <a:latin typeface="Arial" panose="020B0604020202020204" pitchFamily="34" charset="0"/>
              <a:cs typeface="Arial" panose="020B0604020202020204" pitchFamily="34" charset="0"/>
            </a:endParaRPr>
          </a:p>
        </p:txBody>
      </p:sp>
      <p:sp>
        <p:nvSpPr>
          <p:cNvPr id="10" name="Text 8"/>
          <p:cNvSpPr/>
          <p:nvPr/>
        </p:nvSpPr>
        <p:spPr>
          <a:xfrm>
            <a:off x="799981" y="6089928"/>
            <a:ext cx="13030438" cy="320040"/>
          </a:xfrm>
          <a:prstGeom prst="rect">
            <a:avLst/>
          </a:prstGeom>
          <a:noFill/>
          <a:ln/>
        </p:spPr>
        <p:txBody>
          <a:bodyPr wrap="none" lIns="0" tIns="0" rIns="0" bIns="0" rtlCol="0" anchor="t"/>
          <a:lstStyle/>
          <a:p>
            <a:pPr marL="685800" lvl="1" indent="-342900" algn="l">
              <a:lnSpc>
                <a:spcPts val="2500"/>
              </a:lnSpc>
              <a:buSzPct val="100000"/>
              <a:buChar char="•"/>
            </a:pPr>
            <a:r>
              <a:rPr lang="en-US" sz="1550" b="1" dirty="0">
                <a:solidFill>
                  <a:srgbClr val="E0E4E6"/>
                </a:solidFill>
                <a:latin typeface="Arial" panose="020B0604020202020204" pitchFamily="34" charset="0"/>
                <a:ea typeface="Barlow" pitchFamily="34" charset="-122"/>
                <a:cs typeface="Arial" panose="020B0604020202020204" pitchFamily="34" charset="0"/>
              </a:rPr>
              <a:t>AMQP (Advanced Message Queuing Protocol):</a:t>
            </a:r>
            <a:r>
              <a:rPr lang="en-US" sz="1550" dirty="0">
                <a:solidFill>
                  <a:srgbClr val="E0E4E6"/>
                </a:solidFill>
                <a:latin typeface="Arial" panose="020B0604020202020204" pitchFamily="34" charset="0"/>
                <a:ea typeface="Barlow" pitchFamily="34" charset="-122"/>
                <a:cs typeface="Arial" panose="020B0604020202020204" pitchFamily="34" charset="0"/>
              </a:rPr>
              <a:t> A robust, open-source messaging protocol.</a:t>
            </a:r>
            <a:endParaRPr lang="en-US" sz="1550" dirty="0">
              <a:latin typeface="Arial" panose="020B0604020202020204" pitchFamily="34" charset="0"/>
              <a:cs typeface="Arial" panose="020B0604020202020204" pitchFamily="34" charset="0"/>
            </a:endParaRPr>
          </a:p>
        </p:txBody>
      </p:sp>
      <p:sp>
        <p:nvSpPr>
          <p:cNvPr id="11" name="Text 9"/>
          <p:cNvSpPr/>
          <p:nvPr/>
        </p:nvSpPr>
        <p:spPr>
          <a:xfrm>
            <a:off x="799981" y="6479858"/>
            <a:ext cx="13030438" cy="320040"/>
          </a:xfrm>
          <a:prstGeom prst="rect">
            <a:avLst/>
          </a:prstGeom>
          <a:noFill/>
          <a:ln/>
        </p:spPr>
        <p:txBody>
          <a:bodyPr wrap="none" lIns="0" tIns="0" rIns="0" bIns="0" rtlCol="0" anchor="t"/>
          <a:lstStyle/>
          <a:p>
            <a:pPr marL="685800" lvl="1" indent="-342900" algn="l">
              <a:lnSpc>
                <a:spcPts val="2500"/>
              </a:lnSpc>
              <a:buSzPct val="100000"/>
              <a:buChar char="•"/>
            </a:pPr>
            <a:r>
              <a:rPr lang="en-US" sz="1550" b="1" dirty="0">
                <a:solidFill>
                  <a:srgbClr val="E0E4E6"/>
                </a:solidFill>
                <a:latin typeface="Arial" panose="020B0604020202020204" pitchFamily="34" charset="0"/>
                <a:ea typeface="Barlow" pitchFamily="34" charset="-122"/>
                <a:cs typeface="Arial" panose="020B0604020202020204" pitchFamily="34" charset="0"/>
              </a:rPr>
              <a:t>MQTT (Message Queuing Telemetry Transport):</a:t>
            </a:r>
            <a:r>
              <a:rPr lang="en-US" sz="1550" dirty="0">
                <a:solidFill>
                  <a:srgbClr val="E0E4E6"/>
                </a:solidFill>
                <a:latin typeface="Arial" panose="020B0604020202020204" pitchFamily="34" charset="0"/>
                <a:ea typeface="Barlow" pitchFamily="34" charset="-122"/>
                <a:cs typeface="Arial" panose="020B0604020202020204" pitchFamily="34" charset="0"/>
              </a:rPr>
              <a:t> Lightweight protocol for IoT and mobile applications.</a:t>
            </a:r>
            <a:endParaRPr lang="en-US" sz="1550" dirty="0">
              <a:latin typeface="Arial" panose="020B0604020202020204" pitchFamily="34" charset="0"/>
              <a:cs typeface="Arial" panose="020B0604020202020204" pitchFamily="34" charset="0"/>
            </a:endParaRPr>
          </a:p>
        </p:txBody>
      </p:sp>
      <p:sp>
        <p:nvSpPr>
          <p:cNvPr id="12" name="Text 10"/>
          <p:cNvSpPr/>
          <p:nvPr/>
        </p:nvSpPr>
        <p:spPr>
          <a:xfrm>
            <a:off x="799981" y="6869787"/>
            <a:ext cx="13030438" cy="320040"/>
          </a:xfrm>
          <a:prstGeom prst="rect">
            <a:avLst/>
          </a:prstGeom>
          <a:noFill/>
          <a:ln/>
        </p:spPr>
        <p:txBody>
          <a:bodyPr wrap="none" lIns="0" tIns="0" rIns="0" bIns="0" rtlCol="0" anchor="t"/>
          <a:lstStyle/>
          <a:p>
            <a:pPr marL="685800" lvl="1" indent="-342900" algn="l">
              <a:lnSpc>
                <a:spcPts val="2500"/>
              </a:lnSpc>
              <a:buSzPct val="100000"/>
              <a:buChar char="•"/>
            </a:pPr>
            <a:r>
              <a:rPr lang="en-US" sz="1550" b="1" dirty="0">
                <a:solidFill>
                  <a:srgbClr val="E0E4E6"/>
                </a:solidFill>
                <a:latin typeface="Arial" panose="020B0604020202020204" pitchFamily="34" charset="0"/>
                <a:ea typeface="Barlow" pitchFamily="34" charset="-122"/>
                <a:cs typeface="Arial" panose="020B0604020202020204" pitchFamily="34" charset="0"/>
              </a:rPr>
              <a:t>JMS (Java Message Service):</a:t>
            </a:r>
            <a:r>
              <a:rPr lang="en-US" sz="1550" dirty="0">
                <a:solidFill>
                  <a:srgbClr val="E0E4E6"/>
                </a:solidFill>
                <a:latin typeface="Arial" panose="020B0604020202020204" pitchFamily="34" charset="0"/>
                <a:ea typeface="Barlow" pitchFamily="34" charset="-122"/>
                <a:cs typeface="Arial" panose="020B0604020202020204" pitchFamily="34" charset="0"/>
              </a:rPr>
              <a:t> A Java API for messaging middleware.</a:t>
            </a:r>
            <a:endParaRPr lang="en-US" sz="1550" dirty="0">
              <a:latin typeface="Arial" panose="020B0604020202020204" pitchFamily="34" charset="0"/>
              <a:cs typeface="Arial" panose="020B0604020202020204" pitchFamily="34" charset="0"/>
            </a:endParaRPr>
          </a:p>
        </p:txBody>
      </p:sp>
      <p:sp>
        <p:nvSpPr>
          <p:cNvPr id="13" name="Text 11"/>
          <p:cNvSpPr/>
          <p:nvPr/>
        </p:nvSpPr>
        <p:spPr>
          <a:xfrm>
            <a:off x="799981" y="7259717"/>
            <a:ext cx="13030438" cy="320040"/>
          </a:xfrm>
          <a:prstGeom prst="rect">
            <a:avLst/>
          </a:prstGeom>
          <a:noFill/>
          <a:ln/>
        </p:spPr>
        <p:txBody>
          <a:bodyPr wrap="none" lIns="0" tIns="0" rIns="0" bIns="0" rtlCol="0" anchor="t"/>
          <a:lstStyle/>
          <a:p>
            <a:pPr marL="685800" lvl="1" indent="-342900" algn="l">
              <a:lnSpc>
                <a:spcPts val="2500"/>
              </a:lnSpc>
              <a:buSzPct val="100000"/>
              <a:buChar char="•"/>
            </a:pPr>
            <a:r>
              <a:rPr lang="en-US" sz="1550" b="1" dirty="0">
                <a:solidFill>
                  <a:srgbClr val="E0E4E6"/>
                </a:solidFill>
                <a:latin typeface="Arial" panose="020B0604020202020204" pitchFamily="34" charset="0"/>
                <a:ea typeface="Barlow" pitchFamily="34" charset="-122"/>
                <a:cs typeface="Arial" panose="020B0604020202020204" pitchFamily="34" charset="0"/>
              </a:rPr>
              <a:t>OpenWire, STOMP, WSS, and more:</a:t>
            </a:r>
            <a:r>
              <a:rPr lang="en-US" sz="1550" dirty="0">
                <a:solidFill>
                  <a:srgbClr val="E0E4E6"/>
                </a:solidFill>
                <a:latin typeface="Arial" panose="020B0604020202020204" pitchFamily="34" charset="0"/>
                <a:ea typeface="Barlow" pitchFamily="34" charset="-122"/>
                <a:cs typeface="Arial" panose="020B0604020202020204" pitchFamily="34" charset="0"/>
              </a:rPr>
              <a:t> Providing flexibility for various client applications.</a:t>
            </a:r>
            <a:endParaRPr lang="en-US" sz="1550" dirty="0">
              <a:latin typeface="Arial" panose="020B0604020202020204" pitchFamily="34" charset="0"/>
              <a:cs typeface="Arial" panose="020B0604020202020204" pitchFamily="34" charset="0"/>
            </a:endParaRPr>
          </a:p>
        </p:txBody>
      </p:sp>
      <p:sp>
        <p:nvSpPr>
          <p:cNvPr id="14" name="Rectangle 13">
            <a:extLst>
              <a:ext uri="{FF2B5EF4-FFF2-40B4-BE49-F238E27FC236}">
                <a16:creationId xmlns:a16="http://schemas.microsoft.com/office/drawing/2014/main" id="{48662286-7E70-CE5D-3D11-6AA3D7F76382}"/>
              </a:ext>
            </a:extLst>
          </p:cNvPr>
          <p:cNvSpPr/>
          <p:nvPr/>
        </p:nvSpPr>
        <p:spPr>
          <a:xfrm>
            <a:off x="12582525" y="7694414"/>
            <a:ext cx="2047875" cy="535186"/>
          </a:xfrm>
          <a:prstGeom prst="rect">
            <a:avLst/>
          </a:prstGeom>
          <a:solidFill>
            <a:srgbClr val="070614"/>
          </a:solidFill>
          <a:effectLst>
            <a:softEdge rad="63500"/>
          </a:effectLst>
        </p:spPr>
        <p:style>
          <a:lnRef idx="1">
            <a:schemeClr val="dk1"/>
          </a:lnRef>
          <a:fillRef idx="3">
            <a:schemeClr val="dk1"/>
          </a:fillRef>
          <a:effectRef idx="2">
            <a:schemeClr val="dk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IN"/>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817602" y="562094"/>
            <a:ext cx="7817763" cy="567690"/>
          </a:xfrm>
          <a:prstGeom prst="rect">
            <a:avLst/>
          </a:prstGeom>
          <a:noFill/>
          <a:ln/>
        </p:spPr>
        <p:txBody>
          <a:bodyPr wrap="none" lIns="0" tIns="0" rIns="0" bIns="0" rtlCol="0" anchor="t"/>
          <a:lstStyle/>
          <a:p>
            <a:pPr marL="0" indent="0" algn="l">
              <a:lnSpc>
                <a:spcPts val="4450"/>
              </a:lnSpc>
              <a:buNone/>
            </a:pPr>
            <a:r>
              <a:rPr lang="en-US" sz="3550" b="1" dirty="0">
                <a:solidFill>
                  <a:srgbClr val="F0FCFF"/>
                </a:solidFill>
                <a:latin typeface="Arial" panose="020B0604020202020204" pitchFamily="34" charset="0"/>
                <a:ea typeface="Spline Sans Bold" pitchFamily="34" charset="-122"/>
                <a:cs typeface="Arial" panose="020B0604020202020204" pitchFamily="34" charset="0"/>
              </a:rPr>
              <a:t>Amazon MQ: Key Benefits &amp; Features</a:t>
            </a:r>
            <a:endParaRPr lang="en-US" sz="3550" dirty="0">
              <a:latin typeface="Arial" panose="020B0604020202020204" pitchFamily="34" charset="0"/>
              <a:cs typeface="Arial" panose="020B0604020202020204" pitchFamily="34" charset="0"/>
            </a:endParaRPr>
          </a:p>
        </p:txBody>
      </p:sp>
      <p:sp>
        <p:nvSpPr>
          <p:cNvPr id="3" name="Text 1"/>
          <p:cNvSpPr/>
          <p:nvPr/>
        </p:nvSpPr>
        <p:spPr>
          <a:xfrm>
            <a:off x="817602" y="1640681"/>
            <a:ext cx="3416260" cy="283964"/>
          </a:xfrm>
          <a:prstGeom prst="rect">
            <a:avLst/>
          </a:prstGeom>
          <a:noFill/>
          <a:ln/>
        </p:spPr>
        <p:txBody>
          <a:bodyPr wrap="none" lIns="0" tIns="0" rIns="0" bIns="0" rtlCol="0" anchor="t"/>
          <a:lstStyle/>
          <a:p>
            <a:pPr marL="0" indent="0" algn="l">
              <a:lnSpc>
                <a:spcPts val="2200"/>
              </a:lnSpc>
              <a:buNone/>
            </a:pPr>
            <a:r>
              <a:rPr lang="en-US" sz="1750" b="1" dirty="0">
                <a:solidFill>
                  <a:srgbClr val="F0FCFF"/>
                </a:solidFill>
                <a:latin typeface="Arial" panose="020B0604020202020204" pitchFamily="34" charset="0"/>
                <a:ea typeface="Spline Sans Bold" pitchFamily="34" charset="-122"/>
                <a:cs typeface="Arial" panose="020B0604020202020204" pitchFamily="34" charset="0"/>
              </a:rPr>
              <a:t>Automated Broker Management</a:t>
            </a:r>
            <a:endParaRPr lang="en-US" sz="1750" dirty="0">
              <a:latin typeface="Arial" panose="020B0604020202020204" pitchFamily="34" charset="0"/>
              <a:cs typeface="Arial" panose="020B0604020202020204" pitchFamily="34" charset="0"/>
            </a:endParaRPr>
          </a:p>
        </p:txBody>
      </p:sp>
      <p:sp>
        <p:nvSpPr>
          <p:cNvPr id="4" name="Text 2"/>
          <p:cNvSpPr/>
          <p:nvPr/>
        </p:nvSpPr>
        <p:spPr>
          <a:xfrm>
            <a:off x="817602" y="2128957"/>
            <a:ext cx="6248281" cy="2289453"/>
          </a:xfrm>
          <a:prstGeom prst="rect">
            <a:avLst/>
          </a:prstGeom>
          <a:noFill/>
          <a:ln/>
        </p:spPr>
        <p:txBody>
          <a:bodyPr wrap="square" lIns="0" tIns="0" rIns="0" bIns="0" rtlCol="0" anchor="t"/>
          <a:lstStyle/>
          <a:p>
            <a:pPr marL="0" indent="0" algn="l">
              <a:lnSpc>
                <a:spcPts val="2550"/>
              </a:lnSpc>
              <a:buNone/>
            </a:pPr>
            <a:r>
              <a:rPr lang="en-US" sz="1600" dirty="0">
                <a:solidFill>
                  <a:srgbClr val="E0E4E6"/>
                </a:solidFill>
                <a:latin typeface="Arial" panose="020B0604020202020204" pitchFamily="34" charset="0"/>
                <a:ea typeface="Barlow" pitchFamily="34" charset="-122"/>
                <a:cs typeface="Arial" panose="020B0604020202020204" pitchFamily="34" charset="0"/>
              </a:rPr>
              <a:t>Amazon MQ handles routine broker management tasks such as provisioning, security updates, and daily backups. It also offers automated version upgrades, ensuring your brokers are always running on the latest stable software without manual intervention. Integration with Amazon CloudWatch provides comprehensive monitoring of broker metrics and logs, giving you deep visibility into performance and operational health.</a:t>
            </a:r>
            <a:endParaRPr lang="en-US" sz="1600" dirty="0">
              <a:latin typeface="Arial" panose="020B0604020202020204" pitchFamily="34" charset="0"/>
              <a:cs typeface="Arial" panose="020B0604020202020204" pitchFamily="34" charset="0"/>
            </a:endParaRPr>
          </a:p>
        </p:txBody>
      </p:sp>
      <p:sp>
        <p:nvSpPr>
          <p:cNvPr id="5" name="Text 3"/>
          <p:cNvSpPr/>
          <p:nvPr/>
        </p:nvSpPr>
        <p:spPr>
          <a:xfrm>
            <a:off x="7572137" y="1640681"/>
            <a:ext cx="3095149" cy="283964"/>
          </a:xfrm>
          <a:prstGeom prst="rect">
            <a:avLst/>
          </a:prstGeom>
          <a:noFill/>
          <a:ln/>
        </p:spPr>
        <p:txBody>
          <a:bodyPr wrap="none" lIns="0" tIns="0" rIns="0" bIns="0" rtlCol="0" anchor="t"/>
          <a:lstStyle/>
          <a:p>
            <a:pPr marL="0" indent="0" algn="l">
              <a:lnSpc>
                <a:spcPts val="2200"/>
              </a:lnSpc>
              <a:buNone/>
            </a:pPr>
            <a:r>
              <a:rPr lang="en-US" sz="1750" b="1" dirty="0">
                <a:solidFill>
                  <a:srgbClr val="F0FCFF"/>
                </a:solidFill>
                <a:latin typeface="Arial" panose="020B0604020202020204" pitchFamily="34" charset="0"/>
                <a:ea typeface="Spline Sans Bold" pitchFamily="34" charset="-122"/>
                <a:cs typeface="Arial" panose="020B0604020202020204" pitchFamily="34" charset="0"/>
              </a:rPr>
              <a:t>High Availability &amp; Resilience</a:t>
            </a:r>
            <a:endParaRPr lang="en-US" sz="1750" dirty="0">
              <a:latin typeface="Arial" panose="020B0604020202020204" pitchFamily="34" charset="0"/>
              <a:cs typeface="Arial" panose="020B0604020202020204" pitchFamily="34" charset="0"/>
            </a:endParaRPr>
          </a:p>
        </p:txBody>
      </p:sp>
      <p:sp>
        <p:nvSpPr>
          <p:cNvPr id="6" name="Text 4"/>
          <p:cNvSpPr/>
          <p:nvPr/>
        </p:nvSpPr>
        <p:spPr>
          <a:xfrm>
            <a:off x="7572137" y="2128957"/>
            <a:ext cx="6248281" cy="2289453"/>
          </a:xfrm>
          <a:prstGeom prst="rect">
            <a:avLst/>
          </a:prstGeom>
          <a:noFill/>
          <a:ln/>
        </p:spPr>
        <p:txBody>
          <a:bodyPr wrap="square" lIns="0" tIns="0" rIns="0" bIns="0" rtlCol="0" anchor="t"/>
          <a:lstStyle/>
          <a:p>
            <a:pPr marL="0" indent="0" algn="l">
              <a:lnSpc>
                <a:spcPts val="2550"/>
              </a:lnSpc>
              <a:buNone/>
            </a:pPr>
            <a:r>
              <a:rPr lang="en-US" sz="1600" dirty="0">
                <a:solidFill>
                  <a:srgbClr val="E0E4E6"/>
                </a:solidFill>
                <a:latin typeface="Arial" panose="020B0604020202020204" pitchFamily="34" charset="0"/>
                <a:ea typeface="Barlow" pitchFamily="34" charset="-122"/>
                <a:cs typeface="Arial" panose="020B0604020202020204" pitchFamily="34" charset="0"/>
              </a:rPr>
              <a:t>For critical workloads, Amazon MQ supports high availability deployments. You can configure brokers across multiple Availability Zones (Multi-AZ) within a region, providing automatic failover and data replication. Active/standby configurations for ActiveMQ and quorum-based clustering for RabbitMQ ensure continuous operation. Cross-region replication further enhances disaster recovery capabilities for ultimate resilience.</a:t>
            </a:r>
            <a:endParaRPr lang="en-US" sz="1600" dirty="0">
              <a:latin typeface="Arial" panose="020B0604020202020204" pitchFamily="34" charset="0"/>
              <a:cs typeface="Arial" panose="020B0604020202020204" pitchFamily="34" charset="0"/>
            </a:endParaRPr>
          </a:p>
        </p:txBody>
      </p:sp>
      <p:sp>
        <p:nvSpPr>
          <p:cNvPr id="7" name="Text 5"/>
          <p:cNvSpPr/>
          <p:nvPr/>
        </p:nvSpPr>
        <p:spPr>
          <a:xfrm>
            <a:off x="817602" y="5036582"/>
            <a:ext cx="2271117" cy="283964"/>
          </a:xfrm>
          <a:prstGeom prst="rect">
            <a:avLst/>
          </a:prstGeom>
          <a:noFill/>
          <a:ln/>
        </p:spPr>
        <p:txBody>
          <a:bodyPr wrap="none" lIns="0" tIns="0" rIns="0" bIns="0" rtlCol="0" anchor="t"/>
          <a:lstStyle/>
          <a:p>
            <a:pPr marL="0" indent="0" algn="l">
              <a:lnSpc>
                <a:spcPts val="2200"/>
              </a:lnSpc>
              <a:buNone/>
            </a:pPr>
            <a:r>
              <a:rPr lang="en-US" sz="1750" b="1" dirty="0">
                <a:solidFill>
                  <a:srgbClr val="F0FCFF"/>
                </a:solidFill>
                <a:latin typeface="Arial" panose="020B0604020202020204" pitchFamily="34" charset="0"/>
                <a:ea typeface="Spline Sans Bold" pitchFamily="34" charset="-122"/>
                <a:cs typeface="Arial" panose="020B0604020202020204" pitchFamily="34" charset="0"/>
              </a:rPr>
              <a:t>Enhanced Security</a:t>
            </a:r>
            <a:endParaRPr lang="en-US" sz="1750" dirty="0">
              <a:latin typeface="Arial" panose="020B0604020202020204" pitchFamily="34" charset="0"/>
              <a:cs typeface="Arial" panose="020B0604020202020204" pitchFamily="34" charset="0"/>
            </a:endParaRPr>
          </a:p>
        </p:txBody>
      </p:sp>
      <p:sp>
        <p:nvSpPr>
          <p:cNvPr id="8" name="Text 6"/>
          <p:cNvSpPr/>
          <p:nvPr/>
        </p:nvSpPr>
        <p:spPr>
          <a:xfrm>
            <a:off x="817602" y="5524857"/>
            <a:ext cx="6248281" cy="1962388"/>
          </a:xfrm>
          <a:prstGeom prst="rect">
            <a:avLst/>
          </a:prstGeom>
          <a:noFill/>
          <a:ln/>
        </p:spPr>
        <p:txBody>
          <a:bodyPr wrap="square" lIns="0" tIns="0" rIns="0" bIns="0" rtlCol="0" anchor="t"/>
          <a:lstStyle/>
          <a:p>
            <a:pPr marL="0" indent="0" algn="l">
              <a:lnSpc>
                <a:spcPts val="2550"/>
              </a:lnSpc>
              <a:buNone/>
            </a:pPr>
            <a:r>
              <a:rPr lang="en-US" sz="1600" dirty="0">
                <a:solidFill>
                  <a:srgbClr val="E0E4E6"/>
                </a:solidFill>
                <a:latin typeface="Arial" panose="020B0604020202020204" pitchFamily="34" charset="0"/>
                <a:ea typeface="Barlow" pitchFamily="34" charset="-122"/>
                <a:cs typeface="Arial" panose="020B0604020202020204" pitchFamily="34" charset="0"/>
              </a:rPr>
              <a:t>Security features include encryption for messages in transit (SSL/TLS) and at rest (KMS). Access to brokers can be controlled using AWS IAM policies, allowing fine-grained permissions. Furthermore, Amazon MQ brokers can be launched within your Amazon Virtual Private Cloud (VPC), providing private network connectivity and isolation from the public internet, enhancing data security and compliance.</a:t>
            </a:r>
            <a:endParaRPr lang="en-US" sz="1600" dirty="0">
              <a:latin typeface="Arial" panose="020B0604020202020204" pitchFamily="34" charset="0"/>
              <a:cs typeface="Arial" panose="020B0604020202020204" pitchFamily="34" charset="0"/>
            </a:endParaRPr>
          </a:p>
        </p:txBody>
      </p:sp>
      <p:sp>
        <p:nvSpPr>
          <p:cNvPr id="9" name="Text 7"/>
          <p:cNvSpPr/>
          <p:nvPr/>
        </p:nvSpPr>
        <p:spPr>
          <a:xfrm>
            <a:off x="7572137" y="5036582"/>
            <a:ext cx="5165169" cy="283964"/>
          </a:xfrm>
          <a:prstGeom prst="rect">
            <a:avLst/>
          </a:prstGeom>
          <a:noFill/>
          <a:ln/>
        </p:spPr>
        <p:txBody>
          <a:bodyPr wrap="none" lIns="0" tIns="0" rIns="0" bIns="0" rtlCol="0" anchor="t"/>
          <a:lstStyle/>
          <a:p>
            <a:pPr marL="0" indent="0" algn="l">
              <a:lnSpc>
                <a:spcPts val="2200"/>
              </a:lnSpc>
              <a:buNone/>
            </a:pPr>
            <a:r>
              <a:rPr lang="en-US" sz="1750" b="1" dirty="0">
                <a:solidFill>
                  <a:srgbClr val="F0FCFF"/>
                </a:solidFill>
                <a:latin typeface="Arial" panose="020B0604020202020204" pitchFamily="34" charset="0"/>
                <a:ea typeface="Spline Sans Bold" pitchFamily="34" charset="-122"/>
                <a:cs typeface="Arial" panose="020B0604020202020204" pitchFamily="34" charset="0"/>
              </a:rPr>
              <a:t>Advanced Messaging Patterns &amp; Legacy Support</a:t>
            </a:r>
            <a:endParaRPr lang="en-US" sz="1750" dirty="0">
              <a:latin typeface="Arial" panose="020B0604020202020204" pitchFamily="34" charset="0"/>
              <a:cs typeface="Arial" panose="020B0604020202020204" pitchFamily="34" charset="0"/>
            </a:endParaRPr>
          </a:p>
        </p:txBody>
      </p:sp>
      <p:sp>
        <p:nvSpPr>
          <p:cNvPr id="10" name="Text 8"/>
          <p:cNvSpPr/>
          <p:nvPr/>
        </p:nvSpPr>
        <p:spPr>
          <a:xfrm>
            <a:off x="7572137" y="5524857"/>
            <a:ext cx="6248281" cy="1962388"/>
          </a:xfrm>
          <a:prstGeom prst="rect">
            <a:avLst/>
          </a:prstGeom>
          <a:noFill/>
          <a:ln/>
        </p:spPr>
        <p:txBody>
          <a:bodyPr wrap="square" lIns="0" tIns="0" rIns="0" bIns="0" rtlCol="0" anchor="t"/>
          <a:lstStyle/>
          <a:p>
            <a:pPr marL="0" indent="0" algn="l">
              <a:lnSpc>
                <a:spcPts val="2550"/>
              </a:lnSpc>
              <a:buNone/>
            </a:pPr>
            <a:r>
              <a:rPr lang="en-US" sz="1600" dirty="0">
                <a:solidFill>
                  <a:srgbClr val="E0E4E6"/>
                </a:solidFill>
                <a:latin typeface="Arial" panose="020B0604020202020204" pitchFamily="34" charset="0"/>
                <a:ea typeface="Barlow" pitchFamily="34" charset="-122"/>
                <a:cs typeface="Arial" panose="020B0604020202020204" pitchFamily="34" charset="0"/>
              </a:rPr>
              <a:t>Amazon MQ excels in scenarios requiring advanced messaging patterns beyond simple queues, such as publish/subscribe (topics), message routing, and message filtering, which are inherent to ActiveMQ and RabbitMQ. Its compatibility with legacy protocols makes it the ideal choice for migrating existing enterprise applications without significant code rewrites, ensuring a smoother transition to the cloud.</a:t>
            </a:r>
            <a:endParaRPr lang="en-US" sz="1600" dirty="0">
              <a:latin typeface="Arial" panose="020B0604020202020204" pitchFamily="34" charset="0"/>
              <a:cs typeface="Arial" panose="020B0604020202020204" pitchFamily="34" charset="0"/>
            </a:endParaRPr>
          </a:p>
        </p:txBody>
      </p:sp>
      <p:sp>
        <p:nvSpPr>
          <p:cNvPr id="11" name="Rectangle 10">
            <a:extLst>
              <a:ext uri="{FF2B5EF4-FFF2-40B4-BE49-F238E27FC236}">
                <a16:creationId xmlns:a16="http://schemas.microsoft.com/office/drawing/2014/main" id="{0449EB16-FCD9-8D40-FE34-34C2B837C084}"/>
              </a:ext>
            </a:extLst>
          </p:cNvPr>
          <p:cNvSpPr/>
          <p:nvPr/>
        </p:nvSpPr>
        <p:spPr>
          <a:xfrm>
            <a:off x="12582525" y="7694414"/>
            <a:ext cx="2047875" cy="535186"/>
          </a:xfrm>
          <a:prstGeom prst="rect">
            <a:avLst/>
          </a:prstGeom>
          <a:solidFill>
            <a:srgbClr val="070614"/>
          </a:solidFill>
          <a:effectLst>
            <a:softEdge rad="63500"/>
          </a:effectLst>
        </p:spPr>
        <p:style>
          <a:lnRef idx="1">
            <a:schemeClr val="dk1"/>
          </a:lnRef>
          <a:fillRef idx="3">
            <a:schemeClr val="dk1"/>
          </a:fillRef>
          <a:effectRef idx="2">
            <a:schemeClr val="dk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IN"/>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721519" y="561975"/>
            <a:ext cx="6019086" cy="501015"/>
          </a:xfrm>
          <a:prstGeom prst="rect">
            <a:avLst/>
          </a:prstGeom>
          <a:noFill/>
          <a:ln/>
        </p:spPr>
        <p:txBody>
          <a:bodyPr wrap="none" lIns="0" tIns="0" rIns="0" bIns="0" rtlCol="0" anchor="t"/>
          <a:lstStyle/>
          <a:p>
            <a:pPr marL="0" indent="0" algn="l">
              <a:lnSpc>
                <a:spcPts val="3900"/>
              </a:lnSpc>
              <a:buNone/>
            </a:pPr>
            <a:r>
              <a:rPr lang="en-US" sz="3150" b="1" dirty="0">
                <a:solidFill>
                  <a:srgbClr val="F0FCFF"/>
                </a:solidFill>
                <a:latin typeface="Arial" panose="020B0604020202020204" pitchFamily="34" charset="0"/>
                <a:ea typeface="Spline Sans Bold" pitchFamily="34" charset="-122"/>
                <a:cs typeface="Arial" panose="020B0604020202020204" pitchFamily="34" charset="0"/>
              </a:rPr>
              <a:t>SQS vs MQ: When to Use Which?</a:t>
            </a:r>
            <a:endParaRPr lang="en-US" sz="3150" dirty="0">
              <a:latin typeface="Arial" panose="020B0604020202020204" pitchFamily="34" charset="0"/>
              <a:cs typeface="Arial" panose="020B0604020202020204" pitchFamily="34" charset="0"/>
            </a:endParaRPr>
          </a:p>
        </p:txBody>
      </p:sp>
      <p:sp>
        <p:nvSpPr>
          <p:cNvPr id="3" name="Text 1"/>
          <p:cNvSpPr/>
          <p:nvPr/>
        </p:nvSpPr>
        <p:spPr>
          <a:xfrm>
            <a:off x="716637" y="1220867"/>
            <a:ext cx="13187363" cy="577215"/>
          </a:xfrm>
          <a:prstGeom prst="rect">
            <a:avLst/>
          </a:prstGeom>
          <a:noFill/>
          <a:ln/>
        </p:spPr>
        <p:txBody>
          <a:bodyPr wrap="square" lIns="0" tIns="0" rIns="0" bIns="0" rtlCol="0" anchor="t"/>
          <a:lstStyle/>
          <a:p>
            <a:pPr marL="0" indent="0" algn="l">
              <a:lnSpc>
                <a:spcPts val="2250"/>
              </a:lnSpc>
              <a:buNone/>
            </a:pPr>
            <a:r>
              <a:rPr lang="en-US" sz="1400" dirty="0">
                <a:solidFill>
                  <a:srgbClr val="E0E4E6"/>
                </a:solidFill>
                <a:latin typeface="Arial" panose="020B0604020202020204" pitchFamily="34" charset="0"/>
                <a:ea typeface="Barlow" pitchFamily="34" charset="-122"/>
                <a:cs typeface="Arial" panose="020B0604020202020204" pitchFamily="34" charset="0"/>
              </a:rPr>
              <a:t>Choosing between Amazon SQS and Amazon MQ depends heavily on your specific application requirements, existing infrastructure, and desired operational model. Both services aim to facilitate decoupling but approach the problem from different angles.</a:t>
            </a:r>
            <a:endParaRPr lang="en-US" sz="1400" dirty="0">
              <a:latin typeface="Arial" panose="020B0604020202020204" pitchFamily="34" charset="0"/>
              <a:cs typeface="Arial" panose="020B0604020202020204" pitchFamily="34" charset="0"/>
            </a:endParaRPr>
          </a:p>
        </p:txBody>
      </p:sp>
      <p:sp>
        <p:nvSpPr>
          <p:cNvPr id="4" name="Shape 2"/>
          <p:cNvSpPr/>
          <p:nvPr/>
        </p:nvSpPr>
        <p:spPr>
          <a:xfrm>
            <a:off x="716637" y="2000965"/>
            <a:ext cx="6503432" cy="5463778"/>
          </a:xfrm>
          <a:prstGeom prst="roundRect">
            <a:avLst>
              <a:gd name="adj" fmla="val 4952"/>
            </a:avLst>
          </a:prstGeom>
          <a:solidFill>
            <a:srgbClr val="0A081B">
              <a:alpha val="75000"/>
            </a:srgbClr>
          </a:solidFill>
          <a:ln w="22860">
            <a:solidFill>
              <a:srgbClr val="16FFBB"/>
            </a:solidFill>
            <a:prstDash val="solid"/>
          </a:ln>
        </p:spPr>
      </p:sp>
      <p:pic>
        <p:nvPicPr>
          <p:cNvPr id="5" name="Image 0" descr="preencoded.png"/>
          <p:cNvPicPr>
            <a:picLocks noChangeAspect="1"/>
          </p:cNvPicPr>
          <p:nvPr/>
        </p:nvPicPr>
        <p:blipFill>
          <a:blip r:embed="rId3"/>
          <a:stretch>
            <a:fillRect/>
          </a:stretch>
        </p:blipFill>
        <p:spPr>
          <a:xfrm>
            <a:off x="631269" y="1915597"/>
            <a:ext cx="216456" cy="216456"/>
          </a:xfrm>
          <a:prstGeom prst="rect">
            <a:avLst/>
          </a:prstGeom>
        </p:spPr>
      </p:pic>
      <p:pic>
        <p:nvPicPr>
          <p:cNvPr id="6" name="Image 1" descr="preencoded.png"/>
          <p:cNvPicPr>
            <a:picLocks noChangeAspect="1"/>
          </p:cNvPicPr>
          <p:nvPr/>
        </p:nvPicPr>
        <p:blipFill>
          <a:blip r:embed="rId3"/>
          <a:stretch>
            <a:fillRect/>
          </a:stretch>
        </p:blipFill>
        <p:spPr>
          <a:xfrm>
            <a:off x="7141729" y="7369373"/>
            <a:ext cx="306585" cy="306585"/>
          </a:xfrm>
          <a:prstGeom prst="rect">
            <a:avLst/>
          </a:prstGeom>
        </p:spPr>
      </p:pic>
      <p:sp>
        <p:nvSpPr>
          <p:cNvPr id="7" name="Text 3"/>
          <p:cNvSpPr/>
          <p:nvPr/>
        </p:nvSpPr>
        <p:spPr>
          <a:xfrm>
            <a:off x="1010007" y="2294335"/>
            <a:ext cx="2004179" cy="250388"/>
          </a:xfrm>
          <a:prstGeom prst="rect">
            <a:avLst/>
          </a:prstGeom>
          <a:noFill/>
          <a:ln/>
        </p:spPr>
        <p:txBody>
          <a:bodyPr wrap="none" lIns="0" tIns="0" rIns="0" bIns="0" rtlCol="0" anchor="t"/>
          <a:lstStyle/>
          <a:p>
            <a:pPr marL="0" indent="0" algn="l">
              <a:lnSpc>
                <a:spcPts val="1950"/>
              </a:lnSpc>
              <a:buNone/>
            </a:pPr>
            <a:r>
              <a:rPr lang="en-US" sz="1550" b="1" dirty="0">
                <a:solidFill>
                  <a:srgbClr val="E0E4E6"/>
                </a:solidFill>
                <a:latin typeface="Arial" panose="020B0604020202020204" pitchFamily="34" charset="0"/>
                <a:ea typeface="Spline Sans Bold" pitchFamily="34" charset="-122"/>
                <a:cs typeface="Arial" panose="020B0604020202020204" pitchFamily="34" charset="0"/>
              </a:rPr>
              <a:t>Use Amazon SQS For:</a:t>
            </a:r>
            <a:endParaRPr lang="en-US" sz="1550" dirty="0">
              <a:latin typeface="Arial" panose="020B0604020202020204" pitchFamily="34" charset="0"/>
              <a:cs typeface="Arial" panose="020B0604020202020204" pitchFamily="34" charset="0"/>
            </a:endParaRPr>
          </a:p>
        </p:txBody>
      </p:sp>
      <p:sp>
        <p:nvSpPr>
          <p:cNvPr id="8" name="Text 4"/>
          <p:cNvSpPr/>
          <p:nvPr/>
        </p:nvSpPr>
        <p:spPr>
          <a:xfrm>
            <a:off x="1010007" y="2652951"/>
            <a:ext cx="5916692" cy="1154430"/>
          </a:xfrm>
          <a:prstGeom prst="rect">
            <a:avLst/>
          </a:prstGeom>
          <a:noFill/>
          <a:ln/>
        </p:spPr>
        <p:txBody>
          <a:bodyPr wrap="square" lIns="0" tIns="0" rIns="0" bIns="0" rtlCol="0" anchor="t"/>
          <a:lstStyle/>
          <a:p>
            <a:pPr marL="342900" indent="-342900" algn="l">
              <a:lnSpc>
                <a:spcPts val="2250"/>
              </a:lnSpc>
              <a:buSzPct val="100000"/>
              <a:buChar char="•"/>
            </a:pPr>
            <a:r>
              <a:rPr lang="en-US" sz="1400" b="1" dirty="0">
                <a:solidFill>
                  <a:srgbClr val="E0E4E6"/>
                </a:solidFill>
                <a:latin typeface="Arial" panose="020B0604020202020204" pitchFamily="34" charset="0"/>
                <a:ea typeface="Barlow" pitchFamily="34" charset="-122"/>
                <a:cs typeface="Arial" panose="020B0604020202020204" pitchFamily="34" charset="0"/>
              </a:rPr>
              <a:t>New Cloud-Native Applications:</a:t>
            </a:r>
            <a:r>
              <a:rPr lang="en-US" sz="1400" dirty="0">
                <a:solidFill>
                  <a:srgbClr val="E0E4E6"/>
                </a:solidFill>
                <a:latin typeface="Arial" panose="020B0604020202020204" pitchFamily="34" charset="0"/>
                <a:ea typeface="Barlow" pitchFamily="34" charset="-122"/>
                <a:cs typeface="Arial" panose="020B0604020202020204" pitchFamily="34" charset="0"/>
              </a:rPr>
              <a:t> When building new applications from scratch on AWS, especially those adopting microservices or serverless architectures. SQS's simplicity and direct integration with Lambda make it a natural fit.</a:t>
            </a:r>
            <a:endParaRPr lang="en-US" sz="1400" dirty="0">
              <a:latin typeface="Arial" panose="020B0604020202020204" pitchFamily="34" charset="0"/>
              <a:cs typeface="Arial" panose="020B0604020202020204" pitchFamily="34" charset="0"/>
            </a:endParaRPr>
          </a:p>
        </p:txBody>
      </p:sp>
      <p:sp>
        <p:nvSpPr>
          <p:cNvPr id="9" name="Text 5"/>
          <p:cNvSpPr/>
          <p:nvPr/>
        </p:nvSpPr>
        <p:spPr>
          <a:xfrm>
            <a:off x="1010007" y="3870484"/>
            <a:ext cx="5916692" cy="865823"/>
          </a:xfrm>
          <a:prstGeom prst="rect">
            <a:avLst/>
          </a:prstGeom>
          <a:noFill/>
          <a:ln/>
        </p:spPr>
        <p:txBody>
          <a:bodyPr wrap="square" lIns="0" tIns="0" rIns="0" bIns="0" rtlCol="0" anchor="t"/>
          <a:lstStyle/>
          <a:p>
            <a:pPr marL="342900" indent="-342900" algn="l">
              <a:lnSpc>
                <a:spcPts val="2250"/>
              </a:lnSpc>
              <a:buSzPct val="100000"/>
              <a:buChar char="•"/>
            </a:pPr>
            <a:r>
              <a:rPr lang="en-US" sz="1400" b="1" dirty="0">
                <a:solidFill>
                  <a:srgbClr val="E0E4E6"/>
                </a:solidFill>
                <a:latin typeface="Arial" panose="020B0604020202020204" pitchFamily="34" charset="0"/>
                <a:ea typeface="Barlow" pitchFamily="34" charset="-122"/>
                <a:cs typeface="Arial" panose="020B0604020202020204" pitchFamily="34" charset="0"/>
              </a:rPr>
              <a:t>Simple, Scalable Queues:</a:t>
            </a:r>
            <a:r>
              <a:rPr lang="en-US" sz="1400" dirty="0">
                <a:solidFill>
                  <a:srgbClr val="E0E4E6"/>
                </a:solidFill>
                <a:latin typeface="Arial" panose="020B0604020202020204" pitchFamily="34" charset="0"/>
                <a:ea typeface="Barlow" pitchFamily="34" charset="-122"/>
                <a:cs typeface="Arial" panose="020B0604020202020204" pitchFamily="34" charset="0"/>
              </a:rPr>
              <a:t> If your primary need is a highly scalable, reliable queue that can handle massive throughput without the complexities of managing a full-fledged message broker.</a:t>
            </a:r>
            <a:endParaRPr lang="en-US" sz="1400" dirty="0">
              <a:latin typeface="Arial" panose="020B0604020202020204" pitchFamily="34" charset="0"/>
              <a:cs typeface="Arial" panose="020B0604020202020204" pitchFamily="34" charset="0"/>
            </a:endParaRPr>
          </a:p>
        </p:txBody>
      </p:sp>
      <p:sp>
        <p:nvSpPr>
          <p:cNvPr id="10" name="Text 6"/>
          <p:cNvSpPr/>
          <p:nvPr/>
        </p:nvSpPr>
        <p:spPr>
          <a:xfrm>
            <a:off x="1010007" y="4799410"/>
            <a:ext cx="5916692" cy="865823"/>
          </a:xfrm>
          <a:prstGeom prst="rect">
            <a:avLst/>
          </a:prstGeom>
          <a:noFill/>
          <a:ln/>
        </p:spPr>
        <p:txBody>
          <a:bodyPr wrap="square" lIns="0" tIns="0" rIns="0" bIns="0" rtlCol="0" anchor="t"/>
          <a:lstStyle/>
          <a:p>
            <a:pPr marL="342900" indent="-342900" algn="l">
              <a:lnSpc>
                <a:spcPts val="2250"/>
              </a:lnSpc>
              <a:buSzPct val="100000"/>
              <a:buChar char="•"/>
            </a:pPr>
            <a:r>
              <a:rPr lang="en-US" sz="1400" b="1" dirty="0">
                <a:solidFill>
                  <a:srgbClr val="E0E4E6"/>
                </a:solidFill>
                <a:latin typeface="Arial" panose="020B0604020202020204" pitchFamily="34" charset="0"/>
                <a:ea typeface="Barlow" pitchFamily="34" charset="-122"/>
                <a:cs typeface="Arial" panose="020B0604020202020204" pitchFamily="34" charset="0"/>
              </a:rPr>
              <a:t>Serverless Integration:</a:t>
            </a:r>
            <a:r>
              <a:rPr lang="en-US" sz="1400" dirty="0">
                <a:solidFill>
                  <a:srgbClr val="E0E4E6"/>
                </a:solidFill>
                <a:latin typeface="Arial" panose="020B0604020202020204" pitchFamily="34" charset="0"/>
                <a:ea typeface="Barlow" pitchFamily="34" charset="-122"/>
                <a:cs typeface="Arial" panose="020B0604020202020204" pitchFamily="34" charset="0"/>
              </a:rPr>
              <a:t> SQS is the preferred choice for serverless workflows, where messages trigger AWS Lambda functions, as it's designed to seamlessly integrate with the serverless ecosystem.</a:t>
            </a:r>
            <a:endParaRPr lang="en-US" sz="1400" dirty="0">
              <a:latin typeface="Arial" panose="020B0604020202020204" pitchFamily="34" charset="0"/>
              <a:cs typeface="Arial" panose="020B0604020202020204" pitchFamily="34" charset="0"/>
            </a:endParaRPr>
          </a:p>
        </p:txBody>
      </p:sp>
      <p:sp>
        <p:nvSpPr>
          <p:cNvPr id="11" name="Text 7"/>
          <p:cNvSpPr/>
          <p:nvPr/>
        </p:nvSpPr>
        <p:spPr>
          <a:xfrm>
            <a:off x="1010007" y="5728335"/>
            <a:ext cx="5916692" cy="577215"/>
          </a:xfrm>
          <a:prstGeom prst="rect">
            <a:avLst/>
          </a:prstGeom>
          <a:noFill/>
          <a:ln/>
        </p:spPr>
        <p:txBody>
          <a:bodyPr wrap="square" lIns="0" tIns="0" rIns="0" bIns="0" rtlCol="0" anchor="t"/>
          <a:lstStyle/>
          <a:p>
            <a:pPr marL="342900" indent="-342900" algn="l">
              <a:lnSpc>
                <a:spcPts val="2250"/>
              </a:lnSpc>
              <a:buSzPct val="100000"/>
              <a:buChar char="•"/>
            </a:pPr>
            <a:r>
              <a:rPr lang="en-US" sz="1400" b="1" dirty="0">
                <a:solidFill>
                  <a:srgbClr val="E0E4E6"/>
                </a:solidFill>
                <a:latin typeface="Arial" panose="020B0604020202020204" pitchFamily="34" charset="0"/>
                <a:ea typeface="Barlow" pitchFamily="34" charset="-122"/>
                <a:cs typeface="Arial" panose="020B0604020202020204" pitchFamily="34" charset="0"/>
              </a:rPr>
              <a:t>Cost Efficiency:</a:t>
            </a:r>
            <a:r>
              <a:rPr lang="en-US" sz="1400" dirty="0">
                <a:solidFill>
                  <a:srgbClr val="E0E4E6"/>
                </a:solidFill>
                <a:latin typeface="Arial" panose="020B0604020202020204" pitchFamily="34" charset="0"/>
                <a:ea typeface="Barlow" pitchFamily="34" charset="-122"/>
                <a:cs typeface="Arial" panose="020B0604020202020204" pitchFamily="34" charset="0"/>
              </a:rPr>
              <a:t> Its pay-per-message model makes it extremely cost-effective for variable workloads or large-scale, asynchronous tasks.</a:t>
            </a:r>
            <a:endParaRPr lang="en-US" sz="1400" dirty="0">
              <a:latin typeface="Arial" panose="020B0604020202020204" pitchFamily="34" charset="0"/>
              <a:cs typeface="Arial" panose="020B0604020202020204" pitchFamily="34" charset="0"/>
            </a:endParaRPr>
          </a:p>
        </p:txBody>
      </p:sp>
      <p:sp>
        <p:nvSpPr>
          <p:cNvPr id="12" name="Shape 8"/>
          <p:cNvSpPr/>
          <p:nvPr/>
        </p:nvSpPr>
        <p:spPr>
          <a:xfrm>
            <a:off x="7400448" y="2000965"/>
            <a:ext cx="6503551" cy="5463778"/>
          </a:xfrm>
          <a:prstGeom prst="roundRect">
            <a:avLst>
              <a:gd name="adj" fmla="val 4952"/>
            </a:avLst>
          </a:prstGeom>
          <a:solidFill>
            <a:srgbClr val="0A081B">
              <a:alpha val="75000"/>
            </a:srgbClr>
          </a:solidFill>
          <a:ln w="22860">
            <a:solidFill>
              <a:srgbClr val="29DDDA"/>
            </a:solidFill>
            <a:prstDash val="solid"/>
          </a:ln>
        </p:spPr>
      </p:sp>
      <p:pic>
        <p:nvPicPr>
          <p:cNvPr id="13" name="Image 2" descr="preencoded.png"/>
          <p:cNvPicPr>
            <a:picLocks noChangeAspect="1"/>
          </p:cNvPicPr>
          <p:nvPr/>
        </p:nvPicPr>
        <p:blipFill>
          <a:blip r:embed="rId4"/>
          <a:stretch>
            <a:fillRect/>
          </a:stretch>
        </p:blipFill>
        <p:spPr>
          <a:xfrm>
            <a:off x="7315081" y="1915597"/>
            <a:ext cx="216456" cy="216456"/>
          </a:xfrm>
          <a:prstGeom prst="rect">
            <a:avLst/>
          </a:prstGeom>
        </p:spPr>
      </p:pic>
      <p:pic>
        <p:nvPicPr>
          <p:cNvPr id="14" name="Image 3" descr="preencoded.png"/>
          <p:cNvPicPr>
            <a:picLocks noChangeAspect="1"/>
          </p:cNvPicPr>
          <p:nvPr/>
        </p:nvPicPr>
        <p:blipFill>
          <a:blip r:embed="rId4"/>
          <a:stretch>
            <a:fillRect/>
          </a:stretch>
        </p:blipFill>
        <p:spPr>
          <a:xfrm>
            <a:off x="13805535" y="7428309"/>
            <a:ext cx="216456" cy="216456"/>
          </a:xfrm>
          <a:prstGeom prst="rect">
            <a:avLst/>
          </a:prstGeom>
        </p:spPr>
      </p:pic>
      <p:sp>
        <p:nvSpPr>
          <p:cNvPr id="15" name="Text 9"/>
          <p:cNvSpPr/>
          <p:nvPr/>
        </p:nvSpPr>
        <p:spPr>
          <a:xfrm>
            <a:off x="7693818" y="2294335"/>
            <a:ext cx="2004179" cy="250388"/>
          </a:xfrm>
          <a:prstGeom prst="rect">
            <a:avLst/>
          </a:prstGeom>
          <a:noFill/>
          <a:ln/>
        </p:spPr>
        <p:txBody>
          <a:bodyPr wrap="none" lIns="0" tIns="0" rIns="0" bIns="0" rtlCol="0" anchor="t"/>
          <a:lstStyle/>
          <a:p>
            <a:pPr marL="0" indent="0" algn="l">
              <a:lnSpc>
                <a:spcPts val="1950"/>
              </a:lnSpc>
              <a:buNone/>
            </a:pPr>
            <a:r>
              <a:rPr lang="en-US" sz="1550" b="1" dirty="0">
                <a:solidFill>
                  <a:srgbClr val="E0E4E6"/>
                </a:solidFill>
                <a:latin typeface="Arial" panose="020B0604020202020204" pitchFamily="34" charset="0"/>
                <a:ea typeface="Spline Sans Bold" pitchFamily="34" charset="-122"/>
                <a:cs typeface="Arial" panose="020B0604020202020204" pitchFamily="34" charset="0"/>
              </a:rPr>
              <a:t>Use Amazon MQ For:</a:t>
            </a:r>
            <a:endParaRPr lang="en-US" sz="1550" dirty="0">
              <a:latin typeface="Arial" panose="020B0604020202020204" pitchFamily="34" charset="0"/>
              <a:cs typeface="Arial" panose="020B0604020202020204" pitchFamily="34" charset="0"/>
            </a:endParaRPr>
          </a:p>
        </p:txBody>
      </p:sp>
      <p:sp>
        <p:nvSpPr>
          <p:cNvPr id="16" name="Text 10"/>
          <p:cNvSpPr/>
          <p:nvPr/>
        </p:nvSpPr>
        <p:spPr>
          <a:xfrm>
            <a:off x="7693818" y="2652951"/>
            <a:ext cx="5916811" cy="1154430"/>
          </a:xfrm>
          <a:prstGeom prst="rect">
            <a:avLst/>
          </a:prstGeom>
          <a:noFill/>
          <a:ln/>
        </p:spPr>
        <p:txBody>
          <a:bodyPr wrap="square" lIns="0" tIns="0" rIns="0" bIns="0" rtlCol="0" anchor="t"/>
          <a:lstStyle/>
          <a:p>
            <a:pPr marL="342900" indent="-342900" algn="l">
              <a:lnSpc>
                <a:spcPts val="2250"/>
              </a:lnSpc>
              <a:buSzPct val="100000"/>
              <a:buChar char="•"/>
            </a:pPr>
            <a:r>
              <a:rPr lang="en-US" sz="1400" b="1" dirty="0">
                <a:solidFill>
                  <a:srgbClr val="E0E4E6"/>
                </a:solidFill>
                <a:latin typeface="Arial" panose="020B0604020202020204" pitchFamily="34" charset="0"/>
                <a:ea typeface="Barlow" pitchFamily="34" charset="-122"/>
                <a:cs typeface="Arial" panose="020B0604020202020204" pitchFamily="34" charset="0"/>
              </a:rPr>
              <a:t>Migrating Legacy Applications:</a:t>
            </a:r>
            <a:r>
              <a:rPr lang="en-US" sz="1400" dirty="0">
                <a:solidFill>
                  <a:srgbClr val="E0E4E6"/>
                </a:solidFill>
                <a:latin typeface="Arial" panose="020B0604020202020204" pitchFamily="34" charset="0"/>
                <a:ea typeface="Barlow" pitchFamily="34" charset="-122"/>
                <a:cs typeface="Arial" panose="020B0604020202020204" pitchFamily="34" charset="0"/>
              </a:rPr>
              <a:t> When you have existing applications built on Apache ActiveMQ Classic or RabbitMQ that you want to move to the cloud with minimal code changes. Amazon MQ supports the same open-standard APIs and protocols.</a:t>
            </a:r>
            <a:endParaRPr lang="en-US" sz="1400" dirty="0">
              <a:latin typeface="Arial" panose="020B0604020202020204" pitchFamily="34" charset="0"/>
              <a:cs typeface="Arial" panose="020B0604020202020204" pitchFamily="34" charset="0"/>
            </a:endParaRPr>
          </a:p>
        </p:txBody>
      </p:sp>
      <p:sp>
        <p:nvSpPr>
          <p:cNvPr id="17" name="Text 11"/>
          <p:cNvSpPr/>
          <p:nvPr/>
        </p:nvSpPr>
        <p:spPr>
          <a:xfrm>
            <a:off x="7693818" y="3870484"/>
            <a:ext cx="5916811" cy="1154430"/>
          </a:xfrm>
          <a:prstGeom prst="rect">
            <a:avLst/>
          </a:prstGeom>
          <a:noFill/>
          <a:ln/>
        </p:spPr>
        <p:txBody>
          <a:bodyPr wrap="square" lIns="0" tIns="0" rIns="0" bIns="0" rtlCol="0" anchor="t"/>
          <a:lstStyle/>
          <a:p>
            <a:pPr marL="342900" indent="-342900" algn="l">
              <a:lnSpc>
                <a:spcPts val="2250"/>
              </a:lnSpc>
              <a:buSzPct val="100000"/>
              <a:buChar char="•"/>
            </a:pPr>
            <a:r>
              <a:rPr lang="en-US" sz="1400" b="1" dirty="0">
                <a:solidFill>
                  <a:srgbClr val="E0E4E6"/>
                </a:solidFill>
                <a:latin typeface="Arial" panose="020B0604020202020204" pitchFamily="34" charset="0"/>
                <a:ea typeface="Barlow" pitchFamily="34" charset="-122"/>
                <a:cs typeface="Arial" panose="020B0604020202020204" pitchFamily="34" charset="0"/>
              </a:rPr>
              <a:t>Requiring Advanced Broker Features:</a:t>
            </a:r>
            <a:r>
              <a:rPr lang="en-US" sz="1400" dirty="0">
                <a:solidFill>
                  <a:srgbClr val="E0E4E6"/>
                </a:solidFill>
                <a:latin typeface="Arial" panose="020B0604020202020204" pitchFamily="34" charset="0"/>
                <a:ea typeface="Barlow" pitchFamily="34" charset="-122"/>
                <a:cs typeface="Arial" panose="020B0604020202020204" pitchFamily="34" charset="0"/>
              </a:rPr>
              <a:t> If your application requires complex messaging patterns like publish/subscribe topics, message routing, message filtering, or request-response paradigms that are inherent to traditional message brokers.</a:t>
            </a:r>
            <a:endParaRPr lang="en-US" sz="1400" dirty="0">
              <a:latin typeface="Arial" panose="020B0604020202020204" pitchFamily="34" charset="0"/>
              <a:cs typeface="Arial" panose="020B0604020202020204" pitchFamily="34" charset="0"/>
            </a:endParaRPr>
          </a:p>
        </p:txBody>
      </p:sp>
      <p:sp>
        <p:nvSpPr>
          <p:cNvPr id="18" name="Text 12"/>
          <p:cNvSpPr/>
          <p:nvPr/>
        </p:nvSpPr>
        <p:spPr>
          <a:xfrm>
            <a:off x="7693818" y="5088017"/>
            <a:ext cx="5916811" cy="865823"/>
          </a:xfrm>
          <a:prstGeom prst="rect">
            <a:avLst/>
          </a:prstGeom>
          <a:noFill/>
          <a:ln/>
        </p:spPr>
        <p:txBody>
          <a:bodyPr wrap="square" lIns="0" tIns="0" rIns="0" bIns="0" rtlCol="0" anchor="t"/>
          <a:lstStyle/>
          <a:p>
            <a:pPr marL="342900" indent="-342900" algn="l">
              <a:lnSpc>
                <a:spcPts val="2250"/>
              </a:lnSpc>
              <a:buSzPct val="100000"/>
              <a:buChar char="•"/>
            </a:pPr>
            <a:r>
              <a:rPr lang="en-US" sz="1400" b="1" dirty="0">
                <a:solidFill>
                  <a:srgbClr val="E0E4E6"/>
                </a:solidFill>
                <a:latin typeface="Arial" panose="020B0604020202020204" pitchFamily="34" charset="0"/>
                <a:ea typeface="Barlow" pitchFamily="34" charset="-122"/>
                <a:cs typeface="Arial" panose="020B0604020202020204" pitchFamily="34" charset="0"/>
              </a:rPr>
              <a:t>Protocol Compatibility:</a:t>
            </a:r>
            <a:r>
              <a:rPr lang="en-US" sz="1400" dirty="0">
                <a:solidFill>
                  <a:srgbClr val="E0E4E6"/>
                </a:solidFill>
                <a:latin typeface="Arial" panose="020B0604020202020204" pitchFamily="34" charset="0"/>
                <a:ea typeface="Barlow" pitchFamily="34" charset="-122"/>
                <a:cs typeface="Arial" panose="020B0604020202020204" pitchFamily="34" charset="0"/>
              </a:rPr>
              <a:t> If your application or existing third-party systems depend on specific protocols like AMQP, MQTT, JMS, or STOMP that SQS does not natively support.</a:t>
            </a:r>
            <a:endParaRPr lang="en-US" sz="1400" dirty="0">
              <a:latin typeface="Arial" panose="020B0604020202020204" pitchFamily="34" charset="0"/>
              <a:cs typeface="Arial" panose="020B0604020202020204" pitchFamily="34" charset="0"/>
            </a:endParaRPr>
          </a:p>
        </p:txBody>
      </p:sp>
      <p:sp>
        <p:nvSpPr>
          <p:cNvPr id="19" name="Text 13"/>
          <p:cNvSpPr/>
          <p:nvPr/>
        </p:nvSpPr>
        <p:spPr>
          <a:xfrm>
            <a:off x="7693818" y="6016943"/>
            <a:ext cx="5916811" cy="1154430"/>
          </a:xfrm>
          <a:prstGeom prst="rect">
            <a:avLst/>
          </a:prstGeom>
          <a:noFill/>
          <a:ln/>
        </p:spPr>
        <p:txBody>
          <a:bodyPr wrap="square" lIns="0" tIns="0" rIns="0" bIns="0" rtlCol="0" anchor="t"/>
          <a:lstStyle/>
          <a:p>
            <a:pPr marL="342900" indent="-342900" algn="l">
              <a:lnSpc>
                <a:spcPts val="2250"/>
              </a:lnSpc>
              <a:buSzPct val="100000"/>
              <a:buChar char="•"/>
            </a:pPr>
            <a:r>
              <a:rPr lang="en-US" sz="1400" b="1" dirty="0">
                <a:solidFill>
                  <a:srgbClr val="E0E4E6"/>
                </a:solidFill>
                <a:latin typeface="Arial" panose="020B0604020202020204" pitchFamily="34" charset="0"/>
                <a:ea typeface="Barlow" pitchFamily="34" charset="-122"/>
                <a:cs typeface="Arial" panose="020B0604020202020204" pitchFamily="34" charset="0"/>
              </a:rPr>
              <a:t>Enterprise Standard Consistency:</a:t>
            </a:r>
            <a:r>
              <a:rPr lang="en-US" sz="1400" dirty="0">
                <a:solidFill>
                  <a:srgbClr val="E0E4E6"/>
                </a:solidFill>
                <a:latin typeface="Arial" panose="020B0604020202020204" pitchFamily="34" charset="0"/>
                <a:ea typeface="Barlow" pitchFamily="34" charset="-122"/>
                <a:cs typeface="Arial" panose="020B0604020202020204" pitchFamily="34" charset="0"/>
              </a:rPr>
              <a:t> For organizations that have standardized on ActiveMQ or RabbitMQ across their enterprise and want to maintain operational consistency across on-premises and cloud environments.</a:t>
            </a:r>
            <a:endParaRPr lang="en-US" sz="1400" dirty="0">
              <a:latin typeface="Arial" panose="020B0604020202020204" pitchFamily="34" charset="0"/>
              <a:cs typeface="Arial" panose="020B0604020202020204" pitchFamily="34" charset="0"/>
            </a:endParaRPr>
          </a:p>
        </p:txBody>
      </p:sp>
      <p:sp>
        <p:nvSpPr>
          <p:cNvPr id="20" name="Rectangle 19">
            <a:extLst>
              <a:ext uri="{FF2B5EF4-FFF2-40B4-BE49-F238E27FC236}">
                <a16:creationId xmlns:a16="http://schemas.microsoft.com/office/drawing/2014/main" id="{E9D64971-9FF8-B82D-053D-5FBA62A35C87}"/>
              </a:ext>
            </a:extLst>
          </p:cNvPr>
          <p:cNvSpPr/>
          <p:nvPr/>
        </p:nvSpPr>
        <p:spPr>
          <a:xfrm>
            <a:off x="12582525" y="7694414"/>
            <a:ext cx="2047875" cy="535186"/>
          </a:xfrm>
          <a:prstGeom prst="rect">
            <a:avLst/>
          </a:prstGeom>
          <a:solidFill>
            <a:srgbClr val="070614"/>
          </a:solidFill>
          <a:effectLst>
            <a:softEdge rad="63500"/>
          </a:effectLst>
        </p:spPr>
        <p:style>
          <a:lnRef idx="1">
            <a:schemeClr val="dk1"/>
          </a:lnRef>
          <a:fillRef idx="3">
            <a:schemeClr val="dk1"/>
          </a:fillRef>
          <a:effectRef idx="2">
            <a:schemeClr val="dk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IN"/>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703540" y="483632"/>
            <a:ext cx="5836444" cy="488513"/>
          </a:xfrm>
          <a:prstGeom prst="rect">
            <a:avLst/>
          </a:prstGeom>
          <a:noFill/>
          <a:ln/>
        </p:spPr>
        <p:txBody>
          <a:bodyPr wrap="none" lIns="0" tIns="0" rIns="0" bIns="0" rtlCol="0" anchor="t"/>
          <a:lstStyle/>
          <a:p>
            <a:pPr marL="0" indent="0" algn="l">
              <a:lnSpc>
                <a:spcPts val="3800"/>
              </a:lnSpc>
              <a:buNone/>
            </a:pPr>
            <a:r>
              <a:rPr lang="en-US" sz="3050" b="1" dirty="0">
                <a:solidFill>
                  <a:srgbClr val="F0FCFF"/>
                </a:solidFill>
                <a:latin typeface="Arial" panose="020B0604020202020204" pitchFamily="34" charset="0"/>
                <a:ea typeface="Spline Sans Bold" pitchFamily="34" charset="-122"/>
                <a:cs typeface="Arial" panose="020B0604020202020204" pitchFamily="34" charset="0"/>
              </a:rPr>
              <a:t>Real-World Integration Example</a:t>
            </a:r>
            <a:endParaRPr lang="en-US" sz="3050" dirty="0">
              <a:latin typeface="Arial" panose="020B0604020202020204" pitchFamily="34" charset="0"/>
              <a:cs typeface="Arial" panose="020B0604020202020204" pitchFamily="34" charset="0"/>
            </a:endParaRPr>
          </a:p>
        </p:txBody>
      </p:sp>
      <p:sp>
        <p:nvSpPr>
          <p:cNvPr id="3" name="Text 1"/>
          <p:cNvSpPr/>
          <p:nvPr/>
        </p:nvSpPr>
        <p:spPr>
          <a:xfrm>
            <a:off x="703540" y="1323856"/>
            <a:ext cx="13223319" cy="844034"/>
          </a:xfrm>
          <a:prstGeom prst="rect">
            <a:avLst/>
          </a:prstGeom>
          <a:noFill/>
          <a:ln/>
        </p:spPr>
        <p:txBody>
          <a:bodyPr wrap="square" lIns="0" tIns="0" rIns="0" bIns="0" rtlCol="0" anchor="t"/>
          <a:lstStyle/>
          <a:p>
            <a:pPr marL="0" indent="0" algn="l">
              <a:lnSpc>
                <a:spcPts val="2200"/>
              </a:lnSpc>
              <a:buNone/>
            </a:pPr>
            <a:r>
              <a:rPr lang="en-US" sz="1350" dirty="0">
                <a:solidFill>
                  <a:srgbClr val="E0E4E6"/>
                </a:solidFill>
                <a:latin typeface="Arial" panose="020B0604020202020204" pitchFamily="34" charset="0"/>
                <a:ea typeface="Barlow" pitchFamily="34" charset="-122"/>
                <a:cs typeface="Arial" panose="020B0604020202020204" pitchFamily="34" charset="0"/>
              </a:rPr>
              <a:t>A common challenge for enterprises is integrating their existing on-premises systems with new cloud-based applications. Consider a scenario involving a large financial institution with mission-critical applications relying on on-premises IBM MQ, needing to integrate with a new fraud detection service hosted on AWS using modern serverless components.</a:t>
            </a:r>
            <a:endParaRPr lang="en-US" sz="1350" dirty="0">
              <a:latin typeface="Arial" panose="020B0604020202020204" pitchFamily="34" charset="0"/>
              <a:cs typeface="Arial" panose="020B0604020202020204" pitchFamily="34" charset="0"/>
            </a:endParaRPr>
          </a:p>
        </p:txBody>
      </p:sp>
      <p:sp>
        <p:nvSpPr>
          <p:cNvPr id="4" name="Text 2"/>
          <p:cNvSpPr/>
          <p:nvPr/>
        </p:nvSpPr>
        <p:spPr>
          <a:xfrm>
            <a:off x="967383" y="2563654"/>
            <a:ext cx="12959477" cy="844034"/>
          </a:xfrm>
          <a:prstGeom prst="rect">
            <a:avLst/>
          </a:prstGeom>
          <a:noFill/>
          <a:ln/>
        </p:spPr>
        <p:txBody>
          <a:bodyPr wrap="square" lIns="0" tIns="0" rIns="0" bIns="0" rtlCol="0" anchor="t"/>
          <a:lstStyle/>
          <a:p>
            <a:pPr marL="0" indent="0" algn="l">
              <a:lnSpc>
                <a:spcPts val="2200"/>
              </a:lnSpc>
              <a:buNone/>
            </a:pPr>
            <a:r>
              <a:rPr lang="en-US" sz="1350" b="1" dirty="0">
                <a:solidFill>
                  <a:srgbClr val="E0E4E6"/>
                </a:solidFill>
                <a:latin typeface="Arial" panose="020B0604020202020204" pitchFamily="34" charset="0"/>
                <a:ea typeface="Barlow" pitchFamily="34" charset="-122"/>
                <a:cs typeface="Arial" panose="020B0604020202020204" pitchFamily="34" charset="0"/>
              </a:rPr>
              <a:t>Bi-directional Bridge with Apache Camel:</a:t>
            </a:r>
            <a:r>
              <a:rPr lang="en-US" sz="1350" dirty="0">
                <a:solidFill>
                  <a:srgbClr val="E0E4E6"/>
                </a:solidFill>
                <a:latin typeface="Arial" panose="020B0604020202020204" pitchFamily="34" charset="0"/>
                <a:ea typeface="Barlow" pitchFamily="34" charset="-122"/>
                <a:cs typeface="Arial" panose="020B0604020202020204" pitchFamily="34" charset="0"/>
              </a:rPr>
              <a:t> To facilitate seamless communication, an Apache Camel-based integration layer can be deployed. Apache Camel is an open-source integration framework that allows you to integrate various systems using routing and mediation rules.</a:t>
            </a:r>
            <a:endParaRPr lang="en-US" sz="1350" dirty="0">
              <a:latin typeface="Arial" panose="020B0604020202020204" pitchFamily="34" charset="0"/>
              <a:cs typeface="Arial" panose="020B0604020202020204" pitchFamily="34" charset="0"/>
            </a:endParaRPr>
          </a:p>
        </p:txBody>
      </p:sp>
      <p:sp>
        <p:nvSpPr>
          <p:cNvPr id="5" name="Text 3"/>
          <p:cNvSpPr/>
          <p:nvPr/>
        </p:nvSpPr>
        <p:spPr>
          <a:xfrm>
            <a:off x="967383" y="3605570"/>
            <a:ext cx="12959477" cy="281345"/>
          </a:xfrm>
          <a:prstGeom prst="rect">
            <a:avLst/>
          </a:prstGeom>
          <a:noFill/>
          <a:ln/>
        </p:spPr>
        <p:txBody>
          <a:bodyPr wrap="none" lIns="0" tIns="0" rIns="0" bIns="0" rtlCol="0" anchor="t"/>
          <a:lstStyle/>
          <a:p>
            <a:pPr marL="342900" indent="-342900" algn="l">
              <a:lnSpc>
                <a:spcPts val="2200"/>
              </a:lnSpc>
              <a:buSzPct val="100000"/>
              <a:buChar char="•"/>
            </a:pPr>
            <a:r>
              <a:rPr lang="en-US" sz="1350" b="1" dirty="0">
                <a:solidFill>
                  <a:srgbClr val="E0E4E6"/>
                </a:solidFill>
                <a:latin typeface="Arial" panose="020B0604020202020204" pitchFamily="34" charset="0"/>
                <a:ea typeface="Barlow" pitchFamily="34" charset="-122"/>
                <a:cs typeface="Arial" panose="020B0604020202020204" pitchFamily="34" charset="0"/>
              </a:rPr>
              <a:t>IBM MQ to AWS Integration:</a:t>
            </a:r>
            <a:r>
              <a:rPr lang="en-US" sz="1350" dirty="0">
                <a:solidFill>
                  <a:srgbClr val="E0E4E6"/>
                </a:solidFill>
                <a:latin typeface="Arial" panose="020B0604020202020204" pitchFamily="34" charset="0"/>
                <a:ea typeface="Barlow" pitchFamily="34" charset="-122"/>
                <a:cs typeface="Arial" panose="020B0604020202020204" pitchFamily="34" charset="0"/>
              </a:rPr>
              <a:t> Apache Camel can act as a bridge, consuming messages from on-premises IBM MQ queues and routing them to AWS.</a:t>
            </a:r>
            <a:endParaRPr lang="en-US" sz="1350" dirty="0">
              <a:latin typeface="Arial" panose="020B0604020202020204" pitchFamily="34" charset="0"/>
              <a:cs typeface="Arial" panose="020B0604020202020204" pitchFamily="34" charset="0"/>
            </a:endParaRPr>
          </a:p>
        </p:txBody>
      </p:sp>
      <p:sp>
        <p:nvSpPr>
          <p:cNvPr id="6" name="Text 4"/>
          <p:cNvSpPr/>
          <p:nvPr/>
        </p:nvSpPr>
        <p:spPr>
          <a:xfrm>
            <a:off x="967383" y="3948470"/>
            <a:ext cx="12959477" cy="281345"/>
          </a:xfrm>
          <a:prstGeom prst="rect">
            <a:avLst/>
          </a:prstGeom>
          <a:noFill/>
          <a:ln/>
        </p:spPr>
        <p:txBody>
          <a:bodyPr wrap="none" lIns="0" tIns="0" rIns="0" bIns="0" rtlCol="0" anchor="t"/>
          <a:lstStyle/>
          <a:p>
            <a:pPr marL="342900" indent="-342900" algn="l">
              <a:lnSpc>
                <a:spcPts val="2200"/>
              </a:lnSpc>
              <a:buSzPct val="100000"/>
              <a:buChar char="•"/>
            </a:pPr>
            <a:r>
              <a:rPr lang="en-US" sz="1350" b="1" dirty="0">
                <a:solidFill>
                  <a:srgbClr val="E0E4E6"/>
                </a:solidFill>
                <a:latin typeface="Arial" panose="020B0604020202020204" pitchFamily="34" charset="0"/>
                <a:ea typeface="Barlow" pitchFamily="34" charset="-122"/>
                <a:cs typeface="Arial" panose="020B0604020202020204" pitchFamily="34" charset="0"/>
              </a:rPr>
              <a:t>Flexible AWS Destinations:</a:t>
            </a:r>
            <a:endParaRPr lang="en-US" sz="1350" dirty="0">
              <a:latin typeface="Arial" panose="020B0604020202020204" pitchFamily="34" charset="0"/>
              <a:cs typeface="Arial" panose="020B0604020202020204" pitchFamily="34" charset="0"/>
            </a:endParaRPr>
          </a:p>
        </p:txBody>
      </p:sp>
      <p:sp>
        <p:nvSpPr>
          <p:cNvPr id="7" name="Text 5"/>
          <p:cNvSpPr/>
          <p:nvPr/>
        </p:nvSpPr>
        <p:spPr>
          <a:xfrm>
            <a:off x="967383" y="4291370"/>
            <a:ext cx="12959477" cy="562689"/>
          </a:xfrm>
          <a:prstGeom prst="rect">
            <a:avLst/>
          </a:prstGeom>
          <a:noFill/>
          <a:ln/>
        </p:spPr>
        <p:txBody>
          <a:bodyPr wrap="square" lIns="0" tIns="0" rIns="0" bIns="0" rtlCol="0" anchor="t"/>
          <a:lstStyle/>
          <a:p>
            <a:pPr marL="685800" lvl="1" indent="-342900" algn="l">
              <a:lnSpc>
                <a:spcPts val="2200"/>
              </a:lnSpc>
              <a:buSzPct val="100000"/>
              <a:buChar char="•"/>
            </a:pPr>
            <a:r>
              <a:rPr lang="en-US" sz="1350" b="1" dirty="0">
                <a:solidFill>
                  <a:srgbClr val="E0E4E6"/>
                </a:solidFill>
                <a:latin typeface="Arial" panose="020B0604020202020204" pitchFamily="34" charset="0"/>
                <a:ea typeface="Barlow" pitchFamily="34" charset="-122"/>
                <a:cs typeface="Arial" panose="020B0604020202020204" pitchFamily="34" charset="0"/>
              </a:rPr>
              <a:t>Amazon MQ (ActiveMQ):</a:t>
            </a:r>
            <a:r>
              <a:rPr lang="en-US" sz="1350" dirty="0">
                <a:solidFill>
                  <a:srgbClr val="E0E4E6"/>
                </a:solidFill>
                <a:latin typeface="Arial" panose="020B0604020202020204" pitchFamily="34" charset="0"/>
                <a:ea typeface="Barlow" pitchFamily="34" charset="-122"/>
                <a:cs typeface="Arial" panose="020B0604020202020204" pitchFamily="34" charset="0"/>
              </a:rPr>
              <a:t> For complex routing or if the IBM MQ messages require transformation into a format consumable by other enterprise systems already using ActiveMQ.</a:t>
            </a:r>
            <a:endParaRPr lang="en-US" sz="1350" dirty="0">
              <a:latin typeface="Arial" panose="020B0604020202020204" pitchFamily="34" charset="0"/>
              <a:cs typeface="Arial" panose="020B0604020202020204" pitchFamily="34" charset="0"/>
            </a:endParaRPr>
          </a:p>
        </p:txBody>
      </p:sp>
      <p:sp>
        <p:nvSpPr>
          <p:cNvPr id="8" name="Text 6"/>
          <p:cNvSpPr/>
          <p:nvPr/>
        </p:nvSpPr>
        <p:spPr>
          <a:xfrm>
            <a:off x="967383" y="4915614"/>
            <a:ext cx="12959477" cy="281345"/>
          </a:xfrm>
          <a:prstGeom prst="rect">
            <a:avLst/>
          </a:prstGeom>
          <a:noFill/>
          <a:ln/>
        </p:spPr>
        <p:txBody>
          <a:bodyPr wrap="none" lIns="0" tIns="0" rIns="0" bIns="0" rtlCol="0" anchor="t"/>
          <a:lstStyle/>
          <a:p>
            <a:pPr marL="685800" lvl="1" indent="-342900" algn="l">
              <a:lnSpc>
                <a:spcPts val="2200"/>
              </a:lnSpc>
              <a:buSzPct val="100000"/>
              <a:buChar char="•"/>
            </a:pPr>
            <a:r>
              <a:rPr lang="en-US" sz="1350" b="1" dirty="0">
                <a:solidFill>
                  <a:srgbClr val="E0E4E6"/>
                </a:solidFill>
                <a:latin typeface="Arial" panose="020B0604020202020204" pitchFamily="34" charset="0"/>
                <a:ea typeface="Barlow" pitchFamily="34" charset="-122"/>
                <a:cs typeface="Arial" panose="020B0604020202020204" pitchFamily="34" charset="0"/>
              </a:rPr>
              <a:t>Amazon SQS:</a:t>
            </a:r>
            <a:r>
              <a:rPr lang="en-US" sz="1350" dirty="0">
                <a:solidFill>
                  <a:srgbClr val="E0E4E6"/>
                </a:solidFill>
                <a:latin typeface="Arial" panose="020B0604020202020204" pitchFamily="34" charset="0"/>
                <a:ea typeface="Barlow" pitchFamily="34" charset="-122"/>
                <a:cs typeface="Arial" panose="020B0604020202020204" pitchFamily="34" charset="0"/>
              </a:rPr>
              <a:t> For simpler, high-volume message passing, especially if the messages will directly trigger AWS Lambda functions for fraud analysis.</a:t>
            </a:r>
            <a:endParaRPr lang="en-US" sz="1350" dirty="0">
              <a:latin typeface="Arial" panose="020B0604020202020204" pitchFamily="34" charset="0"/>
              <a:cs typeface="Arial" panose="020B0604020202020204" pitchFamily="34" charset="0"/>
            </a:endParaRPr>
          </a:p>
        </p:txBody>
      </p:sp>
      <p:sp>
        <p:nvSpPr>
          <p:cNvPr id="9" name="Text 7"/>
          <p:cNvSpPr/>
          <p:nvPr/>
        </p:nvSpPr>
        <p:spPr>
          <a:xfrm>
            <a:off x="967383" y="5258514"/>
            <a:ext cx="12959477" cy="281345"/>
          </a:xfrm>
          <a:prstGeom prst="rect">
            <a:avLst/>
          </a:prstGeom>
          <a:noFill/>
          <a:ln/>
        </p:spPr>
        <p:txBody>
          <a:bodyPr wrap="none" lIns="0" tIns="0" rIns="0" bIns="0" rtlCol="0" anchor="t"/>
          <a:lstStyle/>
          <a:p>
            <a:pPr marL="685800" lvl="1" indent="-342900" algn="l">
              <a:lnSpc>
                <a:spcPts val="2200"/>
              </a:lnSpc>
              <a:buSzPct val="100000"/>
              <a:buChar char="•"/>
            </a:pPr>
            <a:r>
              <a:rPr lang="en-US" sz="1350" b="1" dirty="0">
                <a:solidFill>
                  <a:srgbClr val="E0E4E6"/>
                </a:solidFill>
                <a:latin typeface="Arial" panose="020B0604020202020204" pitchFamily="34" charset="0"/>
                <a:ea typeface="Barlow" pitchFamily="34" charset="-122"/>
                <a:cs typeface="Arial" panose="020B0604020202020204" pitchFamily="34" charset="0"/>
              </a:rPr>
              <a:t>Amazon SNS (Simple Notification Service):</a:t>
            </a:r>
            <a:r>
              <a:rPr lang="en-US" sz="1350" dirty="0">
                <a:solidFill>
                  <a:srgbClr val="E0E4E6"/>
                </a:solidFill>
                <a:latin typeface="Arial" panose="020B0604020202020204" pitchFamily="34" charset="0"/>
                <a:ea typeface="Barlow" pitchFamily="34" charset="-122"/>
                <a:cs typeface="Arial" panose="020B0604020202020204" pitchFamily="34" charset="0"/>
              </a:rPr>
              <a:t> To publish messages as topics for fanout to multiple subscribers (e.g., SQS queues, Lambda, email).</a:t>
            </a:r>
            <a:endParaRPr lang="en-US" sz="1350" dirty="0">
              <a:latin typeface="Arial" panose="020B0604020202020204" pitchFamily="34" charset="0"/>
              <a:cs typeface="Arial" panose="020B0604020202020204" pitchFamily="34" charset="0"/>
            </a:endParaRPr>
          </a:p>
        </p:txBody>
      </p:sp>
      <p:sp>
        <p:nvSpPr>
          <p:cNvPr id="10" name="Text 8"/>
          <p:cNvSpPr/>
          <p:nvPr/>
        </p:nvSpPr>
        <p:spPr>
          <a:xfrm>
            <a:off x="967383" y="5601414"/>
            <a:ext cx="12959477" cy="562689"/>
          </a:xfrm>
          <a:prstGeom prst="rect">
            <a:avLst/>
          </a:prstGeom>
          <a:noFill/>
          <a:ln/>
        </p:spPr>
        <p:txBody>
          <a:bodyPr wrap="square" lIns="0" tIns="0" rIns="0" bIns="0" rtlCol="0" anchor="t"/>
          <a:lstStyle/>
          <a:p>
            <a:pPr marL="342900" indent="-342900" algn="l">
              <a:lnSpc>
                <a:spcPts val="2200"/>
              </a:lnSpc>
              <a:buSzPct val="100000"/>
              <a:buChar char="•"/>
            </a:pPr>
            <a:r>
              <a:rPr lang="en-US" sz="1350" b="1" dirty="0">
                <a:solidFill>
                  <a:srgbClr val="E0E4E6"/>
                </a:solidFill>
                <a:latin typeface="Arial" panose="020B0604020202020204" pitchFamily="34" charset="0"/>
                <a:ea typeface="Barlow" pitchFamily="34" charset="-122"/>
                <a:cs typeface="Arial" panose="020B0604020202020204" pitchFamily="34" charset="0"/>
              </a:rPr>
              <a:t>Large Message Handling:</a:t>
            </a:r>
            <a:r>
              <a:rPr lang="en-US" sz="1350" dirty="0">
                <a:solidFill>
                  <a:srgbClr val="E0E4E6"/>
                </a:solidFill>
                <a:latin typeface="Arial" panose="020B0604020202020204" pitchFamily="34" charset="0"/>
                <a:ea typeface="Barlow" pitchFamily="34" charset="-122"/>
                <a:cs typeface="Arial" panose="020B0604020202020204" pitchFamily="34" charset="0"/>
              </a:rPr>
              <a:t> If messages exceed SQS's or MQ's size limits, the integration layer can use S3-backed storage. The message payload is stored in Amazon S3, and only a pointer (S3 URI) is passed through the messaging service.</a:t>
            </a:r>
            <a:endParaRPr lang="en-US" sz="1350" dirty="0">
              <a:latin typeface="Arial" panose="020B0604020202020204" pitchFamily="34" charset="0"/>
              <a:cs typeface="Arial" panose="020B0604020202020204" pitchFamily="34" charset="0"/>
            </a:endParaRPr>
          </a:p>
        </p:txBody>
      </p:sp>
      <p:sp>
        <p:nvSpPr>
          <p:cNvPr id="11" name="Text 9"/>
          <p:cNvSpPr/>
          <p:nvPr/>
        </p:nvSpPr>
        <p:spPr>
          <a:xfrm>
            <a:off x="967383" y="6225659"/>
            <a:ext cx="12959477" cy="562689"/>
          </a:xfrm>
          <a:prstGeom prst="rect">
            <a:avLst/>
          </a:prstGeom>
          <a:noFill/>
          <a:ln/>
        </p:spPr>
        <p:txBody>
          <a:bodyPr wrap="square" lIns="0" tIns="0" rIns="0" bIns="0" rtlCol="0" anchor="t"/>
          <a:lstStyle/>
          <a:p>
            <a:pPr marL="342900" indent="-342900" algn="l">
              <a:lnSpc>
                <a:spcPts val="2200"/>
              </a:lnSpc>
              <a:buSzPct val="100000"/>
              <a:buChar char="•"/>
            </a:pPr>
            <a:r>
              <a:rPr lang="en-US" sz="1350" b="1" dirty="0">
                <a:solidFill>
                  <a:srgbClr val="E0E4E6"/>
                </a:solidFill>
                <a:latin typeface="Arial" panose="020B0604020202020204" pitchFamily="34" charset="0"/>
                <a:ea typeface="Barlow" pitchFamily="34" charset="-122"/>
                <a:cs typeface="Arial" panose="020B0604020202020204" pitchFamily="34" charset="0"/>
              </a:rPr>
              <a:t>Dead-Letter Queues (DLQ):</a:t>
            </a:r>
            <a:r>
              <a:rPr lang="en-US" sz="1350" dirty="0">
                <a:solidFill>
                  <a:srgbClr val="E0E4E6"/>
                </a:solidFill>
                <a:latin typeface="Arial" panose="020B0604020202020204" pitchFamily="34" charset="0"/>
                <a:ea typeface="Barlow" pitchFamily="34" charset="-122"/>
                <a:cs typeface="Arial" panose="020B0604020202020204" pitchFamily="34" charset="0"/>
              </a:rPr>
              <a:t> Both Amazon MQ and SQS support DLQs. Messages that fail processing after a configured number of retries are moved to a DLQ for inspection and reprocessing, ensuring no message is lost. This is crucial for maintaining data integrity in financial systems.</a:t>
            </a:r>
            <a:endParaRPr lang="en-US" sz="1350" dirty="0">
              <a:latin typeface="Arial" panose="020B0604020202020204" pitchFamily="34" charset="0"/>
              <a:cs typeface="Arial" panose="020B0604020202020204" pitchFamily="34" charset="0"/>
            </a:endParaRPr>
          </a:p>
        </p:txBody>
      </p:sp>
      <p:sp>
        <p:nvSpPr>
          <p:cNvPr id="12" name="Text 10"/>
          <p:cNvSpPr/>
          <p:nvPr/>
        </p:nvSpPr>
        <p:spPr>
          <a:xfrm>
            <a:off x="967383" y="6986230"/>
            <a:ext cx="12959477" cy="562689"/>
          </a:xfrm>
          <a:prstGeom prst="rect">
            <a:avLst/>
          </a:prstGeom>
          <a:noFill/>
          <a:ln/>
        </p:spPr>
        <p:txBody>
          <a:bodyPr wrap="square" lIns="0" tIns="0" rIns="0" bIns="0" rtlCol="0" anchor="t"/>
          <a:lstStyle/>
          <a:p>
            <a:pPr marL="0" indent="0" algn="l">
              <a:lnSpc>
                <a:spcPts val="2200"/>
              </a:lnSpc>
              <a:buNone/>
            </a:pPr>
            <a:r>
              <a:rPr lang="en-US" sz="1350" dirty="0">
                <a:solidFill>
                  <a:srgbClr val="E0E4E6"/>
                </a:solidFill>
                <a:latin typeface="Arial" panose="020B0604020202020204" pitchFamily="34" charset="0"/>
                <a:ea typeface="Barlow" pitchFamily="34" charset="-122"/>
                <a:cs typeface="Arial" panose="020B0604020202020204" pitchFamily="34" charset="0"/>
              </a:rPr>
              <a:t>This hybrid approach leverages Amazon MQ's compatibility with traditional brokers and SQS's cloud-native scaling, allowing for a phased migration and robust cross-environment communication.</a:t>
            </a:r>
            <a:endParaRPr lang="en-US" sz="1350" dirty="0">
              <a:latin typeface="Arial" panose="020B0604020202020204" pitchFamily="34" charset="0"/>
              <a:cs typeface="Arial" panose="020B0604020202020204" pitchFamily="34" charset="0"/>
            </a:endParaRPr>
          </a:p>
        </p:txBody>
      </p:sp>
      <p:sp>
        <p:nvSpPr>
          <p:cNvPr id="13" name="Shape 11"/>
          <p:cNvSpPr/>
          <p:nvPr/>
        </p:nvSpPr>
        <p:spPr>
          <a:xfrm>
            <a:off x="703540" y="2365772"/>
            <a:ext cx="22860" cy="5381030"/>
          </a:xfrm>
          <a:prstGeom prst="rect">
            <a:avLst/>
          </a:prstGeom>
          <a:solidFill>
            <a:srgbClr val="16FFBB"/>
          </a:solidFill>
          <a:ln/>
        </p:spPr>
      </p:sp>
      <p:sp>
        <p:nvSpPr>
          <p:cNvPr id="14" name="Rectangle 13">
            <a:extLst>
              <a:ext uri="{FF2B5EF4-FFF2-40B4-BE49-F238E27FC236}">
                <a16:creationId xmlns:a16="http://schemas.microsoft.com/office/drawing/2014/main" id="{5407E156-D892-B660-3BDA-1B17DE4C8007}"/>
              </a:ext>
            </a:extLst>
          </p:cNvPr>
          <p:cNvSpPr/>
          <p:nvPr/>
        </p:nvSpPr>
        <p:spPr>
          <a:xfrm>
            <a:off x="12582525" y="7694414"/>
            <a:ext cx="2047875" cy="535186"/>
          </a:xfrm>
          <a:prstGeom prst="rect">
            <a:avLst/>
          </a:prstGeom>
          <a:solidFill>
            <a:srgbClr val="070614"/>
          </a:solidFill>
          <a:effectLst>
            <a:softEdge rad="63500"/>
          </a:effectLst>
        </p:spPr>
        <p:style>
          <a:lnRef idx="1">
            <a:schemeClr val="dk1"/>
          </a:lnRef>
          <a:fillRef idx="3">
            <a:schemeClr val="dk1"/>
          </a:fillRef>
          <a:effectRef idx="2">
            <a:schemeClr val="dk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IN"/>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796052" y="636151"/>
            <a:ext cx="7822644" cy="552688"/>
          </a:xfrm>
          <a:prstGeom prst="rect">
            <a:avLst/>
          </a:prstGeom>
          <a:noFill/>
          <a:ln/>
        </p:spPr>
        <p:txBody>
          <a:bodyPr wrap="none" lIns="0" tIns="0" rIns="0" bIns="0" rtlCol="0" anchor="t"/>
          <a:lstStyle/>
          <a:p>
            <a:pPr marL="0" indent="0" algn="l">
              <a:lnSpc>
                <a:spcPts val="4350"/>
              </a:lnSpc>
              <a:buNone/>
            </a:pPr>
            <a:r>
              <a:rPr lang="en-US" sz="3450" b="1" dirty="0">
                <a:solidFill>
                  <a:srgbClr val="F0FCFF"/>
                </a:solidFill>
                <a:latin typeface="Arial" panose="020B0604020202020204" pitchFamily="34" charset="0"/>
                <a:ea typeface="Spline Sans Bold" pitchFamily="34" charset="-122"/>
                <a:cs typeface="Arial" panose="020B0604020202020204" pitchFamily="34" charset="0"/>
              </a:rPr>
              <a:t>Architectural Patterns with SQS &amp; MQ</a:t>
            </a:r>
            <a:endParaRPr lang="en-US" sz="3450" dirty="0">
              <a:latin typeface="Arial" panose="020B0604020202020204" pitchFamily="34" charset="0"/>
              <a:cs typeface="Arial" panose="020B0604020202020204" pitchFamily="34" charset="0"/>
            </a:endParaRPr>
          </a:p>
        </p:txBody>
      </p:sp>
      <p:sp>
        <p:nvSpPr>
          <p:cNvPr id="3" name="Text 1"/>
          <p:cNvSpPr/>
          <p:nvPr/>
        </p:nvSpPr>
        <p:spPr>
          <a:xfrm>
            <a:off x="796052" y="1586865"/>
            <a:ext cx="13038296" cy="636984"/>
          </a:xfrm>
          <a:prstGeom prst="rect">
            <a:avLst/>
          </a:prstGeom>
          <a:noFill/>
          <a:ln/>
        </p:spPr>
        <p:txBody>
          <a:bodyPr wrap="square" lIns="0" tIns="0" rIns="0" bIns="0" rtlCol="0" anchor="t"/>
          <a:lstStyle/>
          <a:p>
            <a:pPr marL="0" indent="0" algn="l">
              <a:lnSpc>
                <a:spcPts val="2500"/>
              </a:lnSpc>
              <a:buNone/>
            </a:pPr>
            <a:r>
              <a:rPr lang="en-US" sz="1550" dirty="0">
                <a:solidFill>
                  <a:srgbClr val="E0E4E6"/>
                </a:solidFill>
                <a:latin typeface="Arial" panose="020B0604020202020204" pitchFamily="34" charset="0"/>
                <a:ea typeface="Barlow" pitchFamily="34" charset="-122"/>
                <a:cs typeface="Arial" panose="020B0604020202020204" pitchFamily="34" charset="0"/>
              </a:rPr>
              <a:t>Both Amazon SQS and Amazon MQ are fundamental building blocks for designing scalable, resilient, and event-driven architectures in AWS. They enable various patterns to achieve specific operational and business goals.</a:t>
            </a:r>
            <a:endParaRPr lang="en-US" sz="1550" dirty="0">
              <a:latin typeface="Arial" panose="020B0604020202020204" pitchFamily="34" charset="0"/>
              <a:cs typeface="Arial" panose="020B0604020202020204" pitchFamily="34" charset="0"/>
            </a:endParaRPr>
          </a:p>
        </p:txBody>
      </p:sp>
      <p:sp>
        <p:nvSpPr>
          <p:cNvPr id="4" name="Text 2"/>
          <p:cNvSpPr/>
          <p:nvPr/>
        </p:nvSpPr>
        <p:spPr>
          <a:xfrm>
            <a:off x="796052" y="2447687"/>
            <a:ext cx="198953" cy="248722"/>
          </a:xfrm>
          <a:prstGeom prst="rect">
            <a:avLst/>
          </a:prstGeom>
          <a:noFill/>
          <a:ln/>
        </p:spPr>
        <p:txBody>
          <a:bodyPr wrap="none" lIns="0" tIns="0" rIns="0" bIns="0" rtlCol="0" anchor="t"/>
          <a:lstStyle/>
          <a:p>
            <a:pPr marL="0" indent="0" algn="l">
              <a:lnSpc>
                <a:spcPts val="2500"/>
              </a:lnSpc>
              <a:buNone/>
            </a:pPr>
            <a:r>
              <a:rPr lang="en-US" sz="1550" dirty="0">
                <a:solidFill>
                  <a:srgbClr val="E0E4E6"/>
                </a:solidFill>
                <a:latin typeface="Arial" panose="020B0604020202020204" pitchFamily="34" charset="0"/>
                <a:ea typeface="Spline Sans Light" pitchFamily="34" charset="-122"/>
                <a:cs typeface="Arial" panose="020B0604020202020204" pitchFamily="34" charset="0"/>
              </a:rPr>
              <a:t>01</a:t>
            </a:r>
            <a:endParaRPr lang="en-US" sz="1550" dirty="0">
              <a:latin typeface="Arial" panose="020B0604020202020204" pitchFamily="34" charset="0"/>
              <a:cs typeface="Arial" panose="020B0604020202020204" pitchFamily="34" charset="0"/>
            </a:endParaRPr>
          </a:p>
        </p:txBody>
      </p:sp>
      <p:sp>
        <p:nvSpPr>
          <p:cNvPr id="5" name="Shape 3"/>
          <p:cNvSpPr/>
          <p:nvPr/>
        </p:nvSpPr>
        <p:spPr>
          <a:xfrm>
            <a:off x="796052" y="2762964"/>
            <a:ext cx="4213384" cy="22860"/>
          </a:xfrm>
          <a:prstGeom prst="rect">
            <a:avLst/>
          </a:prstGeom>
          <a:solidFill>
            <a:srgbClr val="16FFBB"/>
          </a:solidFill>
          <a:ln/>
        </p:spPr>
      </p:sp>
      <p:sp>
        <p:nvSpPr>
          <p:cNvPr id="6" name="Text 4"/>
          <p:cNvSpPr/>
          <p:nvPr/>
        </p:nvSpPr>
        <p:spPr>
          <a:xfrm>
            <a:off x="796052" y="2908102"/>
            <a:ext cx="3189446" cy="276344"/>
          </a:xfrm>
          <a:prstGeom prst="rect">
            <a:avLst/>
          </a:prstGeom>
          <a:noFill/>
          <a:ln/>
        </p:spPr>
        <p:txBody>
          <a:bodyPr wrap="none" lIns="0" tIns="0" rIns="0" bIns="0" rtlCol="0" anchor="t"/>
          <a:lstStyle/>
          <a:p>
            <a:pPr marL="0" indent="0" algn="l">
              <a:lnSpc>
                <a:spcPts val="2150"/>
              </a:lnSpc>
              <a:buNone/>
            </a:pPr>
            <a:r>
              <a:rPr lang="en-US" sz="1700" b="1" dirty="0">
                <a:solidFill>
                  <a:srgbClr val="E0E4E6"/>
                </a:solidFill>
                <a:latin typeface="Arial" panose="020B0604020202020204" pitchFamily="34" charset="0"/>
                <a:ea typeface="Spline Sans Bold" pitchFamily="34" charset="-122"/>
                <a:cs typeface="Arial" panose="020B0604020202020204" pitchFamily="34" charset="0"/>
              </a:rPr>
              <a:t>Fanout Pattern with SNS &amp; SQS</a:t>
            </a:r>
            <a:endParaRPr lang="en-US" sz="1700" dirty="0">
              <a:latin typeface="Arial" panose="020B0604020202020204" pitchFamily="34" charset="0"/>
              <a:cs typeface="Arial" panose="020B0604020202020204" pitchFamily="34" charset="0"/>
            </a:endParaRPr>
          </a:p>
        </p:txBody>
      </p:sp>
      <p:sp>
        <p:nvSpPr>
          <p:cNvPr id="7" name="Text 5"/>
          <p:cNvSpPr/>
          <p:nvPr/>
        </p:nvSpPr>
        <p:spPr>
          <a:xfrm>
            <a:off x="796052" y="3303746"/>
            <a:ext cx="4213384" cy="4140398"/>
          </a:xfrm>
          <a:prstGeom prst="rect">
            <a:avLst/>
          </a:prstGeom>
          <a:noFill/>
          <a:ln/>
        </p:spPr>
        <p:txBody>
          <a:bodyPr wrap="square" lIns="0" tIns="0" rIns="0" bIns="0" rtlCol="0" anchor="t"/>
          <a:lstStyle/>
          <a:p>
            <a:pPr marL="0" indent="0" algn="l">
              <a:lnSpc>
                <a:spcPts val="2500"/>
              </a:lnSpc>
              <a:buNone/>
            </a:pPr>
            <a:r>
              <a:rPr lang="en-US" sz="1550" dirty="0">
                <a:solidFill>
                  <a:srgbClr val="E0E4E6"/>
                </a:solidFill>
                <a:latin typeface="Arial" panose="020B0604020202020204" pitchFamily="34" charset="0"/>
                <a:ea typeface="Barlow" pitchFamily="34" charset="-122"/>
                <a:cs typeface="Arial" panose="020B0604020202020204" pitchFamily="34" charset="0"/>
              </a:rPr>
              <a:t>This pattern uses Amazon SNS (Simple Notification Service) as a central message hub to publish a message once, and then fan it out to multiple Amazon SQS queues. Each SQS queue can then trigger a different downstream service (e.g., Lambda functions for analytics, email notifications, database updates). This ensures parallel processing and decoupling of producers from multiple consumers, enabling highly scalable and decoupled event-driven systems for scenarios like e-commerce order processing, where one event (order placed) needs to notify multiple services (payment, shipping, inventory).</a:t>
            </a:r>
            <a:endParaRPr lang="en-US" sz="1550" dirty="0">
              <a:latin typeface="Arial" panose="020B0604020202020204" pitchFamily="34" charset="0"/>
              <a:cs typeface="Arial" panose="020B0604020202020204" pitchFamily="34" charset="0"/>
            </a:endParaRPr>
          </a:p>
        </p:txBody>
      </p:sp>
      <p:sp>
        <p:nvSpPr>
          <p:cNvPr id="8" name="Text 6"/>
          <p:cNvSpPr/>
          <p:nvPr/>
        </p:nvSpPr>
        <p:spPr>
          <a:xfrm>
            <a:off x="5208389" y="2447687"/>
            <a:ext cx="198953" cy="248722"/>
          </a:xfrm>
          <a:prstGeom prst="rect">
            <a:avLst/>
          </a:prstGeom>
          <a:noFill/>
          <a:ln/>
        </p:spPr>
        <p:txBody>
          <a:bodyPr wrap="none" lIns="0" tIns="0" rIns="0" bIns="0" rtlCol="0" anchor="t"/>
          <a:lstStyle/>
          <a:p>
            <a:pPr marL="0" indent="0" algn="l">
              <a:lnSpc>
                <a:spcPts val="2500"/>
              </a:lnSpc>
              <a:buNone/>
            </a:pPr>
            <a:r>
              <a:rPr lang="en-US" sz="1550" dirty="0">
                <a:solidFill>
                  <a:srgbClr val="E0E4E6"/>
                </a:solidFill>
                <a:latin typeface="Arial" panose="020B0604020202020204" pitchFamily="34" charset="0"/>
                <a:ea typeface="Spline Sans Light" pitchFamily="34" charset="-122"/>
                <a:cs typeface="Arial" panose="020B0604020202020204" pitchFamily="34" charset="0"/>
              </a:rPr>
              <a:t>02</a:t>
            </a:r>
            <a:endParaRPr lang="en-US" sz="1550" dirty="0">
              <a:latin typeface="Arial" panose="020B0604020202020204" pitchFamily="34" charset="0"/>
              <a:cs typeface="Arial" panose="020B0604020202020204" pitchFamily="34" charset="0"/>
            </a:endParaRPr>
          </a:p>
        </p:txBody>
      </p:sp>
      <p:sp>
        <p:nvSpPr>
          <p:cNvPr id="9" name="Shape 7"/>
          <p:cNvSpPr/>
          <p:nvPr/>
        </p:nvSpPr>
        <p:spPr>
          <a:xfrm>
            <a:off x="5208389" y="2762964"/>
            <a:ext cx="4213503" cy="22860"/>
          </a:xfrm>
          <a:prstGeom prst="rect">
            <a:avLst/>
          </a:prstGeom>
          <a:solidFill>
            <a:srgbClr val="29DDDA"/>
          </a:solidFill>
          <a:ln/>
        </p:spPr>
      </p:sp>
      <p:sp>
        <p:nvSpPr>
          <p:cNvPr id="10" name="Text 8"/>
          <p:cNvSpPr/>
          <p:nvPr/>
        </p:nvSpPr>
        <p:spPr>
          <a:xfrm>
            <a:off x="5208389" y="2908102"/>
            <a:ext cx="4213503" cy="552688"/>
          </a:xfrm>
          <a:prstGeom prst="rect">
            <a:avLst/>
          </a:prstGeom>
          <a:noFill/>
          <a:ln/>
        </p:spPr>
        <p:txBody>
          <a:bodyPr wrap="square" lIns="0" tIns="0" rIns="0" bIns="0" rtlCol="0" anchor="t"/>
          <a:lstStyle/>
          <a:p>
            <a:pPr marL="0" indent="0" algn="l">
              <a:lnSpc>
                <a:spcPts val="2150"/>
              </a:lnSpc>
              <a:buNone/>
            </a:pPr>
            <a:r>
              <a:rPr lang="en-US" sz="1700" b="1" dirty="0">
                <a:solidFill>
                  <a:srgbClr val="E0E4E6"/>
                </a:solidFill>
                <a:latin typeface="Arial" panose="020B0604020202020204" pitchFamily="34" charset="0"/>
                <a:ea typeface="Spline Sans Bold" pitchFamily="34" charset="-122"/>
                <a:cs typeface="Arial" panose="020B0604020202020204" pitchFamily="34" charset="0"/>
              </a:rPr>
              <a:t>Event-Driven Serverless with SQS &amp; Lambda</a:t>
            </a:r>
            <a:endParaRPr lang="en-US" sz="1700" dirty="0">
              <a:latin typeface="Arial" panose="020B0604020202020204" pitchFamily="34" charset="0"/>
              <a:cs typeface="Arial" panose="020B0604020202020204" pitchFamily="34" charset="0"/>
            </a:endParaRPr>
          </a:p>
        </p:txBody>
      </p:sp>
      <p:sp>
        <p:nvSpPr>
          <p:cNvPr id="11" name="Text 9"/>
          <p:cNvSpPr/>
          <p:nvPr/>
        </p:nvSpPr>
        <p:spPr>
          <a:xfrm>
            <a:off x="5208389" y="3580090"/>
            <a:ext cx="4213503" cy="3503414"/>
          </a:xfrm>
          <a:prstGeom prst="rect">
            <a:avLst/>
          </a:prstGeom>
          <a:noFill/>
          <a:ln/>
        </p:spPr>
        <p:txBody>
          <a:bodyPr wrap="square" lIns="0" tIns="0" rIns="0" bIns="0" rtlCol="0" anchor="t"/>
          <a:lstStyle/>
          <a:p>
            <a:pPr marL="0" indent="0" algn="l">
              <a:lnSpc>
                <a:spcPts val="2500"/>
              </a:lnSpc>
              <a:buNone/>
            </a:pPr>
            <a:r>
              <a:rPr lang="en-US" sz="1550" dirty="0">
                <a:solidFill>
                  <a:srgbClr val="E0E4E6"/>
                </a:solidFill>
                <a:latin typeface="Arial" panose="020B0604020202020204" pitchFamily="34" charset="0"/>
                <a:ea typeface="Barlow" pitchFamily="34" charset="-122"/>
                <a:cs typeface="Arial" panose="020B0604020202020204" pitchFamily="34" charset="0"/>
              </a:rPr>
              <a:t>SQS is a common trigger for AWS Lambda functions, forming a core component of event-driven serverless architectures. Messages placed in an SQS queue automatically invoke a Lambda function. This pattern is ideal for handling asynchronous background tasks like image processing, data transformations, or report generation. It allows your application to scale compute resources based on the queue backlog, processing events efficiently and cost-effectively without provisioning servers.</a:t>
            </a:r>
            <a:endParaRPr lang="en-US" sz="1550" dirty="0">
              <a:latin typeface="Arial" panose="020B0604020202020204" pitchFamily="34" charset="0"/>
              <a:cs typeface="Arial" panose="020B0604020202020204" pitchFamily="34" charset="0"/>
            </a:endParaRPr>
          </a:p>
        </p:txBody>
      </p:sp>
      <p:sp>
        <p:nvSpPr>
          <p:cNvPr id="12" name="Text 10"/>
          <p:cNvSpPr/>
          <p:nvPr/>
        </p:nvSpPr>
        <p:spPr>
          <a:xfrm>
            <a:off x="9620845" y="2447687"/>
            <a:ext cx="198953" cy="248722"/>
          </a:xfrm>
          <a:prstGeom prst="rect">
            <a:avLst/>
          </a:prstGeom>
          <a:noFill/>
          <a:ln/>
        </p:spPr>
        <p:txBody>
          <a:bodyPr wrap="none" lIns="0" tIns="0" rIns="0" bIns="0" rtlCol="0" anchor="t"/>
          <a:lstStyle/>
          <a:p>
            <a:pPr marL="0" indent="0" algn="l">
              <a:lnSpc>
                <a:spcPts val="2500"/>
              </a:lnSpc>
              <a:buNone/>
            </a:pPr>
            <a:r>
              <a:rPr lang="en-US" sz="1550" dirty="0">
                <a:solidFill>
                  <a:srgbClr val="E0E4E6"/>
                </a:solidFill>
                <a:latin typeface="Arial" panose="020B0604020202020204" pitchFamily="34" charset="0"/>
                <a:ea typeface="Spline Sans Light" pitchFamily="34" charset="-122"/>
                <a:cs typeface="Arial" panose="020B0604020202020204" pitchFamily="34" charset="0"/>
              </a:rPr>
              <a:t>03</a:t>
            </a:r>
            <a:endParaRPr lang="en-US" sz="1550" dirty="0">
              <a:latin typeface="Arial" panose="020B0604020202020204" pitchFamily="34" charset="0"/>
              <a:cs typeface="Arial" panose="020B0604020202020204" pitchFamily="34" charset="0"/>
            </a:endParaRPr>
          </a:p>
        </p:txBody>
      </p:sp>
      <p:sp>
        <p:nvSpPr>
          <p:cNvPr id="13" name="Shape 11"/>
          <p:cNvSpPr/>
          <p:nvPr/>
        </p:nvSpPr>
        <p:spPr>
          <a:xfrm>
            <a:off x="9620845" y="2762964"/>
            <a:ext cx="4213503" cy="22860"/>
          </a:xfrm>
          <a:prstGeom prst="rect">
            <a:avLst/>
          </a:prstGeom>
          <a:solidFill>
            <a:srgbClr val="37A7E7"/>
          </a:solidFill>
          <a:ln/>
        </p:spPr>
      </p:sp>
      <p:sp>
        <p:nvSpPr>
          <p:cNvPr id="14" name="Text 12"/>
          <p:cNvSpPr/>
          <p:nvPr/>
        </p:nvSpPr>
        <p:spPr>
          <a:xfrm>
            <a:off x="9620845" y="2908102"/>
            <a:ext cx="3551158" cy="276344"/>
          </a:xfrm>
          <a:prstGeom prst="rect">
            <a:avLst/>
          </a:prstGeom>
          <a:noFill/>
          <a:ln/>
        </p:spPr>
        <p:txBody>
          <a:bodyPr wrap="none" lIns="0" tIns="0" rIns="0" bIns="0" rtlCol="0" anchor="t"/>
          <a:lstStyle/>
          <a:p>
            <a:pPr marL="0" indent="0" algn="l">
              <a:lnSpc>
                <a:spcPts val="2150"/>
              </a:lnSpc>
              <a:buNone/>
            </a:pPr>
            <a:r>
              <a:rPr lang="en-US" sz="1700" b="1" dirty="0">
                <a:solidFill>
                  <a:srgbClr val="E0E4E6"/>
                </a:solidFill>
                <a:latin typeface="Arial" panose="020B0604020202020204" pitchFamily="34" charset="0"/>
                <a:ea typeface="Spline Sans Bold" pitchFamily="34" charset="-122"/>
                <a:cs typeface="Arial" panose="020B0604020202020204" pitchFamily="34" charset="0"/>
              </a:rPr>
              <a:t>Hybrid Migration with Amazon MQ</a:t>
            </a:r>
            <a:endParaRPr lang="en-US" sz="1700" dirty="0">
              <a:latin typeface="Arial" panose="020B0604020202020204" pitchFamily="34" charset="0"/>
              <a:cs typeface="Arial" panose="020B0604020202020204" pitchFamily="34" charset="0"/>
            </a:endParaRPr>
          </a:p>
        </p:txBody>
      </p:sp>
      <p:sp>
        <p:nvSpPr>
          <p:cNvPr id="15" name="Text 13"/>
          <p:cNvSpPr/>
          <p:nvPr/>
        </p:nvSpPr>
        <p:spPr>
          <a:xfrm>
            <a:off x="9620845" y="3303746"/>
            <a:ext cx="4213503" cy="3503414"/>
          </a:xfrm>
          <a:prstGeom prst="rect">
            <a:avLst/>
          </a:prstGeom>
          <a:noFill/>
          <a:ln/>
        </p:spPr>
        <p:txBody>
          <a:bodyPr wrap="square" lIns="0" tIns="0" rIns="0" bIns="0" rtlCol="0" anchor="t"/>
          <a:lstStyle/>
          <a:p>
            <a:pPr marL="0" indent="0" algn="l">
              <a:lnSpc>
                <a:spcPts val="2500"/>
              </a:lnSpc>
              <a:buNone/>
            </a:pPr>
            <a:r>
              <a:rPr lang="en-US" sz="1550" dirty="0">
                <a:solidFill>
                  <a:srgbClr val="E0E4E6"/>
                </a:solidFill>
                <a:latin typeface="Arial" panose="020B0604020202020204" pitchFamily="34" charset="0"/>
                <a:ea typeface="Barlow" pitchFamily="34" charset="-122"/>
                <a:cs typeface="Arial" panose="020B0604020202020204" pitchFamily="34" charset="0"/>
              </a:rPr>
              <a:t>For organizations with significant investments in on-premises message brokers, Amazon MQ facilitates a gradual, hybrid migration strategy. Existing applications can continue to use their familiar messaging APIs (JMS, AMQP) and protocols, while the underlying broker infrastructure is shifted to the managed Amazon MQ service in the cloud. This allows for minimal downtime and code changes during the transition, enabling a smoother path to cloud adoption for enterprise applications.</a:t>
            </a:r>
            <a:endParaRPr lang="en-US" sz="1550" dirty="0">
              <a:latin typeface="Arial" panose="020B0604020202020204" pitchFamily="34" charset="0"/>
              <a:cs typeface="Arial" panose="020B0604020202020204" pitchFamily="34" charset="0"/>
            </a:endParaRPr>
          </a:p>
        </p:txBody>
      </p:sp>
      <p:sp>
        <p:nvSpPr>
          <p:cNvPr id="16" name="Rectangle 15">
            <a:extLst>
              <a:ext uri="{FF2B5EF4-FFF2-40B4-BE49-F238E27FC236}">
                <a16:creationId xmlns:a16="http://schemas.microsoft.com/office/drawing/2014/main" id="{67746ECF-9132-A94A-D924-638252C47059}"/>
              </a:ext>
            </a:extLst>
          </p:cNvPr>
          <p:cNvSpPr/>
          <p:nvPr/>
        </p:nvSpPr>
        <p:spPr>
          <a:xfrm>
            <a:off x="12582525" y="7694414"/>
            <a:ext cx="2047875" cy="535186"/>
          </a:xfrm>
          <a:prstGeom prst="rect">
            <a:avLst/>
          </a:prstGeom>
          <a:solidFill>
            <a:srgbClr val="070614"/>
          </a:solidFill>
          <a:effectLst>
            <a:softEdge rad="63500"/>
          </a:effectLst>
        </p:spPr>
        <p:style>
          <a:lnRef idx="1">
            <a:schemeClr val="dk1"/>
          </a:lnRef>
          <a:fillRef idx="3">
            <a:schemeClr val="dk1"/>
          </a:fillRef>
          <a:effectRef idx="2">
            <a:schemeClr val="dk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IN"/>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881063" y="1363861"/>
            <a:ext cx="12818983" cy="611981"/>
          </a:xfrm>
          <a:prstGeom prst="rect">
            <a:avLst/>
          </a:prstGeom>
          <a:noFill/>
          <a:ln/>
        </p:spPr>
        <p:txBody>
          <a:bodyPr wrap="none" lIns="0" tIns="0" rIns="0" bIns="0" rtlCol="0" anchor="t"/>
          <a:lstStyle/>
          <a:p>
            <a:pPr marL="0" indent="0" algn="l">
              <a:lnSpc>
                <a:spcPts val="4800"/>
              </a:lnSpc>
              <a:buNone/>
            </a:pPr>
            <a:r>
              <a:rPr lang="en-US" sz="3850" b="1" dirty="0">
                <a:solidFill>
                  <a:srgbClr val="16FFBB"/>
                </a:solidFill>
                <a:latin typeface="Arial" panose="020B0604020202020204" pitchFamily="34" charset="0"/>
                <a:ea typeface="Spline Sans Bold" pitchFamily="34" charset="-122"/>
                <a:cs typeface="Arial" panose="020B0604020202020204" pitchFamily="34" charset="0"/>
              </a:rPr>
              <a:t>Conclusion:</a:t>
            </a:r>
            <a:r>
              <a:rPr lang="en-US" sz="3850" b="1" dirty="0">
                <a:solidFill>
                  <a:srgbClr val="F0FCFF"/>
                </a:solidFill>
                <a:latin typeface="Arial" panose="020B0604020202020204" pitchFamily="34" charset="0"/>
                <a:ea typeface="Spline Sans Bold" pitchFamily="34" charset="-122"/>
                <a:cs typeface="Arial" panose="020B0604020202020204" pitchFamily="34" charset="0"/>
              </a:rPr>
              <a:t> Choosing the Right AWS Messaging Service</a:t>
            </a:r>
            <a:endParaRPr lang="en-US" sz="3850" dirty="0">
              <a:latin typeface="Arial" panose="020B0604020202020204" pitchFamily="34" charset="0"/>
              <a:cs typeface="Arial" panose="020B0604020202020204" pitchFamily="34" charset="0"/>
            </a:endParaRPr>
          </a:p>
        </p:txBody>
      </p:sp>
      <p:sp>
        <p:nvSpPr>
          <p:cNvPr id="3" name="Text 1"/>
          <p:cNvSpPr/>
          <p:nvPr/>
        </p:nvSpPr>
        <p:spPr>
          <a:xfrm>
            <a:off x="881063" y="2416373"/>
            <a:ext cx="12868275" cy="704850"/>
          </a:xfrm>
          <a:prstGeom prst="rect">
            <a:avLst/>
          </a:prstGeom>
          <a:noFill/>
          <a:ln/>
        </p:spPr>
        <p:txBody>
          <a:bodyPr wrap="square" lIns="0" tIns="0" rIns="0" bIns="0" rtlCol="0" anchor="t"/>
          <a:lstStyle/>
          <a:p>
            <a:pPr marL="0" indent="0" algn="l">
              <a:lnSpc>
                <a:spcPts val="2750"/>
              </a:lnSpc>
              <a:buNone/>
            </a:pPr>
            <a:r>
              <a:rPr lang="en-US" sz="1700" dirty="0">
                <a:solidFill>
                  <a:srgbClr val="E0E4E6"/>
                </a:solidFill>
                <a:latin typeface="Arial" panose="020B0604020202020204" pitchFamily="34" charset="0"/>
                <a:ea typeface="Barlow" pitchFamily="34" charset="-122"/>
                <a:cs typeface="Arial" panose="020B0604020202020204" pitchFamily="34" charset="0"/>
              </a:rPr>
              <a:t>The decision between Amazon SQS and Amazon MQ ultimately depends on your specific use case, the nature of your application, and your existing technology stack.</a:t>
            </a:r>
            <a:endParaRPr lang="en-US" sz="1700" dirty="0">
              <a:latin typeface="Arial" panose="020B0604020202020204" pitchFamily="34" charset="0"/>
              <a:cs typeface="Arial" panose="020B0604020202020204" pitchFamily="34" charset="0"/>
            </a:endParaRPr>
          </a:p>
        </p:txBody>
      </p:sp>
      <p:sp>
        <p:nvSpPr>
          <p:cNvPr id="4" name="Text 2"/>
          <p:cNvSpPr/>
          <p:nvPr/>
        </p:nvSpPr>
        <p:spPr>
          <a:xfrm>
            <a:off x="881063" y="3368993"/>
            <a:ext cx="12868275" cy="1057275"/>
          </a:xfrm>
          <a:prstGeom prst="rect">
            <a:avLst/>
          </a:prstGeom>
          <a:noFill/>
          <a:ln/>
        </p:spPr>
        <p:txBody>
          <a:bodyPr wrap="square" lIns="0" tIns="0" rIns="0" bIns="0" rtlCol="0" anchor="t"/>
          <a:lstStyle/>
          <a:p>
            <a:pPr marL="342900" indent="-342900" algn="l">
              <a:lnSpc>
                <a:spcPts val="2750"/>
              </a:lnSpc>
              <a:buSzPct val="100000"/>
              <a:buChar char="•"/>
            </a:pPr>
            <a:r>
              <a:rPr lang="en-US" sz="1700" b="1" dirty="0">
                <a:solidFill>
                  <a:srgbClr val="E0E4E6"/>
                </a:solidFill>
                <a:latin typeface="Arial" panose="020B0604020202020204" pitchFamily="34" charset="0"/>
                <a:ea typeface="Barlow" pitchFamily="34" charset="-122"/>
                <a:cs typeface="Arial" panose="020B0604020202020204" pitchFamily="34" charset="0"/>
              </a:rPr>
              <a:t>Amazon SQS:</a:t>
            </a:r>
            <a:r>
              <a:rPr lang="en-US" sz="1700" dirty="0">
                <a:solidFill>
                  <a:srgbClr val="E0E4E6"/>
                </a:solidFill>
                <a:latin typeface="Arial" panose="020B0604020202020204" pitchFamily="34" charset="0"/>
                <a:ea typeface="Barlow" pitchFamily="34" charset="-122"/>
                <a:cs typeface="Arial" panose="020B0604020202020204" pitchFamily="34" charset="0"/>
              </a:rPr>
              <a:t> Is the lightweight, fully managed, and highly scalable message queuing service designed for modern cloud-native applications. It is ideal for building serverless and microservices architectures that require simple, reliable, and decoupled communication, with a focus on cost-efficiency and ease of integration within the AWS ecosystem.</a:t>
            </a:r>
            <a:endParaRPr lang="en-US" sz="1700" dirty="0">
              <a:latin typeface="Arial" panose="020B0604020202020204" pitchFamily="34" charset="0"/>
              <a:cs typeface="Arial" panose="020B0604020202020204" pitchFamily="34" charset="0"/>
            </a:endParaRPr>
          </a:p>
        </p:txBody>
      </p:sp>
      <p:sp>
        <p:nvSpPr>
          <p:cNvPr id="5" name="Text 3"/>
          <p:cNvSpPr/>
          <p:nvPr/>
        </p:nvSpPr>
        <p:spPr>
          <a:xfrm>
            <a:off x="881063" y="4503301"/>
            <a:ext cx="12868275" cy="1057275"/>
          </a:xfrm>
          <a:prstGeom prst="rect">
            <a:avLst/>
          </a:prstGeom>
          <a:noFill/>
          <a:ln/>
        </p:spPr>
        <p:txBody>
          <a:bodyPr wrap="square" lIns="0" tIns="0" rIns="0" bIns="0" rtlCol="0" anchor="t"/>
          <a:lstStyle/>
          <a:p>
            <a:pPr marL="342900" indent="-342900" algn="l">
              <a:lnSpc>
                <a:spcPts val="2750"/>
              </a:lnSpc>
              <a:buSzPct val="100000"/>
              <a:buChar char="•"/>
            </a:pPr>
            <a:r>
              <a:rPr lang="en-US" sz="1700" b="1" dirty="0">
                <a:solidFill>
                  <a:srgbClr val="E0E4E6"/>
                </a:solidFill>
                <a:latin typeface="Arial" panose="020B0604020202020204" pitchFamily="34" charset="0"/>
                <a:ea typeface="Barlow" pitchFamily="34" charset="-122"/>
                <a:cs typeface="Arial" panose="020B0604020202020204" pitchFamily="34" charset="0"/>
              </a:rPr>
              <a:t>Amazon MQ:</a:t>
            </a:r>
            <a:r>
              <a:rPr lang="en-US" sz="1700" dirty="0">
                <a:solidFill>
                  <a:srgbClr val="E0E4E6"/>
                </a:solidFill>
                <a:latin typeface="Arial" panose="020B0604020202020204" pitchFamily="34" charset="0"/>
                <a:ea typeface="Barlow" pitchFamily="34" charset="-122"/>
                <a:cs typeface="Arial" panose="020B0604020202020204" pitchFamily="34" charset="0"/>
              </a:rPr>
              <a:t> Provides a managed service for traditional message brokers (ActiveMQ and RabbitMQ), making it suitable for applications that need advanced broker features, broader protocol compatibility, or are undergoing a migration from on-premises environments. It offers a "lift and shift" capability for existing messaging-centric applications.</a:t>
            </a:r>
            <a:endParaRPr lang="en-US" sz="1700" dirty="0">
              <a:latin typeface="Arial" panose="020B0604020202020204" pitchFamily="34" charset="0"/>
              <a:cs typeface="Arial" panose="020B0604020202020204" pitchFamily="34" charset="0"/>
            </a:endParaRPr>
          </a:p>
        </p:txBody>
      </p:sp>
      <p:sp>
        <p:nvSpPr>
          <p:cNvPr id="6" name="Text 4"/>
          <p:cNvSpPr/>
          <p:nvPr/>
        </p:nvSpPr>
        <p:spPr>
          <a:xfrm>
            <a:off x="881063" y="5808345"/>
            <a:ext cx="12868275" cy="1057275"/>
          </a:xfrm>
          <a:prstGeom prst="rect">
            <a:avLst/>
          </a:prstGeom>
          <a:noFill/>
          <a:ln/>
        </p:spPr>
        <p:txBody>
          <a:bodyPr wrap="square" lIns="0" tIns="0" rIns="0" bIns="0" rtlCol="0" anchor="t"/>
          <a:lstStyle/>
          <a:p>
            <a:pPr marL="0" indent="0" algn="l">
              <a:lnSpc>
                <a:spcPts val="2750"/>
              </a:lnSpc>
              <a:buNone/>
            </a:pPr>
            <a:r>
              <a:rPr lang="en-US" sz="1700" dirty="0">
                <a:solidFill>
                  <a:srgbClr val="E0E4E6"/>
                </a:solidFill>
                <a:latin typeface="Arial" panose="020B0604020202020204" pitchFamily="34" charset="0"/>
                <a:ea typeface="Barlow" pitchFamily="34" charset="-122"/>
                <a:cs typeface="Arial" panose="020B0604020202020204" pitchFamily="34" charset="0"/>
              </a:rPr>
              <a:t>By understanding the strengths of both services and leveraging the broader AWS integration ecosystem, you can build resilient, scalable, and secure distributed applications that meet the demands of today's dynamic cloud environments. Always consider your current infrastructure, future growth, and developer preferences when making your choice.</a:t>
            </a:r>
            <a:endParaRPr lang="en-US" sz="1700" dirty="0">
              <a:latin typeface="Arial" panose="020B0604020202020204" pitchFamily="34" charset="0"/>
              <a:cs typeface="Arial" panose="020B0604020202020204" pitchFamily="34" charset="0"/>
            </a:endParaRPr>
          </a:p>
        </p:txBody>
      </p:sp>
      <p:sp>
        <p:nvSpPr>
          <p:cNvPr id="7" name="Rectangle 6">
            <a:extLst>
              <a:ext uri="{FF2B5EF4-FFF2-40B4-BE49-F238E27FC236}">
                <a16:creationId xmlns:a16="http://schemas.microsoft.com/office/drawing/2014/main" id="{52BBC40E-88CB-3D92-0B00-3D4D7049A4DD}"/>
              </a:ext>
            </a:extLst>
          </p:cNvPr>
          <p:cNvSpPr/>
          <p:nvPr/>
        </p:nvSpPr>
        <p:spPr>
          <a:xfrm>
            <a:off x="12582525" y="7694414"/>
            <a:ext cx="2047875" cy="535186"/>
          </a:xfrm>
          <a:prstGeom prst="rect">
            <a:avLst/>
          </a:prstGeom>
          <a:solidFill>
            <a:srgbClr val="070614"/>
          </a:solidFill>
          <a:effectLst>
            <a:softEdge rad="63500"/>
          </a:effectLst>
        </p:spPr>
        <p:style>
          <a:lnRef idx="1">
            <a:schemeClr val="dk1"/>
          </a:lnRef>
          <a:fillRef idx="3">
            <a:schemeClr val="dk1"/>
          </a:fillRef>
          <a:effectRef idx="2">
            <a:schemeClr val="dk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IN"/>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TotalTime>
  <Words>2478</Words>
  <Application>Microsoft Office PowerPoint</Application>
  <PresentationFormat>Custom</PresentationFormat>
  <Paragraphs>97</Paragraphs>
  <Slides>10</Slides>
  <Notes>10</Notes>
  <HiddenSlides>0</HiddenSlides>
  <MMClips>0</MMClips>
  <ScaleCrop>false</ScaleCrop>
  <HeadingPairs>
    <vt:vector size="6" baseType="variant">
      <vt:variant>
        <vt:lpstr>Fonts Used</vt:lpstr>
      </vt:variant>
      <vt:variant>
        <vt:i4>1</vt:i4>
      </vt:variant>
      <vt:variant>
        <vt:lpstr>Theme</vt:lpstr>
      </vt:variant>
      <vt:variant>
        <vt:i4>1</vt:i4>
      </vt:variant>
      <vt:variant>
        <vt:lpstr>Slide Titles</vt:lpstr>
      </vt:variant>
      <vt:variant>
        <vt:i4>10</vt:i4>
      </vt:variant>
    </vt:vector>
  </HeadingPairs>
  <TitlesOfParts>
    <vt:vector size="12" baseType="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MD Waseem</cp:lastModifiedBy>
  <cp:revision>3</cp:revision>
  <dcterms:created xsi:type="dcterms:W3CDTF">2025-08-17T07:57:10Z</dcterms:created>
  <dcterms:modified xsi:type="dcterms:W3CDTF">2025-08-17T12:26:28Z</dcterms:modified>
</cp:coreProperties>
</file>