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Sora Light" pitchFamily="2" charset="0"/>
      <p:regular r:id="rId13"/>
    </p:embeddedFont>
    <p:embeddedFont>
      <p:font typeface="Sora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6F7"/>
    <a:srgbClr val="F9D2D6"/>
    <a:srgbClr val="790C1C"/>
    <a:srgbClr val="DA1B2E"/>
    <a:srgbClr val="1C1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1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054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6F7"/>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6F7"/>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D2D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DA1B2E"/>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790C1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D2D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C1D1F">
              <a:alpha val="80000"/>
            </a:srgbClr>
          </a:solidFill>
          <a:ln/>
        </p:spPr>
      </p:sp>
      <p:sp>
        <p:nvSpPr>
          <p:cNvPr id="4" name="Text 1"/>
          <p:cNvSpPr/>
          <p:nvPr/>
        </p:nvSpPr>
        <p:spPr>
          <a:xfrm>
            <a:off x="758309" y="1963460"/>
            <a:ext cx="13113782" cy="2494359"/>
          </a:xfrm>
          <a:prstGeom prst="rect">
            <a:avLst/>
          </a:prstGeom>
          <a:noFill/>
          <a:ln/>
        </p:spPr>
        <p:txBody>
          <a:bodyPr wrap="square" lIns="0" tIns="0" rIns="0" bIns="0" rtlCol="0" anchor="t"/>
          <a:lstStyle/>
          <a:p>
            <a:pPr marL="0" indent="0" algn="ctr">
              <a:lnSpc>
                <a:spcPts val="9800"/>
              </a:lnSpc>
              <a:buNone/>
            </a:pPr>
            <a:r>
              <a:rPr lang="en-US" sz="7850" dirty="0">
                <a:solidFill>
                  <a:srgbClr val="DA1B2E"/>
                </a:solidFill>
                <a:latin typeface="Sora Semi Bold" pitchFamily="34" charset="0"/>
                <a:ea typeface="Sora Semi Bold" pitchFamily="34" charset="-122"/>
                <a:cs typeface="Sora Semi Bold" pitchFamily="34" charset="-120"/>
              </a:rPr>
              <a:t>AWS Messaging Services:</a:t>
            </a:r>
            <a:endParaRPr lang="en-US" sz="7850" dirty="0"/>
          </a:p>
        </p:txBody>
      </p:sp>
      <p:sp>
        <p:nvSpPr>
          <p:cNvPr id="5" name="Text 2"/>
          <p:cNvSpPr/>
          <p:nvPr/>
        </p:nvSpPr>
        <p:spPr>
          <a:xfrm>
            <a:off x="2291358" y="4742140"/>
            <a:ext cx="10047565" cy="860465"/>
          </a:xfrm>
          <a:prstGeom prst="rect">
            <a:avLst/>
          </a:prstGeom>
          <a:noFill/>
          <a:ln/>
        </p:spPr>
        <p:txBody>
          <a:bodyPr wrap="none" lIns="0" tIns="0" rIns="0" bIns="0" rtlCol="0" anchor="t"/>
          <a:lstStyle/>
          <a:p>
            <a:pPr marL="0" indent="0" algn="ctr">
              <a:lnSpc>
                <a:spcPts val="6750"/>
              </a:lnSpc>
              <a:buNone/>
            </a:pPr>
            <a:r>
              <a:rPr lang="en-US" sz="5400" dirty="0">
                <a:solidFill>
                  <a:srgbClr val="FFFFFF"/>
                </a:solidFill>
                <a:latin typeface="Sora Semi Bold" pitchFamily="34" charset="0"/>
                <a:ea typeface="Sora Semi Bold" pitchFamily="34" charset="-122"/>
                <a:cs typeface="Sora Semi Bold" pitchFamily="34" charset="-120"/>
              </a:rPr>
              <a:t>Amazon SQS vs. Amazon MQ</a:t>
            </a:r>
            <a:endParaRPr lang="en-US" sz="5400" dirty="0"/>
          </a:p>
        </p:txBody>
      </p:sp>
      <p:sp>
        <p:nvSpPr>
          <p:cNvPr id="6" name="Text 3"/>
          <p:cNvSpPr/>
          <p:nvPr/>
        </p:nvSpPr>
        <p:spPr>
          <a:xfrm>
            <a:off x="758309" y="5886926"/>
            <a:ext cx="13113782" cy="379095"/>
          </a:xfrm>
          <a:prstGeom prst="rect">
            <a:avLst/>
          </a:prstGeom>
          <a:noFill/>
          <a:ln/>
        </p:spPr>
        <p:txBody>
          <a:bodyPr wrap="none" lIns="0" tIns="0" rIns="0" bIns="0" rtlCol="0" anchor="t"/>
          <a:lstStyle/>
          <a:p>
            <a:pPr marL="0" indent="0" algn="ctr">
              <a:lnSpc>
                <a:spcPts val="2950"/>
              </a:lnSpc>
              <a:buNone/>
            </a:pPr>
            <a:r>
              <a:rPr lang="en-US" sz="1850" dirty="0">
                <a:solidFill>
                  <a:srgbClr val="FFFFFF"/>
                </a:solidFill>
                <a:latin typeface="Sora Light" pitchFamily="34" charset="0"/>
                <a:ea typeface="Sora Light" pitchFamily="34" charset="-122"/>
                <a:cs typeface="Sora Light" pitchFamily="34" charset="-120"/>
              </a:rPr>
              <a:t>Decoupling and Scaling Your Cloud Applications</a:t>
            </a:r>
            <a:endParaRPr lang="en-US" sz="1850" dirty="0"/>
          </a:p>
        </p:txBody>
      </p:sp>
      <p:sp>
        <p:nvSpPr>
          <p:cNvPr id="7" name="Rectangle 6">
            <a:extLst>
              <a:ext uri="{FF2B5EF4-FFF2-40B4-BE49-F238E27FC236}">
                <a16:creationId xmlns:a16="http://schemas.microsoft.com/office/drawing/2014/main" id="{B702E4A7-C4C7-4B6E-5BE5-09C67793E2F3}"/>
              </a:ext>
            </a:extLst>
          </p:cNvPr>
          <p:cNvSpPr/>
          <p:nvPr/>
        </p:nvSpPr>
        <p:spPr>
          <a:xfrm>
            <a:off x="12649200" y="7610475"/>
            <a:ext cx="1981200" cy="583763"/>
          </a:xfrm>
          <a:prstGeom prst="rect">
            <a:avLst/>
          </a:prstGeom>
          <a:solidFill>
            <a:srgbClr val="1C1D1F"/>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301948" y="1110615"/>
            <a:ext cx="12026384" cy="623530"/>
          </a:xfrm>
          <a:prstGeom prst="rect">
            <a:avLst/>
          </a:prstGeom>
          <a:noFill/>
          <a:ln/>
        </p:spPr>
        <p:txBody>
          <a:bodyPr wrap="none" lIns="0" tIns="0" rIns="0" bIns="0" rtlCol="0" anchor="t"/>
          <a:lstStyle/>
          <a:p>
            <a:pPr marL="0" indent="0" algn="ctr">
              <a:lnSpc>
                <a:spcPts val="4900"/>
              </a:lnSpc>
              <a:buNone/>
            </a:pPr>
            <a:r>
              <a:rPr lang="en-US" sz="3900" dirty="0">
                <a:solidFill>
                  <a:srgbClr val="1F1E1E"/>
                </a:solidFill>
                <a:latin typeface="Sora Semi Bold" pitchFamily="34" charset="0"/>
                <a:ea typeface="Sora Semi Bold" pitchFamily="34" charset="-122"/>
                <a:cs typeface="Sora Semi Bold" pitchFamily="34" charset="-120"/>
              </a:rPr>
              <a:t>Why Messaging Matters in Cloud Architectures</a:t>
            </a:r>
            <a:endParaRPr lang="en-US" sz="3900" dirty="0"/>
          </a:p>
        </p:txBody>
      </p:sp>
      <p:sp>
        <p:nvSpPr>
          <p:cNvPr id="3" name="Text 1"/>
          <p:cNvSpPr/>
          <p:nvPr/>
        </p:nvSpPr>
        <p:spPr>
          <a:xfrm>
            <a:off x="758309" y="2113240"/>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In modern cloud-native and distributed systems, messaging services are not just an add-on; they are a fundamental component that underpins system stability, scalability, and responsiveness. They act as the central nervous system, ensuring that different parts of your application can communicate efficiently and reliably, even when faced with high loads or component failures.</a:t>
            </a:r>
            <a:endParaRPr lang="en-US" sz="1450" dirty="0"/>
          </a:p>
        </p:txBody>
      </p:sp>
      <p:sp>
        <p:nvSpPr>
          <p:cNvPr id="4" name="Shape 2"/>
          <p:cNvSpPr/>
          <p:nvPr/>
        </p:nvSpPr>
        <p:spPr>
          <a:xfrm>
            <a:off x="758309" y="3236238"/>
            <a:ext cx="6462117" cy="3882747"/>
          </a:xfrm>
          <a:prstGeom prst="roundRect">
            <a:avLst>
              <a:gd name="adj" fmla="val 2826"/>
            </a:avLst>
          </a:prstGeom>
          <a:solidFill>
            <a:srgbClr val="FFFFFF"/>
          </a:solidFill>
          <a:ln w="22860">
            <a:solidFill>
              <a:srgbClr val="DFB8BC"/>
            </a:solidFill>
            <a:prstDash val="solid"/>
          </a:ln>
        </p:spPr>
      </p:sp>
      <p:sp>
        <p:nvSpPr>
          <p:cNvPr id="5" name="Shape 3"/>
          <p:cNvSpPr/>
          <p:nvPr/>
        </p:nvSpPr>
        <p:spPr>
          <a:xfrm>
            <a:off x="735449" y="3236238"/>
            <a:ext cx="91440" cy="3882747"/>
          </a:xfrm>
          <a:prstGeom prst="roundRect">
            <a:avLst>
              <a:gd name="adj" fmla="val 87077"/>
            </a:avLst>
          </a:prstGeom>
          <a:solidFill>
            <a:srgbClr val="DA1B2E"/>
          </a:solidFill>
          <a:ln/>
        </p:spPr>
      </p:sp>
      <p:sp>
        <p:nvSpPr>
          <p:cNvPr id="6" name="Text 4"/>
          <p:cNvSpPr/>
          <p:nvPr/>
        </p:nvSpPr>
        <p:spPr>
          <a:xfrm>
            <a:off x="1039297" y="3448645"/>
            <a:ext cx="3361134" cy="311706"/>
          </a:xfrm>
          <a:prstGeom prst="rect">
            <a:avLst/>
          </a:prstGeom>
          <a:noFill/>
          <a:ln/>
        </p:spPr>
        <p:txBody>
          <a:bodyPr wrap="none" lIns="0" tIns="0" rIns="0" bIns="0" rtlCol="0" anchor="t"/>
          <a:lstStyle/>
          <a:p>
            <a:pPr marL="0" indent="0" algn="l">
              <a:lnSpc>
                <a:spcPts val="2450"/>
              </a:lnSpc>
              <a:buNone/>
            </a:pPr>
            <a:r>
              <a:rPr lang="en-US" sz="1950" dirty="0">
                <a:solidFill>
                  <a:srgbClr val="DA1B2E"/>
                </a:solidFill>
                <a:latin typeface="Sora Semi Bold" pitchFamily="34" charset="0"/>
                <a:ea typeface="Sora Semi Bold" pitchFamily="34" charset="-122"/>
                <a:cs typeface="Sora Semi Bold" pitchFamily="34" charset="-120"/>
              </a:rPr>
              <a:t>Decoupling Microservices</a:t>
            </a:r>
            <a:endParaRPr lang="en-US" sz="1950" dirty="0"/>
          </a:p>
        </p:txBody>
      </p:sp>
      <p:sp>
        <p:nvSpPr>
          <p:cNvPr id="7" name="Text 5"/>
          <p:cNvSpPr/>
          <p:nvPr/>
        </p:nvSpPr>
        <p:spPr>
          <a:xfrm>
            <a:off x="1039297" y="3874056"/>
            <a:ext cx="5968722" cy="2729270"/>
          </a:xfrm>
          <a:prstGeom prst="rect">
            <a:avLst/>
          </a:prstGeom>
          <a:noFill/>
          <a:ln/>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Messaging services allow for loose coupling between microservices and distributed systems. Instead of direct, synchronous calls that can create tight dependencies and single points of failure, services communicate by sending and receiving messages via an intermediary queue or broker. This means a producer service doesn't need to know if the consumer service is available or how many instances are running, significantly enhancing system resilience and flexibility.</a:t>
            </a:r>
            <a:endParaRPr lang="en-US" sz="1450" dirty="0"/>
          </a:p>
        </p:txBody>
      </p:sp>
      <p:sp>
        <p:nvSpPr>
          <p:cNvPr id="8" name="Shape 6"/>
          <p:cNvSpPr/>
          <p:nvPr/>
        </p:nvSpPr>
        <p:spPr>
          <a:xfrm>
            <a:off x="7409974" y="3236238"/>
            <a:ext cx="6462117" cy="3882747"/>
          </a:xfrm>
          <a:prstGeom prst="roundRect">
            <a:avLst>
              <a:gd name="adj" fmla="val 2826"/>
            </a:avLst>
          </a:prstGeom>
          <a:solidFill>
            <a:srgbClr val="FFFFFF"/>
          </a:solidFill>
          <a:ln w="22860">
            <a:solidFill>
              <a:srgbClr val="DFB8BC"/>
            </a:solidFill>
            <a:prstDash val="solid"/>
          </a:ln>
        </p:spPr>
      </p:sp>
      <p:sp>
        <p:nvSpPr>
          <p:cNvPr id="9" name="Shape 7"/>
          <p:cNvSpPr/>
          <p:nvPr/>
        </p:nvSpPr>
        <p:spPr>
          <a:xfrm>
            <a:off x="7387114" y="3236238"/>
            <a:ext cx="91440" cy="3882747"/>
          </a:xfrm>
          <a:prstGeom prst="roundRect">
            <a:avLst>
              <a:gd name="adj" fmla="val 87077"/>
            </a:avLst>
          </a:prstGeom>
          <a:solidFill>
            <a:srgbClr val="DA1B2E"/>
          </a:solidFill>
          <a:ln/>
        </p:spPr>
      </p:sp>
      <p:sp>
        <p:nvSpPr>
          <p:cNvPr id="10" name="Text 8"/>
          <p:cNvSpPr/>
          <p:nvPr/>
        </p:nvSpPr>
        <p:spPr>
          <a:xfrm>
            <a:off x="7690961" y="3448645"/>
            <a:ext cx="5146238" cy="311706"/>
          </a:xfrm>
          <a:prstGeom prst="rect">
            <a:avLst/>
          </a:prstGeom>
          <a:noFill/>
          <a:ln/>
        </p:spPr>
        <p:txBody>
          <a:bodyPr wrap="none" lIns="0" tIns="0" rIns="0" bIns="0" rtlCol="0" anchor="t"/>
          <a:lstStyle/>
          <a:p>
            <a:pPr marL="0" indent="0" algn="l">
              <a:lnSpc>
                <a:spcPts val="2450"/>
              </a:lnSpc>
              <a:buNone/>
            </a:pPr>
            <a:r>
              <a:rPr lang="en-US" sz="1950" dirty="0">
                <a:solidFill>
                  <a:srgbClr val="DA1B2E"/>
                </a:solidFill>
                <a:latin typeface="Sora Semi Bold" pitchFamily="34" charset="0"/>
                <a:ea typeface="Sora Semi Bold" pitchFamily="34" charset="-122"/>
                <a:cs typeface="Sora Semi Bold" pitchFamily="34" charset="-120"/>
              </a:rPr>
              <a:t>Enabling Asynchronous Communication</a:t>
            </a:r>
            <a:endParaRPr lang="en-US" sz="1950" dirty="0"/>
          </a:p>
        </p:txBody>
      </p:sp>
      <p:sp>
        <p:nvSpPr>
          <p:cNvPr id="11" name="Text 9"/>
          <p:cNvSpPr/>
          <p:nvPr/>
        </p:nvSpPr>
        <p:spPr>
          <a:xfrm>
            <a:off x="7690961" y="3874056"/>
            <a:ext cx="5968722" cy="3032522"/>
          </a:xfrm>
          <a:prstGeom prst="rect">
            <a:avLst/>
          </a:prstGeom>
          <a:noFill/>
          <a:ln/>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Asynchronous communication is critical for improving fault tolerance and overall performance. When a service sends a message to a queue, it doesn't wait for a direct response. This non-blocking behavior allows the sending service to continue processing other tasks immediately. If a consuming service fails, the message remains in the queue, ready to be processed once the consumer recovers, preventing data loss and ensuring eventual consistency. This pattern is particularly useful for long-running processes, batch operations, and event-driven architectures.</a:t>
            </a:r>
            <a:endParaRPr lang="en-US" sz="1450" dirty="0"/>
          </a:p>
        </p:txBody>
      </p:sp>
      <p:sp>
        <p:nvSpPr>
          <p:cNvPr id="12" name="Rectangle 11">
            <a:extLst>
              <a:ext uri="{FF2B5EF4-FFF2-40B4-BE49-F238E27FC236}">
                <a16:creationId xmlns:a16="http://schemas.microsoft.com/office/drawing/2014/main" id="{5155C963-DC11-9738-4772-86C6F8BEB45B}"/>
              </a:ext>
            </a:extLst>
          </p:cNvPr>
          <p:cNvSpPr/>
          <p:nvPr/>
        </p:nvSpPr>
        <p:spPr>
          <a:xfrm>
            <a:off x="12649200" y="7610475"/>
            <a:ext cx="1981200" cy="583763"/>
          </a:xfrm>
          <a:prstGeom prst="rect">
            <a:avLst/>
          </a:prstGeom>
          <a:solidFill>
            <a:srgbClr val="FFFFFF"/>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11002" y="560427"/>
            <a:ext cx="4589264" cy="513755"/>
          </a:xfrm>
          <a:prstGeom prst="rect">
            <a:avLst/>
          </a:prstGeom>
          <a:noFill/>
          <a:ln/>
        </p:spPr>
        <p:txBody>
          <a:bodyPr wrap="none" lIns="0" tIns="0" rIns="0" bIns="0" rtlCol="0" anchor="t"/>
          <a:lstStyle/>
          <a:p>
            <a:pPr marL="0" indent="0" algn="l">
              <a:lnSpc>
                <a:spcPts val="4000"/>
              </a:lnSpc>
              <a:buNone/>
            </a:pPr>
            <a:r>
              <a:rPr lang="en-US" sz="3200" dirty="0">
                <a:solidFill>
                  <a:srgbClr val="1F1E1E"/>
                </a:solidFill>
                <a:latin typeface="Sora Semi Bold" pitchFamily="34" charset="0"/>
                <a:ea typeface="Sora Semi Bold" pitchFamily="34" charset="-122"/>
                <a:cs typeface="Sora Semi Bold" pitchFamily="34" charset="-120"/>
              </a:rPr>
              <a:t>What is Amazon SQS?</a:t>
            </a:r>
            <a:endParaRPr lang="en-US" sz="3200" dirty="0"/>
          </a:p>
        </p:txBody>
      </p:sp>
      <p:sp>
        <p:nvSpPr>
          <p:cNvPr id="4" name="Text 1"/>
          <p:cNvSpPr/>
          <p:nvPr/>
        </p:nvSpPr>
        <p:spPr>
          <a:xfrm>
            <a:off x="6111002" y="1308378"/>
            <a:ext cx="7894796" cy="999649"/>
          </a:xfrm>
          <a:prstGeom prst="rect">
            <a:avLst/>
          </a:prstGeom>
          <a:noFill/>
          <a:ln/>
        </p:spPr>
        <p:txBody>
          <a:bodyPr wrap="square" lIns="0" tIns="0" rIns="0" bIns="0" rtlCol="0" anchor="t"/>
          <a:lstStyle/>
          <a:p>
            <a:pPr marL="0" indent="0" algn="l">
              <a:lnSpc>
                <a:spcPts val="1950"/>
              </a:lnSpc>
              <a:buNone/>
            </a:pPr>
            <a:r>
              <a:rPr lang="en-US" sz="1200" dirty="0">
                <a:solidFill>
                  <a:srgbClr val="3B3535"/>
                </a:solidFill>
                <a:latin typeface="Sora Light" pitchFamily="34" charset="0"/>
                <a:ea typeface="Sora Light" pitchFamily="34" charset="-122"/>
                <a:cs typeface="Sora Light" pitchFamily="34" charset="-120"/>
              </a:rPr>
              <a:t>Amazon Simple Queue Service (SQS) is a fully managed message queuing service that enables you to decouple and scale microservices, distributed systems, and serverless applications. As the first service launched by AWS in 2004, SQS has a long-standing reputation for reliability and scalability, making it a cornerstone for many cloud architectures.</a:t>
            </a:r>
            <a:endParaRPr lang="en-US" sz="1200" dirty="0"/>
          </a:p>
        </p:txBody>
      </p:sp>
      <p:sp>
        <p:nvSpPr>
          <p:cNvPr id="5" name="Text 2"/>
          <p:cNvSpPr/>
          <p:nvPr/>
        </p:nvSpPr>
        <p:spPr>
          <a:xfrm>
            <a:off x="6111002" y="2483644"/>
            <a:ext cx="7894796" cy="749737"/>
          </a:xfrm>
          <a:prstGeom prst="rect">
            <a:avLst/>
          </a:prstGeom>
          <a:noFill/>
          <a:ln/>
        </p:spPr>
        <p:txBody>
          <a:bodyPr wrap="square" lIns="0" tIns="0" rIns="0" bIns="0" rtlCol="0" anchor="t"/>
          <a:lstStyle/>
          <a:p>
            <a:pPr marL="342900"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Fully Managed &amp; Highly Scalable:</a:t>
            </a:r>
            <a:r>
              <a:rPr lang="en-US" sz="1200" dirty="0">
                <a:solidFill>
                  <a:srgbClr val="3B3535"/>
                </a:solidFill>
                <a:latin typeface="Sora Light" pitchFamily="34" charset="0"/>
                <a:ea typeface="Sora Light" pitchFamily="34" charset="-122"/>
                <a:cs typeface="Sora Light" pitchFamily="34" charset="-120"/>
              </a:rPr>
              <a:t> SQS handles all the operational heavy lifting, including infrastructure scaling, maintenance, and patching. You don't need to worry about provisioning servers or managing capacity; SQS automatically scales to meet your demand.</a:t>
            </a:r>
            <a:endParaRPr lang="en-US" sz="1200" dirty="0"/>
          </a:p>
        </p:txBody>
      </p:sp>
      <p:sp>
        <p:nvSpPr>
          <p:cNvPr id="6" name="Text 3"/>
          <p:cNvSpPr/>
          <p:nvPr/>
        </p:nvSpPr>
        <p:spPr>
          <a:xfrm>
            <a:off x="6111002" y="3288030"/>
            <a:ext cx="7894796" cy="249912"/>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Queue Types:</a:t>
            </a:r>
            <a:r>
              <a:rPr lang="en-US" sz="1200" dirty="0">
                <a:solidFill>
                  <a:srgbClr val="3B3535"/>
                </a:solidFill>
                <a:latin typeface="Sora Light" pitchFamily="34" charset="0"/>
                <a:ea typeface="Sora Light" pitchFamily="34" charset="-122"/>
                <a:cs typeface="Sora Light" pitchFamily="34" charset="-120"/>
              </a:rPr>
              <a:t> SQS offers two primary types of queues:</a:t>
            </a:r>
            <a:endParaRPr lang="en-US" sz="1200" dirty="0"/>
          </a:p>
        </p:txBody>
      </p:sp>
      <p:sp>
        <p:nvSpPr>
          <p:cNvPr id="7" name="Text 4"/>
          <p:cNvSpPr/>
          <p:nvPr/>
        </p:nvSpPr>
        <p:spPr>
          <a:xfrm>
            <a:off x="6111002" y="3592592"/>
            <a:ext cx="7894796" cy="749737"/>
          </a:xfrm>
          <a:prstGeom prst="rect">
            <a:avLst/>
          </a:prstGeom>
          <a:noFill/>
          <a:ln/>
        </p:spPr>
        <p:txBody>
          <a:bodyPr wrap="squar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Standard Queues:</a:t>
            </a:r>
            <a:r>
              <a:rPr lang="en-US" sz="1200" dirty="0">
                <a:solidFill>
                  <a:srgbClr val="3B3535"/>
                </a:solidFill>
                <a:latin typeface="Sora Light" pitchFamily="34" charset="0"/>
                <a:ea typeface="Sora Light" pitchFamily="34" charset="-122"/>
                <a:cs typeface="Sora Light" pitchFamily="34" charset="-120"/>
              </a:rPr>
              <a:t> Provide at-least-once delivery, meaning a message might be delivered more than once, but it is guaranteed to be delivered at least once. They offer maximum throughput for high-volume, non-ordered message processing.</a:t>
            </a:r>
            <a:endParaRPr lang="en-US" sz="1200" dirty="0"/>
          </a:p>
        </p:txBody>
      </p:sp>
      <p:sp>
        <p:nvSpPr>
          <p:cNvPr id="8" name="Text 5"/>
          <p:cNvSpPr/>
          <p:nvPr/>
        </p:nvSpPr>
        <p:spPr>
          <a:xfrm>
            <a:off x="6111002" y="4396978"/>
            <a:ext cx="7894796" cy="999649"/>
          </a:xfrm>
          <a:prstGeom prst="rect">
            <a:avLst/>
          </a:prstGeom>
          <a:noFill/>
          <a:ln/>
        </p:spPr>
        <p:txBody>
          <a:bodyPr wrap="squar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FIFO (First-In, First-Out) Queues:</a:t>
            </a:r>
            <a:r>
              <a:rPr lang="en-US" sz="1200" dirty="0">
                <a:solidFill>
                  <a:srgbClr val="3B3535"/>
                </a:solidFill>
                <a:latin typeface="Sora Light" pitchFamily="34" charset="0"/>
                <a:ea typeface="Sora Light" pitchFamily="34" charset="-122"/>
                <a:cs typeface="Sora Light" pitchFamily="34" charset="-120"/>
              </a:rPr>
              <a:t> Guarantee exactly-once processing and maintain the order in which messages are sent and received. This is crucial for applications where the order of operations and preventing duplicates are critical, such as financial transactions or inventory updates.</a:t>
            </a:r>
            <a:endParaRPr lang="en-US" sz="1200" dirty="0"/>
          </a:p>
        </p:txBody>
      </p:sp>
      <p:sp>
        <p:nvSpPr>
          <p:cNvPr id="9" name="Text 6"/>
          <p:cNvSpPr/>
          <p:nvPr/>
        </p:nvSpPr>
        <p:spPr>
          <a:xfrm>
            <a:off x="6111002" y="5451277"/>
            <a:ext cx="7894796" cy="249912"/>
          </a:xfrm>
          <a:prstGeom prst="rect">
            <a:avLst/>
          </a:prstGeom>
          <a:noFill/>
          <a:ln/>
        </p:spPr>
        <p:txBody>
          <a:bodyPr wrap="none" lIns="0" tIns="0" rIns="0" bIns="0" rtlCol="0" anchor="t"/>
          <a:lstStyle/>
          <a:p>
            <a:pPr marL="342900"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Built-in Features:</a:t>
            </a:r>
            <a:r>
              <a:rPr lang="en-US" sz="1200" dirty="0">
                <a:solidFill>
                  <a:srgbClr val="3B3535"/>
                </a:solidFill>
                <a:latin typeface="Sora Light" pitchFamily="34" charset="0"/>
                <a:ea typeface="Sora Light" pitchFamily="34" charset="-122"/>
                <a:cs typeface="Sora Light" pitchFamily="34" charset="-120"/>
              </a:rPr>
              <a:t> SQS provides essential messaging features out-of-the-box, including:</a:t>
            </a:r>
            <a:endParaRPr lang="en-US" sz="1200" dirty="0"/>
          </a:p>
        </p:txBody>
      </p:sp>
      <p:sp>
        <p:nvSpPr>
          <p:cNvPr id="10" name="Text 7"/>
          <p:cNvSpPr/>
          <p:nvPr/>
        </p:nvSpPr>
        <p:spPr>
          <a:xfrm>
            <a:off x="6111002" y="5755838"/>
            <a:ext cx="7894796" cy="249912"/>
          </a:xfrm>
          <a:prstGeom prst="rect">
            <a:avLst/>
          </a:prstGeom>
          <a:noFill/>
          <a:ln/>
        </p:spPr>
        <p:txBody>
          <a:bodyPr wrap="non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Message Storage:</a:t>
            </a:r>
            <a:r>
              <a:rPr lang="en-US" sz="1200" dirty="0">
                <a:solidFill>
                  <a:srgbClr val="3B3535"/>
                </a:solidFill>
                <a:latin typeface="Sora Light" pitchFamily="34" charset="0"/>
                <a:ea typeface="Sora Light" pitchFamily="34" charset="-122"/>
                <a:cs typeface="Sora Light" pitchFamily="34" charset="-120"/>
              </a:rPr>
              <a:t> Messages are stored securely until processed.</a:t>
            </a:r>
            <a:endParaRPr lang="en-US" sz="1200" dirty="0"/>
          </a:p>
        </p:txBody>
      </p:sp>
      <p:sp>
        <p:nvSpPr>
          <p:cNvPr id="11" name="Text 8"/>
          <p:cNvSpPr/>
          <p:nvPr/>
        </p:nvSpPr>
        <p:spPr>
          <a:xfrm>
            <a:off x="6111002" y="6060400"/>
            <a:ext cx="7894796" cy="499824"/>
          </a:xfrm>
          <a:prstGeom prst="rect">
            <a:avLst/>
          </a:prstGeom>
          <a:noFill/>
          <a:ln/>
        </p:spPr>
        <p:txBody>
          <a:bodyPr wrap="squar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Visibility Timeout:</a:t>
            </a:r>
            <a:r>
              <a:rPr lang="en-US" sz="1200" dirty="0">
                <a:solidFill>
                  <a:srgbClr val="3B3535"/>
                </a:solidFill>
                <a:latin typeface="Sora Light" pitchFamily="34" charset="0"/>
                <a:ea typeface="Sora Light" pitchFamily="34" charset="-122"/>
                <a:cs typeface="Sora Light" pitchFamily="34" charset="-120"/>
              </a:rPr>
              <a:t> Prevents other consumers from processing a message that is currently being handled, ensuring unique processing.</a:t>
            </a:r>
            <a:endParaRPr lang="en-US" sz="1200" dirty="0"/>
          </a:p>
        </p:txBody>
      </p:sp>
      <p:sp>
        <p:nvSpPr>
          <p:cNvPr id="12" name="Text 9"/>
          <p:cNvSpPr/>
          <p:nvPr/>
        </p:nvSpPr>
        <p:spPr>
          <a:xfrm>
            <a:off x="6111002" y="6614874"/>
            <a:ext cx="7894796" cy="499824"/>
          </a:xfrm>
          <a:prstGeom prst="rect">
            <a:avLst/>
          </a:prstGeom>
          <a:noFill/>
          <a:ln/>
        </p:spPr>
        <p:txBody>
          <a:bodyPr wrap="squar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Dead-Letter Queues (DLQs):</a:t>
            </a:r>
            <a:r>
              <a:rPr lang="en-US" sz="1200" dirty="0">
                <a:solidFill>
                  <a:srgbClr val="3B3535"/>
                </a:solidFill>
                <a:latin typeface="Sora Light" pitchFamily="34" charset="0"/>
                <a:ea typeface="Sora Light" pitchFamily="34" charset="-122"/>
                <a:cs typeface="Sora Light" pitchFamily="34" charset="-120"/>
              </a:rPr>
              <a:t> Automatically reroutes messages that fail to be processed after a certain number of attempts, allowing for easier debugging and error handling.</a:t>
            </a:r>
            <a:endParaRPr lang="en-US" sz="1200" dirty="0"/>
          </a:p>
        </p:txBody>
      </p:sp>
      <p:sp>
        <p:nvSpPr>
          <p:cNvPr id="13" name="Text 10"/>
          <p:cNvSpPr/>
          <p:nvPr/>
        </p:nvSpPr>
        <p:spPr>
          <a:xfrm>
            <a:off x="6111002" y="7169348"/>
            <a:ext cx="7894796" cy="499824"/>
          </a:xfrm>
          <a:prstGeom prst="rect">
            <a:avLst/>
          </a:prstGeom>
          <a:noFill/>
          <a:ln/>
        </p:spPr>
        <p:txBody>
          <a:bodyPr wrap="square" lIns="0" tIns="0" rIns="0" bIns="0" rtlCol="0" anchor="t"/>
          <a:lstStyle/>
          <a:p>
            <a:pPr marL="685800" lvl="1" indent="-342900" algn="l">
              <a:lnSpc>
                <a:spcPts val="1950"/>
              </a:lnSpc>
              <a:buSzPct val="100000"/>
              <a:buChar char="•"/>
            </a:pPr>
            <a:r>
              <a:rPr lang="en-US" sz="1200" b="1" dirty="0">
                <a:solidFill>
                  <a:srgbClr val="3B3535"/>
                </a:solidFill>
                <a:latin typeface="Sora Light" pitchFamily="34" charset="0"/>
                <a:ea typeface="Sora Light" pitchFamily="34" charset="-122"/>
                <a:cs typeface="Sora Light" pitchFamily="34" charset="-120"/>
              </a:rPr>
              <a:t>Encryption:</a:t>
            </a:r>
            <a:r>
              <a:rPr lang="en-US" sz="1200" dirty="0">
                <a:solidFill>
                  <a:srgbClr val="3B3535"/>
                </a:solidFill>
                <a:latin typeface="Sora Light" pitchFamily="34" charset="0"/>
                <a:ea typeface="Sora Light" pitchFamily="34" charset="-122"/>
                <a:cs typeface="Sora Light" pitchFamily="34" charset="-120"/>
              </a:rPr>
              <a:t> Supports server-side encryption using AWS Key Management Service (KMS) for data at rest.</a:t>
            </a:r>
            <a:endParaRPr lang="en-US" sz="1200" dirty="0"/>
          </a:p>
        </p:txBody>
      </p:sp>
      <p:sp>
        <p:nvSpPr>
          <p:cNvPr id="14" name="Rectangle 13">
            <a:extLst>
              <a:ext uri="{FF2B5EF4-FFF2-40B4-BE49-F238E27FC236}">
                <a16:creationId xmlns:a16="http://schemas.microsoft.com/office/drawing/2014/main" id="{2B003141-E096-9397-12DC-5E720BBCA066}"/>
              </a:ext>
            </a:extLst>
          </p:cNvPr>
          <p:cNvSpPr/>
          <p:nvPr/>
        </p:nvSpPr>
        <p:spPr>
          <a:xfrm>
            <a:off x="12649200" y="7610475"/>
            <a:ext cx="1981200" cy="583763"/>
          </a:xfrm>
          <a:prstGeom prst="rect">
            <a:avLst/>
          </a:prstGeom>
          <a:solidFill>
            <a:srgbClr val="FFFFFF"/>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3177" y="449223"/>
            <a:ext cx="8156496" cy="537210"/>
          </a:xfrm>
          <a:prstGeom prst="rect">
            <a:avLst/>
          </a:prstGeom>
          <a:noFill/>
          <a:ln/>
        </p:spPr>
        <p:txBody>
          <a:bodyPr wrap="none" lIns="0" tIns="0" rIns="0" bIns="0" rtlCol="0" anchor="t"/>
          <a:lstStyle/>
          <a:p>
            <a:pPr marL="0" indent="0" algn="l">
              <a:lnSpc>
                <a:spcPts val="4200"/>
              </a:lnSpc>
              <a:buNone/>
            </a:pPr>
            <a:r>
              <a:rPr lang="en-US" sz="3350" dirty="0">
                <a:solidFill>
                  <a:srgbClr val="1F1E1E"/>
                </a:solidFill>
                <a:latin typeface="Sora Semi Bold" pitchFamily="34" charset="0"/>
                <a:ea typeface="Sora Semi Bold" pitchFamily="34" charset="-122"/>
                <a:cs typeface="Sora Semi Bold" pitchFamily="34" charset="-120"/>
              </a:rPr>
              <a:t>Amazon SQS: Key Benefits &amp; Features</a:t>
            </a:r>
            <a:endParaRPr lang="en-US" sz="3350" dirty="0"/>
          </a:p>
        </p:txBody>
      </p:sp>
      <p:sp>
        <p:nvSpPr>
          <p:cNvPr id="3" name="Text 1"/>
          <p:cNvSpPr/>
          <p:nvPr/>
        </p:nvSpPr>
        <p:spPr>
          <a:xfrm>
            <a:off x="653177" y="1313021"/>
            <a:ext cx="13324046" cy="522684"/>
          </a:xfrm>
          <a:prstGeom prst="rect">
            <a:avLst/>
          </a:prstGeom>
          <a:noFill/>
          <a:ln/>
        </p:spPr>
        <p:txBody>
          <a:bodyPr wrap="square" lIns="0" tIns="0" rIns="0" bIns="0" rtlCol="0" anchor="t"/>
          <a:lstStyle/>
          <a:p>
            <a:pPr marL="0" indent="0" algn="l">
              <a:lnSpc>
                <a:spcPts val="2050"/>
              </a:lnSpc>
              <a:buNone/>
            </a:pPr>
            <a:r>
              <a:rPr lang="en-US" sz="1250" dirty="0">
                <a:solidFill>
                  <a:srgbClr val="3B3535"/>
                </a:solidFill>
                <a:latin typeface="Sora Light" pitchFamily="34" charset="0"/>
                <a:ea typeface="Sora Light" pitchFamily="34" charset="-122"/>
                <a:cs typeface="Sora Light" pitchFamily="34" charset="-120"/>
              </a:rPr>
              <a:t>Amazon SQS stands out for its simplicity, cost-effectiveness, and deep integration within the AWS ecosystem, making it a go-to choice for cloud-native applications.</a:t>
            </a:r>
            <a:endParaRPr lang="en-US" sz="1250" dirty="0"/>
          </a:p>
        </p:txBody>
      </p:sp>
      <p:sp>
        <p:nvSpPr>
          <p:cNvPr id="4" name="Shape 2"/>
          <p:cNvSpPr/>
          <p:nvPr/>
        </p:nvSpPr>
        <p:spPr>
          <a:xfrm>
            <a:off x="653177" y="1657469"/>
            <a:ext cx="6580346" cy="2668191"/>
          </a:xfrm>
          <a:prstGeom prst="roundRect">
            <a:avLst>
              <a:gd name="adj" fmla="val 2571"/>
            </a:avLst>
          </a:prstGeom>
          <a:solidFill>
            <a:srgbClr val="F9D2D6"/>
          </a:solidFill>
          <a:ln w="7620">
            <a:solidFill>
              <a:srgbClr val="DA1B2E"/>
            </a:solidFill>
            <a:prstDash val="solid"/>
          </a:ln>
        </p:spPr>
      </p:sp>
      <p:sp>
        <p:nvSpPr>
          <p:cNvPr id="5" name="Shape 3"/>
          <p:cNvSpPr/>
          <p:nvPr/>
        </p:nvSpPr>
        <p:spPr>
          <a:xfrm>
            <a:off x="824032" y="1828324"/>
            <a:ext cx="489942" cy="489942"/>
          </a:xfrm>
          <a:prstGeom prst="roundRect">
            <a:avLst>
              <a:gd name="adj" fmla="val 18661567"/>
            </a:avLst>
          </a:prstGeom>
          <a:solidFill>
            <a:srgbClr val="DA1B2E"/>
          </a:solidFill>
          <a:ln/>
        </p:spPr>
      </p:sp>
      <p:pic>
        <p:nvPicPr>
          <p:cNvPr id="6" name="Image 0" descr="preencoded.png"/>
          <p:cNvPicPr>
            <a:picLocks noChangeAspect="1"/>
          </p:cNvPicPr>
          <p:nvPr/>
        </p:nvPicPr>
        <p:blipFill>
          <a:blip r:embed="rId3"/>
          <a:stretch>
            <a:fillRect/>
          </a:stretch>
        </p:blipFill>
        <p:spPr>
          <a:xfrm>
            <a:off x="958810" y="1935480"/>
            <a:ext cx="220385" cy="275511"/>
          </a:xfrm>
          <a:prstGeom prst="rect">
            <a:avLst/>
          </a:prstGeom>
        </p:spPr>
      </p:pic>
      <p:sp>
        <p:nvSpPr>
          <p:cNvPr id="7" name="Text 4"/>
          <p:cNvSpPr/>
          <p:nvPr/>
        </p:nvSpPr>
        <p:spPr>
          <a:xfrm>
            <a:off x="824032" y="2481501"/>
            <a:ext cx="2378035" cy="268605"/>
          </a:xfrm>
          <a:prstGeom prst="rect">
            <a:avLst/>
          </a:prstGeom>
          <a:noFill/>
          <a:ln/>
        </p:spPr>
        <p:txBody>
          <a:bodyPr wrap="none" lIns="0" tIns="0" rIns="0" bIns="0" rtlCol="0" anchor="t"/>
          <a:lstStyle/>
          <a:p>
            <a:pPr marL="0" indent="0" algn="l">
              <a:lnSpc>
                <a:spcPts val="2100"/>
              </a:lnSpc>
              <a:buNone/>
            </a:pPr>
            <a:r>
              <a:rPr lang="en-US" sz="1650" dirty="0">
                <a:solidFill>
                  <a:srgbClr val="FFF6F7"/>
                </a:solidFill>
                <a:latin typeface="Sora Semi Bold" pitchFamily="34" charset="0"/>
                <a:ea typeface="Sora Semi Bold" pitchFamily="34" charset="-122"/>
                <a:cs typeface="Sora Semi Bold" pitchFamily="34" charset="-120"/>
              </a:rPr>
              <a:t>Automatic Scalability</a:t>
            </a:r>
            <a:endParaRPr lang="en-US" sz="1650" dirty="0"/>
          </a:p>
        </p:txBody>
      </p:sp>
      <p:sp>
        <p:nvSpPr>
          <p:cNvPr id="8" name="Text 5"/>
          <p:cNvSpPr/>
          <p:nvPr/>
        </p:nvSpPr>
        <p:spPr>
          <a:xfrm>
            <a:off x="824032" y="2848094"/>
            <a:ext cx="6238637" cy="1045369"/>
          </a:xfrm>
          <a:prstGeom prst="rect">
            <a:avLst/>
          </a:prstGeom>
          <a:noFill/>
          <a:ln/>
        </p:spPr>
        <p:txBody>
          <a:bodyPr wrap="square" lIns="0" tIns="0" rIns="0" bIns="0" rtlCol="0" anchor="t"/>
          <a:lstStyle/>
          <a:p>
            <a:pPr marL="0" indent="0" algn="l">
              <a:lnSpc>
                <a:spcPts val="2050"/>
              </a:lnSpc>
              <a:buNone/>
            </a:pPr>
            <a:r>
              <a:rPr lang="en-US" sz="1250" dirty="0">
                <a:solidFill>
                  <a:srgbClr val="3B3535"/>
                </a:solidFill>
                <a:latin typeface="Sora Light" pitchFamily="34" charset="0"/>
                <a:ea typeface="Sora Light" pitchFamily="34" charset="-122"/>
                <a:cs typeface="Sora Light" pitchFamily="34" charset="-120"/>
              </a:rPr>
              <a:t>SQS automatically scales to handle any volume of messages, from a few to millions per second, without requiring you to provision or manage servers. This elasticity ensures your application can handle peak loads seamlessly, without performance degradation.</a:t>
            </a:r>
            <a:endParaRPr lang="en-US" sz="1250" dirty="0"/>
          </a:p>
        </p:txBody>
      </p:sp>
      <p:sp>
        <p:nvSpPr>
          <p:cNvPr id="9" name="Shape 6"/>
          <p:cNvSpPr/>
          <p:nvPr/>
        </p:nvSpPr>
        <p:spPr>
          <a:xfrm>
            <a:off x="7396758" y="1657469"/>
            <a:ext cx="6580465" cy="2668191"/>
          </a:xfrm>
          <a:prstGeom prst="roundRect">
            <a:avLst>
              <a:gd name="adj" fmla="val 2571"/>
            </a:avLst>
          </a:prstGeom>
          <a:solidFill>
            <a:srgbClr val="F9D2D6"/>
          </a:solidFill>
          <a:ln w="7620">
            <a:solidFill>
              <a:srgbClr val="DA1B2E"/>
            </a:solidFill>
            <a:prstDash val="solid"/>
          </a:ln>
        </p:spPr>
      </p:sp>
      <p:sp>
        <p:nvSpPr>
          <p:cNvPr id="10" name="Shape 7"/>
          <p:cNvSpPr/>
          <p:nvPr/>
        </p:nvSpPr>
        <p:spPr>
          <a:xfrm>
            <a:off x="7567612" y="1828324"/>
            <a:ext cx="489942" cy="489942"/>
          </a:xfrm>
          <a:prstGeom prst="roundRect">
            <a:avLst>
              <a:gd name="adj" fmla="val 18661567"/>
            </a:avLst>
          </a:prstGeom>
          <a:solidFill>
            <a:srgbClr val="DA1B2E"/>
          </a:solidFill>
          <a:ln/>
        </p:spPr>
      </p:sp>
      <p:pic>
        <p:nvPicPr>
          <p:cNvPr id="11" name="Image 1" descr="preencoded.png"/>
          <p:cNvPicPr>
            <a:picLocks noChangeAspect="1"/>
          </p:cNvPicPr>
          <p:nvPr/>
        </p:nvPicPr>
        <p:blipFill>
          <a:blip r:embed="rId4"/>
          <a:stretch>
            <a:fillRect/>
          </a:stretch>
        </p:blipFill>
        <p:spPr>
          <a:xfrm>
            <a:off x="7702391" y="1935480"/>
            <a:ext cx="220385" cy="275511"/>
          </a:xfrm>
          <a:prstGeom prst="rect">
            <a:avLst/>
          </a:prstGeom>
        </p:spPr>
      </p:pic>
      <p:sp>
        <p:nvSpPr>
          <p:cNvPr id="12" name="Text 8"/>
          <p:cNvSpPr/>
          <p:nvPr/>
        </p:nvSpPr>
        <p:spPr>
          <a:xfrm>
            <a:off x="7567612" y="2481501"/>
            <a:ext cx="2148840" cy="268605"/>
          </a:xfrm>
          <a:prstGeom prst="rect">
            <a:avLst/>
          </a:prstGeom>
          <a:noFill/>
          <a:ln/>
        </p:spPr>
        <p:txBody>
          <a:bodyPr wrap="none" lIns="0" tIns="0" rIns="0" bIns="0" rtlCol="0" anchor="t"/>
          <a:lstStyle/>
          <a:p>
            <a:pPr marL="0" indent="0" algn="l">
              <a:lnSpc>
                <a:spcPts val="2100"/>
              </a:lnSpc>
              <a:buNone/>
            </a:pPr>
            <a:r>
              <a:rPr lang="en-US" sz="1650" dirty="0">
                <a:solidFill>
                  <a:srgbClr val="FFF6F7"/>
                </a:solidFill>
                <a:latin typeface="Sora Semi Bold" pitchFamily="34" charset="0"/>
                <a:ea typeface="Sora Semi Bold" pitchFamily="34" charset="-122"/>
                <a:cs typeface="Sora Semi Bold" pitchFamily="34" charset="-120"/>
              </a:rPr>
              <a:t>Robust Security</a:t>
            </a:r>
            <a:endParaRPr lang="en-US" sz="1650" dirty="0"/>
          </a:p>
        </p:txBody>
      </p:sp>
      <p:sp>
        <p:nvSpPr>
          <p:cNvPr id="13" name="Text 9"/>
          <p:cNvSpPr/>
          <p:nvPr/>
        </p:nvSpPr>
        <p:spPr>
          <a:xfrm>
            <a:off x="7567612" y="2848094"/>
            <a:ext cx="6238756" cy="1306711"/>
          </a:xfrm>
          <a:prstGeom prst="rect">
            <a:avLst/>
          </a:prstGeom>
          <a:noFill/>
          <a:ln/>
        </p:spPr>
        <p:txBody>
          <a:bodyPr wrap="square" lIns="0" tIns="0" rIns="0" bIns="0" rtlCol="0" anchor="t"/>
          <a:lstStyle/>
          <a:p>
            <a:pPr marL="0" indent="0" algn="l">
              <a:lnSpc>
                <a:spcPts val="2050"/>
              </a:lnSpc>
              <a:buNone/>
            </a:pPr>
            <a:r>
              <a:rPr lang="en-US" sz="1250" dirty="0">
                <a:solidFill>
                  <a:srgbClr val="3B3535"/>
                </a:solidFill>
                <a:latin typeface="Sora Light" pitchFamily="34" charset="0"/>
                <a:ea typeface="Sora Light" pitchFamily="34" charset="-122"/>
                <a:cs typeface="Sora Light" pitchFamily="34" charset="-120"/>
              </a:rPr>
              <a:t>Security is paramount with SQS. It supports server-side encryption (SSE) using AWS Key Management Service (KMS) to protect your sensitive message data at rest. Additionally, fine-grained access control can be managed via AWS Identity and Access Management (IAM), allowing you to define who can send or receive messages from your queues.</a:t>
            </a:r>
            <a:endParaRPr lang="en-US" sz="1250" dirty="0"/>
          </a:p>
        </p:txBody>
      </p:sp>
      <p:sp>
        <p:nvSpPr>
          <p:cNvPr id="14" name="Shape 10"/>
          <p:cNvSpPr/>
          <p:nvPr/>
        </p:nvSpPr>
        <p:spPr>
          <a:xfrm>
            <a:off x="653177" y="4538424"/>
            <a:ext cx="6580346" cy="2929533"/>
          </a:xfrm>
          <a:prstGeom prst="roundRect">
            <a:avLst>
              <a:gd name="adj" fmla="val 2341"/>
            </a:avLst>
          </a:prstGeom>
          <a:solidFill>
            <a:srgbClr val="F9D2D6"/>
          </a:solidFill>
          <a:ln w="7620">
            <a:solidFill>
              <a:srgbClr val="DA1B2E"/>
            </a:solidFill>
            <a:prstDash val="solid"/>
          </a:ln>
        </p:spPr>
      </p:sp>
      <p:sp>
        <p:nvSpPr>
          <p:cNvPr id="15" name="Shape 11"/>
          <p:cNvSpPr/>
          <p:nvPr/>
        </p:nvSpPr>
        <p:spPr>
          <a:xfrm>
            <a:off x="824032" y="4347329"/>
            <a:ext cx="489942" cy="489942"/>
          </a:xfrm>
          <a:prstGeom prst="roundRect">
            <a:avLst>
              <a:gd name="adj" fmla="val 18661567"/>
            </a:avLst>
          </a:prstGeom>
          <a:solidFill>
            <a:srgbClr val="DA1B2E"/>
          </a:solidFill>
          <a:ln/>
        </p:spPr>
      </p:sp>
      <p:pic>
        <p:nvPicPr>
          <p:cNvPr id="16" name="Image 2" descr="preencoded.png"/>
          <p:cNvPicPr>
            <a:picLocks noChangeAspect="1"/>
          </p:cNvPicPr>
          <p:nvPr/>
        </p:nvPicPr>
        <p:blipFill>
          <a:blip r:embed="rId5"/>
          <a:stretch>
            <a:fillRect/>
          </a:stretch>
        </p:blipFill>
        <p:spPr>
          <a:xfrm>
            <a:off x="958810" y="4454485"/>
            <a:ext cx="220385" cy="275511"/>
          </a:xfrm>
          <a:prstGeom prst="rect">
            <a:avLst/>
          </a:prstGeom>
        </p:spPr>
      </p:pic>
      <p:sp>
        <p:nvSpPr>
          <p:cNvPr id="17" name="Text 12"/>
          <p:cNvSpPr/>
          <p:nvPr/>
        </p:nvSpPr>
        <p:spPr>
          <a:xfrm>
            <a:off x="824032" y="5000506"/>
            <a:ext cx="2338864" cy="268605"/>
          </a:xfrm>
          <a:prstGeom prst="rect">
            <a:avLst/>
          </a:prstGeom>
          <a:noFill/>
          <a:ln/>
        </p:spPr>
        <p:txBody>
          <a:bodyPr wrap="none" lIns="0" tIns="0" rIns="0" bIns="0" rtlCol="0" anchor="t"/>
          <a:lstStyle/>
          <a:p>
            <a:pPr marL="0" indent="0" algn="l">
              <a:lnSpc>
                <a:spcPts val="2100"/>
              </a:lnSpc>
              <a:buNone/>
            </a:pPr>
            <a:r>
              <a:rPr lang="en-US" sz="1650" dirty="0">
                <a:solidFill>
                  <a:srgbClr val="FFF6F7"/>
                </a:solidFill>
                <a:latin typeface="Sora Semi Bold" pitchFamily="34" charset="0"/>
                <a:ea typeface="Sora Semi Bold" pitchFamily="34" charset="-122"/>
                <a:cs typeface="Sora Semi Bold" pitchFamily="34" charset="-120"/>
              </a:rPr>
              <a:t>Seamless Integration</a:t>
            </a:r>
            <a:endParaRPr lang="en-US" sz="1650" dirty="0"/>
          </a:p>
        </p:txBody>
      </p:sp>
      <p:sp>
        <p:nvSpPr>
          <p:cNvPr id="18" name="Text 13"/>
          <p:cNvSpPr/>
          <p:nvPr/>
        </p:nvSpPr>
        <p:spPr>
          <a:xfrm>
            <a:off x="824032" y="5367099"/>
            <a:ext cx="6238637" cy="1568053"/>
          </a:xfrm>
          <a:prstGeom prst="rect">
            <a:avLst/>
          </a:prstGeom>
          <a:noFill/>
          <a:ln/>
        </p:spPr>
        <p:txBody>
          <a:bodyPr wrap="square" lIns="0" tIns="0" rIns="0" bIns="0" rtlCol="0" anchor="t"/>
          <a:lstStyle/>
          <a:p>
            <a:pPr marL="0" indent="0" algn="l">
              <a:lnSpc>
                <a:spcPts val="2050"/>
              </a:lnSpc>
              <a:buNone/>
            </a:pPr>
            <a:r>
              <a:rPr lang="en-US" sz="1250" dirty="0">
                <a:solidFill>
                  <a:srgbClr val="3B3535"/>
                </a:solidFill>
                <a:latin typeface="Sora Light" pitchFamily="34" charset="0"/>
                <a:ea typeface="Sora Light" pitchFamily="34" charset="-122"/>
                <a:cs typeface="Sora Light" pitchFamily="34" charset="-120"/>
              </a:rPr>
              <a:t>SQS offers native integration with a wide array of AWS services. It can act as a direct event source for AWS Lambda functions, enabling powerful serverless architectures. It also integrates with Amazon CloudWatch for monitoring, providing metrics on queue length, message age, and more. AWS SDKs are available for various programming languages, simplifying development.</a:t>
            </a:r>
            <a:endParaRPr lang="en-US" sz="1250" dirty="0"/>
          </a:p>
        </p:txBody>
      </p:sp>
      <p:sp>
        <p:nvSpPr>
          <p:cNvPr id="19" name="Shape 14"/>
          <p:cNvSpPr/>
          <p:nvPr/>
        </p:nvSpPr>
        <p:spPr>
          <a:xfrm>
            <a:off x="7396758" y="4538424"/>
            <a:ext cx="6580465" cy="2929533"/>
          </a:xfrm>
          <a:prstGeom prst="roundRect">
            <a:avLst>
              <a:gd name="adj" fmla="val 2341"/>
            </a:avLst>
          </a:prstGeom>
          <a:solidFill>
            <a:srgbClr val="F9D2D6"/>
          </a:solidFill>
          <a:ln w="7620">
            <a:solidFill>
              <a:srgbClr val="DA1B2E"/>
            </a:solidFill>
            <a:prstDash val="solid"/>
          </a:ln>
        </p:spPr>
      </p:sp>
      <p:sp>
        <p:nvSpPr>
          <p:cNvPr id="20" name="Shape 15"/>
          <p:cNvSpPr/>
          <p:nvPr/>
        </p:nvSpPr>
        <p:spPr>
          <a:xfrm>
            <a:off x="7567612" y="4347329"/>
            <a:ext cx="489942" cy="489942"/>
          </a:xfrm>
          <a:prstGeom prst="roundRect">
            <a:avLst>
              <a:gd name="adj" fmla="val 18661567"/>
            </a:avLst>
          </a:prstGeom>
          <a:solidFill>
            <a:srgbClr val="DA1B2E"/>
          </a:solidFill>
          <a:ln/>
        </p:spPr>
      </p:sp>
      <p:pic>
        <p:nvPicPr>
          <p:cNvPr id="21" name="Image 3" descr="preencoded.png"/>
          <p:cNvPicPr>
            <a:picLocks noChangeAspect="1"/>
          </p:cNvPicPr>
          <p:nvPr/>
        </p:nvPicPr>
        <p:blipFill>
          <a:blip r:embed="rId6"/>
          <a:stretch>
            <a:fillRect/>
          </a:stretch>
        </p:blipFill>
        <p:spPr>
          <a:xfrm>
            <a:off x="7702391" y="4454485"/>
            <a:ext cx="220385" cy="275511"/>
          </a:xfrm>
          <a:prstGeom prst="rect">
            <a:avLst/>
          </a:prstGeom>
        </p:spPr>
      </p:pic>
      <p:sp>
        <p:nvSpPr>
          <p:cNvPr id="22" name="Text 16"/>
          <p:cNvSpPr/>
          <p:nvPr/>
        </p:nvSpPr>
        <p:spPr>
          <a:xfrm>
            <a:off x="7567612" y="5000506"/>
            <a:ext cx="2345531" cy="268605"/>
          </a:xfrm>
          <a:prstGeom prst="rect">
            <a:avLst/>
          </a:prstGeom>
          <a:noFill/>
          <a:ln/>
        </p:spPr>
        <p:txBody>
          <a:bodyPr wrap="none" lIns="0" tIns="0" rIns="0" bIns="0" rtlCol="0" anchor="t"/>
          <a:lstStyle/>
          <a:p>
            <a:pPr marL="0" indent="0" algn="l">
              <a:lnSpc>
                <a:spcPts val="2100"/>
              </a:lnSpc>
              <a:buNone/>
            </a:pPr>
            <a:r>
              <a:rPr lang="en-US" sz="1650" dirty="0">
                <a:solidFill>
                  <a:srgbClr val="FFF6F7"/>
                </a:solidFill>
                <a:latin typeface="Sora Semi Bold" pitchFamily="34" charset="0"/>
                <a:ea typeface="Sora Semi Bold" pitchFamily="34" charset="-122"/>
                <a:cs typeface="Sora Semi Bold" pitchFamily="34" charset="-120"/>
              </a:rPr>
              <a:t>Cost-Effective Model</a:t>
            </a:r>
            <a:endParaRPr lang="en-US" sz="1650" dirty="0"/>
          </a:p>
        </p:txBody>
      </p:sp>
      <p:sp>
        <p:nvSpPr>
          <p:cNvPr id="23" name="Text 17"/>
          <p:cNvSpPr/>
          <p:nvPr/>
        </p:nvSpPr>
        <p:spPr>
          <a:xfrm>
            <a:off x="7567612" y="5367099"/>
            <a:ext cx="6238756" cy="1306711"/>
          </a:xfrm>
          <a:prstGeom prst="rect">
            <a:avLst/>
          </a:prstGeom>
          <a:noFill/>
          <a:ln/>
        </p:spPr>
        <p:txBody>
          <a:bodyPr wrap="square" lIns="0" tIns="0" rIns="0" bIns="0" rtlCol="0" anchor="t"/>
          <a:lstStyle/>
          <a:p>
            <a:pPr marL="0" indent="0" algn="l">
              <a:lnSpc>
                <a:spcPts val="2050"/>
              </a:lnSpc>
              <a:buNone/>
            </a:pPr>
            <a:r>
              <a:rPr lang="en-US" sz="1250" dirty="0">
                <a:solidFill>
                  <a:srgbClr val="3B3535"/>
                </a:solidFill>
                <a:latin typeface="Sora Light" pitchFamily="34" charset="0"/>
                <a:ea typeface="Sora Light" pitchFamily="34" charset="-122"/>
                <a:cs typeface="Sora Light" pitchFamily="34" charset="-120"/>
              </a:rPr>
              <a:t>With SQS, you pay only for what you use. There are no upfront fees or minimum commitments. You are billed based on the number of messages sent and received, as well as for data transfer, making it a highly cost-effective solution for a variety of workloads, from small-scale projects to massive enterprise applications.</a:t>
            </a:r>
            <a:endParaRPr lang="en-US" sz="1250" dirty="0"/>
          </a:p>
        </p:txBody>
      </p:sp>
      <p:sp>
        <p:nvSpPr>
          <p:cNvPr id="24" name="Rectangle 23">
            <a:extLst>
              <a:ext uri="{FF2B5EF4-FFF2-40B4-BE49-F238E27FC236}">
                <a16:creationId xmlns:a16="http://schemas.microsoft.com/office/drawing/2014/main" id="{A92EBD73-8AAD-3A0C-0968-4B4FF745FD12}"/>
              </a:ext>
            </a:extLst>
          </p:cNvPr>
          <p:cNvSpPr/>
          <p:nvPr/>
        </p:nvSpPr>
        <p:spPr>
          <a:xfrm>
            <a:off x="12582525" y="7659053"/>
            <a:ext cx="2047875" cy="535186"/>
          </a:xfrm>
          <a:prstGeom prst="rect">
            <a:avLst/>
          </a:prstGeom>
          <a:solidFill>
            <a:srgbClr val="FFF6F7"/>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16982" y="508159"/>
            <a:ext cx="4374237" cy="507325"/>
          </a:xfrm>
          <a:prstGeom prst="rect">
            <a:avLst/>
          </a:prstGeom>
          <a:noFill/>
          <a:ln/>
        </p:spPr>
        <p:txBody>
          <a:bodyPr wrap="none" lIns="0" tIns="0" rIns="0" bIns="0" rtlCol="0" anchor="t"/>
          <a:lstStyle/>
          <a:p>
            <a:pPr marL="0" indent="0" algn="l">
              <a:lnSpc>
                <a:spcPts val="3950"/>
              </a:lnSpc>
              <a:buNone/>
            </a:pPr>
            <a:r>
              <a:rPr lang="en-US" sz="3150" dirty="0">
                <a:solidFill>
                  <a:srgbClr val="1F1E1E"/>
                </a:solidFill>
                <a:latin typeface="Sora Semi Bold" pitchFamily="34" charset="0"/>
                <a:ea typeface="Sora Semi Bold" pitchFamily="34" charset="-122"/>
                <a:cs typeface="Sora Semi Bold" pitchFamily="34" charset="-120"/>
              </a:rPr>
              <a:t>What is Amazon MQ?</a:t>
            </a:r>
            <a:endParaRPr lang="en-US" sz="3150" dirty="0"/>
          </a:p>
        </p:txBody>
      </p:sp>
      <p:sp>
        <p:nvSpPr>
          <p:cNvPr id="4" name="Text 1"/>
          <p:cNvSpPr/>
          <p:nvPr/>
        </p:nvSpPr>
        <p:spPr>
          <a:xfrm>
            <a:off x="616982" y="1246823"/>
            <a:ext cx="7910036" cy="987266"/>
          </a:xfrm>
          <a:prstGeom prst="rect">
            <a:avLst/>
          </a:prstGeom>
          <a:noFill/>
          <a:ln/>
        </p:spPr>
        <p:txBody>
          <a:bodyPr wrap="square" lIns="0" tIns="0" rIns="0" bIns="0" rtlCol="0" anchor="t"/>
          <a:lstStyle/>
          <a:p>
            <a:pPr marL="0" indent="0" algn="l">
              <a:lnSpc>
                <a:spcPts val="1900"/>
              </a:lnSpc>
              <a:buNone/>
            </a:pPr>
            <a:r>
              <a:rPr lang="en-US" sz="1200" dirty="0">
                <a:solidFill>
                  <a:srgbClr val="3B3535"/>
                </a:solidFill>
                <a:latin typeface="Sora Light" pitchFamily="34" charset="0"/>
                <a:ea typeface="Sora Light" pitchFamily="34" charset="-122"/>
                <a:cs typeface="Sora Light" pitchFamily="34" charset="-120"/>
              </a:rPr>
              <a:t>Amazon MQ is a managed message broker service for Apache ActiveMQ Classic and RabbitMQ that makes it easy to set up and operate message brokers in the cloud. Unlike SQS, which is a message queuing service, Amazon MQ provides a full-fledged message broker, which offers more advanced messaging features and broader protocol support.</a:t>
            </a:r>
            <a:endParaRPr lang="en-US" sz="1200" dirty="0"/>
          </a:p>
        </p:txBody>
      </p:sp>
      <p:sp>
        <p:nvSpPr>
          <p:cNvPr id="5" name="Text 2"/>
          <p:cNvSpPr/>
          <p:nvPr/>
        </p:nvSpPr>
        <p:spPr>
          <a:xfrm>
            <a:off x="616982" y="2407563"/>
            <a:ext cx="7910036" cy="987266"/>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Managed Message Broker Service:</a:t>
            </a:r>
            <a:r>
              <a:rPr lang="en-US" sz="1200" dirty="0">
                <a:solidFill>
                  <a:srgbClr val="3B3535"/>
                </a:solidFill>
                <a:latin typeface="Sora Light" pitchFamily="34" charset="0"/>
                <a:ea typeface="Sora Light" pitchFamily="34" charset="-122"/>
                <a:cs typeface="Sora Light" pitchFamily="34" charset="-120"/>
              </a:rPr>
              <a:t> Amazon MQ provides a fully managed environment for popular open-source message brokers, specifically Apache ActiveMQ Classic and RabbitMQ. This means AWS handles the provisioning, patching, backups, and monitoring of your broker instances, allowing you to focus on your applications rather than infrastructure management.</a:t>
            </a:r>
            <a:endParaRPr lang="en-US" sz="1200" dirty="0"/>
          </a:p>
        </p:txBody>
      </p:sp>
      <p:sp>
        <p:nvSpPr>
          <p:cNvPr id="6" name="Text 3"/>
          <p:cNvSpPr/>
          <p:nvPr/>
        </p:nvSpPr>
        <p:spPr>
          <a:xfrm>
            <a:off x="616982" y="3448764"/>
            <a:ext cx="7910036" cy="987266"/>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Simplified Migration:</a:t>
            </a:r>
            <a:r>
              <a:rPr lang="en-US" sz="1200" dirty="0">
                <a:solidFill>
                  <a:srgbClr val="3B3535"/>
                </a:solidFill>
                <a:latin typeface="Sora Light" pitchFamily="34" charset="0"/>
                <a:ea typeface="Sora Light" pitchFamily="34" charset="-122"/>
                <a:cs typeface="Sora Light" pitchFamily="34" charset="-120"/>
              </a:rPr>
              <a:t> One of the primary use cases for Amazon MQ is migrating existing applications from on-premises message brokers to the cloud. Because it supports widely used open-source brokers and industry-standard protocols, you can often lift and shift your existing messaging logic without extensive code changes, significantly reducing migration effort and risk.</a:t>
            </a:r>
            <a:endParaRPr lang="en-US" sz="1200" dirty="0"/>
          </a:p>
        </p:txBody>
      </p:sp>
      <p:sp>
        <p:nvSpPr>
          <p:cNvPr id="7" name="Text 4"/>
          <p:cNvSpPr/>
          <p:nvPr/>
        </p:nvSpPr>
        <p:spPr>
          <a:xfrm>
            <a:off x="616982" y="4489966"/>
            <a:ext cx="7910036" cy="740450"/>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Industry-Standard Protocol Support:</a:t>
            </a:r>
            <a:r>
              <a:rPr lang="en-US" sz="1200" dirty="0">
                <a:solidFill>
                  <a:srgbClr val="3B3535"/>
                </a:solidFill>
                <a:latin typeface="Sora Light" pitchFamily="34" charset="0"/>
                <a:ea typeface="Sora Light" pitchFamily="34" charset="-122"/>
                <a:cs typeface="Sora Light" pitchFamily="34" charset="-120"/>
              </a:rPr>
              <a:t> Amazon MQ distinguishes itself by supporting a wide range of industry-standard messaging protocols, making it highly compatible with existing enterprise applications and legacy systems:</a:t>
            </a:r>
            <a:endParaRPr lang="en-US" sz="1200" dirty="0"/>
          </a:p>
        </p:txBody>
      </p:sp>
      <p:sp>
        <p:nvSpPr>
          <p:cNvPr id="8" name="Text 5"/>
          <p:cNvSpPr/>
          <p:nvPr/>
        </p:nvSpPr>
        <p:spPr>
          <a:xfrm>
            <a:off x="616982" y="5284351"/>
            <a:ext cx="7910036" cy="493633"/>
          </a:xfrm>
          <a:prstGeom prst="rect">
            <a:avLst/>
          </a:prstGeom>
          <a:noFill/>
          <a:ln/>
        </p:spPr>
        <p:txBody>
          <a:bodyPr wrap="square" lIns="0" tIns="0" rIns="0" bIns="0" rtlCol="0" anchor="t"/>
          <a:lstStyle/>
          <a:p>
            <a:pPr marL="685800" lvl="1"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AMQP (Advanced Message Queuing Protocol):</a:t>
            </a:r>
            <a:r>
              <a:rPr lang="en-US" sz="1200" dirty="0">
                <a:solidFill>
                  <a:srgbClr val="3B3535"/>
                </a:solidFill>
                <a:latin typeface="Sora Light" pitchFamily="34" charset="0"/>
                <a:ea typeface="Sora Light" pitchFamily="34" charset="-122"/>
                <a:cs typeface="Sora Light" pitchFamily="34" charset="-120"/>
              </a:rPr>
              <a:t> A robust, open standard for message-oriented middleware.</a:t>
            </a:r>
            <a:endParaRPr lang="en-US" sz="1200" dirty="0"/>
          </a:p>
        </p:txBody>
      </p:sp>
      <p:sp>
        <p:nvSpPr>
          <p:cNvPr id="9" name="Text 6"/>
          <p:cNvSpPr/>
          <p:nvPr/>
        </p:nvSpPr>
        <p:spPr>
          <a:xfrm>
            <a:off x="616982" y="5831919"/>
            <a:ext cx="7910036" cy="493633"/>
          </a:xfrm>
          <a:prstGeom prst="rect">
            <a:avLst/>
          </a:prstGeom>
          <a:noFill/>
          <a:ln/>
        </p:spPr>
        <p:txBody>
          <a:bodyPr wrap="square" lIns="0" tIns="0" rIns="0" bIns="0" rtlCol="0" anchor="t"/>
          <a:lstStyle/>
          <a:p>
            <a:pPr marL="685800" lvl="1"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MQTT (Message Queuing Telemetry Transport):</a:t>
            </a:r>
            <a:r>
              <a:rPr lang="en-US" sz="1200" dirty="0">
                <a:solidFill>
                  <a:srgbClr val="3B3535"/>
                </a:solidFill>
                <a:latin typeface="Sora Light" pitchFamily="34" charset="0"/>
                <a:ea typeface="Sora Light" pitchFamily="34" charset="-122"/>
                <a:cs typeface="Sora Light" pitchFamily="34" charset="-120"/>
              </a:rPr>
              <a:t> A lightweight messaging protocol ideal for IoT devices and mobile applications.</a:t>
            </a:r>
            <a:endParaRPr lang="en-US" sz="1200" dirty="0"/>
          </a:p>
        </p:txBody>
      </p:sp>
      <p:sp>
        <p:nvSpPr>
          <p:cNvPr id="10" name="Text 7"/>
          <p:cNvSpPr/>
          <p:nvPr/>
        </p:nvSpPr>
        <p:spPr>
          <a:xfrm>
            <a:off x="616982" y="6379488"/>
            <a:ext cx="7910036" cy="493633"/>
          </a:xfrm>
          <a:prstGeom prst="rect">
            <a:avLst/>
          </a:prstGeom>
          <a:noFill/>
          <a:ln/>
        </p:spPr>
        <p:txBody>
          <a:bodyPr wrap="square" lIns="0" tIns="0" rIns="0" bIns="0" rtlCol="0" anchor="t"/>
          <a:lstStyle/>
          <a:p>
            <a:pPr marL="685800" lvl="1"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JMS (Java Message Service):</a:t>
            </a:r>
            <a:r>
              <a:rPr lang="en-US" sz="1200" dirty="0">
                <a:solidFill>
                  <a:srgbClr val="3B3535"/>
                </a:solidFill>
                <a:latin typeface="Sora Light" pitchFamily="34" charset="0"/>
                <a:ea typeface="Sora Light" pitchFamily="34" charset="-122"/>
                <a:cs typeface="Sora Light" pitchFamily="34" charset="-120"/>
              </a:rPr>
              <a:t> A Java API for sending and receiving messages, commonly used in enterprise Java applications.</a:t>
            </a:r>
            <a:endParaRPr lang="en-US" sz="1200" dirty="0"/>
          </a:p>
        </p:txBody>
      </p:sp>
      <p:sp>
        <p:nvSpPr>
          <p:cNvPr id="11" name="Text 8"/>
          <p:cNvSpPr/>
          <p:nvPr/>
        </p:nvSpPr>
        <p:spPr>
          <a:xfrm>
            <a:off x="616982" y="6927056"/>
            <a:ext cx="7910036" cy="246817"/>
          </a:xfrm>
          <a:prstGeom prst="rect">
            <a:avLst/>
          </a:prstGeom>
          <a:noFill/>
          <a:ln/>
        </p:spPr>
        <p:txBody>
          <a:bodyPr wrap="none" lIns="0" tIns="0" rIns="0" bIns="0" rtlCol="0" anchor="t"/>
          <a:lstStyle/>
          <a:p>
            <a:pPr marL="685800" lvl="1"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OpenWire:</a:t>
            </a:r>
            <a:r>
              <a:rPr lang="en-US" sz="1200" dirty="0">
                <a:solidFill>
                  <a:srgbClr val="3B3535"/>
                </a:solidFill>
                <a:latin typeface="Sora Light" pitchFamily="34" charset="0"/>
                <a:ea typeface="Sora Light" pitchFamily="34" charset="-122"/>
                <a:cs typeface="Sora Light" pitchFamily="34" charset="-120"/>
              </a:rPr>
              <a:t> ActiveMQ's native binary protocol.</a:t>
            </a:r>
            <a:endParaRPr lang="en-US" sz="1200" dirty="0"/>
          </a:p>
        </p:txBody>
      </p:sp>
      <p:sp>
        <p:nvSpPr>
          <p:cNvPr id="12" name="Text 9"/>
          <p:cNvSpPr/>
          <p:nvPr/>
        </p:nvSpPr>
        <p:spPr>
          <a:xfrm>
            <a:off x="616982" y="7227808"/>
            <a:ext cx="7910036" cy="493633"/>
          </a:xfrm>
          <a:prstGeom prst="rect">
            <a:avLst/>
          </a:prstGeom>
          <a:noFill/>
          <a:ln/>
        </p:spPr>
        <p:txBody>
          <a:bodyPr wrap="square" lIns="0" tIns="0" rIns="0" bIns="0" rtlCol="0" anchor="t"/>
          <a:lstStyle/>
          <a:p>
            <a:pPr marL="685800" lvl="1" indent="-342900" algn="l">
              <a:lnSpc>
                <a:spcPts val="1900"/>
              </a:lnSpc>
              <a:buSzPct val="100000"/>
              <a:buChar char="•"/>
            </a:pPr>
            <a:r>
              <a:rPr lang="en-US" sz="1200" b="1" dirty="0">
                <a:solidFill>
                  <a:srgbClr val="3B3535"/>
                </a:solidFill>
                <a:latin typeface="Sora Light" pitchFamily="34" charset="0"/>
                <a:ea typeface="Sora Light" pitchFamily="34" charset="-122"/>
                <a:cs typeface="Sora Light" pitchFamily="34" charset="-120"/>
              </a:rPr>
              <a:t>STOMP (Simple Text-Oriented Messaging Protocol):</a:t>
            </a:r>
            <a:r>
              <a:rPr lang="en-US" sz="1200" dirty="0">
                <a:solidFill>
                  <a:srgbClr val="3B3535"/>
                </a:solidFill>
                <a:latin typeface="Sora Light" pitchFamily="34" charset="0"/>
                <a:ea typeface="Sora Light" pitchFamily="34" charset="-122"/>
                <a:cs typeface="Sora Light" pitchFamily="34" charset="-120"/>
              </a:rPr>
              <a:t> A text-based protocol for working with message brokers.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5680" y="464463"/>
            <a:ext cx="8263057" cy="555665"/>
          </a:xfrm>
          <a:prstGeom prst="rect">
            <a:avLst/>
          </a:prstGeom>
          <a:noFill/>
          <a:ln/>
        </p:spPr>
        <p:txBody>
          <a:bodyPr wrap="none" lIns="0" tIns="0" rIns="0" bIns="0" rtlCol="0" anchor="t"/>
          <a:lstStyle/>
          <a:p>
            <a:pPr marL="0" indent="0" algn="l">
              <a:lnSpc>
                <a:spcPts val="4350"/>
              </a:lnSpc>
              <a:buNone/>
            </a:pPr>
            <a:r>
              <a:rPr lang="en-US" sz="3500" dirty="0">
                <a:solidFill>
                  <a:srgbClr val="1F1E1E"/>
                </a:solidFill>
                <a:latin typeface="Sora Semi Bold" pitchFamily="34" charset="0"/>
                <a:ea typeface="Sora Semi Bold" pitchFamily="34" charset="-122"/>
                <a:cs typeface="Sora Semi Bold" pitchFamily="34" charset="-120"/>
              </a:rPr>
              <a:t>Amazon MQ: Key Benefits &amp; Features</a:t>
            </a:r>
            <a:endParaRPr lang="en-US" sz="3500" dirty="0"/>
          </a:p>
        </p:txBody>
      </p:sp>
      <p:sp>
        <p:nvSpPr>
          <p:cNvPr id="3" name="Text 1"/>
          <p:cNvSpPr/>
          <p:nvPr/>
        </p:nvSpPr>
        <p:spPr>
          <a:xfrm>
            <a:off x="675679" y="1087636"/>
            <a:ext cx="13279041" cy="540544"/>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Amazon MQ is designed for scenarios requiring the power and flexibility of a traditional message broker, particularly for hybrid cloud deployments and complex enterprise integrations.</a:t>
            </a:r>
            <a:endParaRPr lang="en-US" sz="1300" dirty="0"/>
          </a:p>
        </p:txBody>
      </p:sp>
      <p:sp>
        <p:nvSpPr>
          <p:cNvPr id="4" name="Shape 2"/>
          <p:cNvSpPr/>
          <p:nvPr/>
        </p:nvSpPr>
        <p:spPr>
          <a:xfrm>
            <a:off x="675679" y="1818203"/>
            <a:ext cx="6555105" cy="2890838"/>
          </a:xfrm>
          <a:prstGeom prst="roundRect">
            <a:avLst>
              <a:gd name="adj" fmla="val 2454"/>
            </a:avLst>
          </a:prstGeom>
          <a:solidFill>
            <a:srgbClr val="FFF6F7"/>
          </a:solidFill>
          <a:ln w="22860">
            <a:solidFill>
              <a:srgbClr val="DFB8BC"/>
            </a:solidFill>
            <a:prstDash val="solid"/>
          </a:ln>
        </p:spPr>
      </p:sp>
      <p:sp>
        <p:nvSpPr>
          <p:cNvPr id="5" name="Shape 3"/>
          <p:cNvSpPr/>
          <p:nvPr/>
        </p:nvSpPr>
        <p:spPr>
          <a:xfrm>
            <a:off x="698539" y="1841063"/>
            <a:ext cx="6509385" cy="506730"/>
          </a:xfrm>
          <a:prstGeom prst="roundRect">
            <a:avLst>
              <a:gd name="adj" fmla="val 8588"/>
            </a:avLst>
          </a:prstGeom>
          <a:solidFill>
            <a:srgbClr val="F9D2D6"/>
          </a:solidFill>
          <a:ln/>
        </p:spPr>
      </p:sp>
      <p:sp>
        <p:nvSpPr>
          <p:cNvPr id="6" name="Text 4"/>
          <p:cNvSpPr/>
          <p:nvPr/>
        </p:nvSpPr>
        <p:spPr>
          <a:xfrm>
            <a:off x="3826549" y="1932265"/>
            <a:ext cx="253365" cy="316706"/>
          </a:xfrm>
          <a:prstGeom prst="rect">
            <a:avLst/>
          </a:prstGeom>
          <a:noFill/>
          <a:ln/>
        </p:spPr>
        <p:txBody>
          <a:bodyPr wrap="none" lIns="0" tIns="0" rIns="0" bIns="0" rtlCol="0" anchor="t"/>
          <a:lstStyle/>
          <a:p>
            <a:pPr marL="0" indent="0" algn="l">
              <a:lnSpc>
                <a:spcPts val="1950"/>
              </a:lnSpc>
              <a:buNone/>
            </a:pPr>
            <a:r>
              <a:rPr lang="en-US" sz="1950" dirty="0">
                <a:solidFill>
                  <a:srgbClr val="3B3535"/>
                </a:solidFill>
                <a:latin typeface="Sora Semi Bold" pitchFamily="34" charset="0"/>
                <a:ea typeface="Sora Semi Bold" pitchFamily="34" charset="-122"/>
                <a:cs typeface="Sora Semi Bold" pitchFamily="34" charset="-120"/>
              </a:rPr>
              <a:t>1</a:t>
            </a:r>
            <a:endParaRPr lang="en-US" sz="1950" dirty="0"/>
          </a:p>
        </p:txBody>
      </p:sp>
      <p:sp>
        <p:nvSpPr>
          <p:cNvPr id="7" name="Text 5"/>
          <p:cNvSpPr/>
          <p:nvPr/>
        </p:nvSpPr>
        <p:spPr>
          <a:xfrm>
            <a:off x="867369" y="2516624"/>
            <a:ext cx="2308384" cy="277773"/>
          </a:xfrm>
          <a:prstGeom prst="rect">
            <a:avLst/>
          </a:prstGeom>
          <a:noFill/>
          <a:ln/>
        </p:spPr>
        <p:txBody>
          <a:bodyPr wrap="none" lIns="0" tIns="0" rIns="0" bIns="0" rtlCol="0" anchor="t"/>
          <a:lstStyle/>
          <a:p>
            <a:pPr marL="0" indent="0" algn="l">
              <a:lnSpc>
                <a:spcPts val="2150"/>
              </a:lnSpc>
              <a:buNone/>
            </a:pPr>
            <a:r>
              <a:rPr lang="en-US" sz="1750" dirty="0">
                <a:solidFill>
                  <a:srgbClr val="3B3535"/>
                </a:solidFill>
                <a:latin typeface="Sora Semi Bold" pitchFamily="34" charset="0"/>
                <a:ea typeface="Sora Semi Bold" pitchFamily="34" charset="-122"/>
                <a:cs typeface="Sora Semi Bold" pitchFamily="34" charset="-120"/>
              </a:rPr>
              <a:t>Broker Management</a:t>
            </a:r>
            <a:endParaRPr lang="en-US" sz="1750" dirty="0"/>
          </a:p>
        </p:txBody>
      </p:sp>
      <p:sp>
        <p:nvSpPr>
          <p:cNvPr id="8" name="Text 6"/>
          <p:cNvSpPr/>
          <p:nvPr/>
        </p:nvSpPr>
        <p:spPr>
          <a:xfrm>
            <a:off x="867369" y="2895719"/>
            <a:ext cx="6171724" cy="1351359"/>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AWS automates the time-consuming tasks of managing message brokers, including software upgrades, security patching, and daily backups. You can monitor your brokers' health and performance metrics via Amazon CloudWatch, allowing you to focus on application development rather than operational overhead.</a:t>
            </a:r>
            <a:endParaRPr lang="en-US" sz="1300" dirty="0"/>
          </a:p>
        </p:txBody>
      </p:sp>
      <p:sp>
        <p:nvSpPr>
          <p:cNvPr id="9" name="Shape 7"/>
          <p:cNvSpPr/>
          <p:nvPr/>
        </p:nvSpPr>
        <p:spPr>
          <a:xfrm>
            <a:off x="7399614" y="1818203"/>
            <a:ext cx="6555105" cy="2890838"/>
          </a:xfrm>
          <a:prstGeom prst="roundRect">
            <a:avLst>
              <a:gd name="adj" fmla="val 2454"/>
            </a:avLst>
          </a:prstGeom>
          <a:solidFill>
            <a:srgbClr val="FFF6F7"/>
          </a:solidFill>
          <a:ln w="22860">
            <a:solidFill>
              <a:srgbClr val="DFB8BC"/>
            </a:solidFill>
            <a:prstDash val="solid"/>
          </a:ln>
        </p:spPr>
      </p:sp>
      <p:sp>
        <p:nvSpPr>
          <p:cNvPr id="10" name="Shape 8"/>
          <p:cNvSpPr/>
          <p:nvPr/>
        </p:nvSpPr>
        <p:spPr>
          <a:xfrm>
            <a:off x="7422474" y="1841063"/>
            <a:ext cx="6509385" cy="506730"/>
          </a:xfrm>
          <a:prstGeom prst="roundRect">
            <a:avLst>
              <a:gd name="adj" fmla="val 8588"/>
            </a:avLst>
          </a:prstGeom>
          <a:solidFill>
            <a:srgbClr val="F9D2D6"/>
          </a:solidFill>
          <a:ln/>
        </p:spPr>
      </p:sp>
      <p:sp>
        <p:nvSpPr>
          <p:cNvPr id="11" name="Text 9"/>
          <p:cNvSpPr/>
          <p:nvPr/>
        </p:nvSpPr>
        <p:spPr>
          <a:xfrm>
            <a:off x="10550484" y="1932265"/>
            <a:ext cx="253365" cy="316706"/>
          </a:xfrm>
          <a:prstGeom prst="rect">
            <a:avLst/>
          </a:prstGeom>
          <a:noFill/>
          <a:ln/>
        </p:spPr>
        <p:txBody>
          <a:bodyPr wrap="none" lIns="0" tIns="0" rIns="0" bIns="0" rtlCol="0" anchor="t"/>
          <a:lstStyle/>
          <a:p>
            <a:pPr marL="0" indent="0" algn="l">
              <a:lnSpc>
                <a:spcPts val="1950"/>
              </a:lnSpc>
              <a:buNone/>
            </a:pPr>
            <a:r>
              <a:rPr lang="en-US" sz="1950" dirty="0">
                <a:solidFill>
                  <a:srgbClr val="3B3535"/>
                </a:solidFill>
                <a:latin typeface="Sora Semi Bold" pitchFamily="34" charset="0"/>
                <a:ea typeface="Sora Semi Bold" pitchFamily="34" charset="-122"/>
                <a:cs typeface="Sora Semi Bold" pitchFamily="34" charset="-120"/>
              </a:rPr>
              <a:t>2</a:t>
            </a:r>
            <a:endParaRPr lang="en-US" sz="1950" dirty="0"/>
          </a:p>
        </p:txBody>
      </p:sp>
      <p:sp>
        <p:nvSpPr>
          <p:cNvPr id="12" name="Text 10"/>
          <p:cNvSpPr/>
          <p:nvPr/>
        </p:nvSpPr>
        <p:spPr>
          <a:xfrm>
            <a:off x="7591305" y="2516624"/>
            <a:ext cx="2222659" cy="277773"/>
          </a:xfrm>
          <a:prstGeom prst="rect">
            <a:avLst/>
          </a:prstGeom>
          <a:noFill/>
          <a:ln/>
        </p:spPr>
        <p:txBody>
          <a:bodyPr wrap="none" lIns="0" tIns="0" rIns="0" bIns="0" rtlCol="0" anchor="t"/>
          <a:lstStyle/>
          <a:p>
            <a:pPr marL="0" indent="0" algn="l">
              <a:lnSpc>
                <a:spcPts val="2150"/>
              </a:lnSpc>
              <a:buNone/>
            </a:pPr>
            <a:r>
              <a:rPr lang="en-US" sz="1750" dirty="0">
                <a:solidFill>
                  <a:srgbClr val="3B3535"/>
                </a:solidFill>
                <a:latin typeface="Sora Semi Bold" pitchFamily="34" charset="0"/>
                <a:ea typeface="Sora Semi Bold" pitchFamily="34" charset="-122"/>
                <a:cs typeface="Sora Semi Bold" pitchFamily="34" charset="-120"/>
              </a:rPr>
              <a:t>High Availability</a:t>
            </a:r>
            <a:endParaRPr lang="en-US" sz="1750" dirty="0"/>
          </a:p>
        </p:txBody>
      </p:sp>
      <p:sp>
        <p:nvSpPr>
          <p:cNvPr id="13" name="Text 11"/>
          <p:cNvSpPr/>
          <p:nvPr/>
        </p:nvSpPr>
        <p:spPr>
          <a:xfrm>
            <a:off x="7591305" y="2895719"/>
            <a:ext cx="6171724" cy="1621631"/>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For mission-critical applications, Amazon MQ supports high availability configurations. You can deploy brokers across multiple Availability Zones (Multi-AZ) to ensure continuous operation even if one zone experiences an outage. RabbitMQ brokers support quorum queues for data consistency and ActiveMQ supports cross-region replication for disaster recovery.</a:t>
            </a:r>
            <a:endParaRPr lang="en-US" sz="1300" dirty="0"/>
          </a:p>
        </p:txBody>
      </p:sp>
      <p:sp>
        <p:nvSpPr>
          <p:cNvPr id="14" name="Shape 12"/>
          <p:cNvSpPr/>
          <p:nvPr/>
        </p:nvSpPr>
        <p:spPr>
          <a:xfrm>
            <a:off x="675679" y="4877871"/>
            <a:ext cx="6555105" cy="2620566"/>
          </a:xfrm>
          <a:prstGeom prst="roundRect">
            <a:avLst>
              <a:gd name="adj" fmla="val 2707"/>
            </a:avLst>
          </a:prstGeom>
          <a:solidFill>
            <a:srgbClr val="FFF6F7"/>
          </a:solidFill>
          <a:ln w="22860">
            <a:solidFill>
              <a:srgbClr val="DFB8BC"/>
            </a:solidFill>
            <a:prstDash val="solid"/>
          </a:ln>
        </p:spPr>
      </p:sp>
      <p:sp>
        <p:nvSpPr>
          <p:cNvPr id="15" name="Shape 13"/>
          <p:cNvSpPr/>
          <p:nvPr/>
        </p:nvSpPr>
        <p:spPr>
          <a:xfrm>
            <a:off x="698539" y="4900731"/>
            <a:ext cx="6509385" cy="506730"/>
          </a:xfrm>
          <a:prstGeom prst="roundRect">
            <a:avLst>
              <a:gd name="adj" fmla="val 8588"/>
            </a:avLst>
          </a:prstGeom>
          <a:solidFill>
            <a:srgbClr val="F9D2D6"/>
          </a:solidFill>
          <a:ln/>
        </p:spPr>
      </p:sp>
      <p:sp>
        <p:nvSpPr>
          <p:cNvPr id="16" name="Text 14"/>
          <p:cNvSpPr/>
          <p:nvPr/>
        </p:nvSpPr>
        <p:spPr>
          <a:xfrm>
            <a:off x="3826549" y="4991933"/>
            <a:ext cx="253365" cy="316706"/>
          </a:xfrm>
          <a:prstGeom prst="rect">
            <a:avLst/>
          </a:prstGeom>
          <a:noFill/>
          <a:ln/>
        </p:spPr>
        <p:txBody>
          <a:bodyPr wrap="none" lIns="0" tIns="0" rIns="0" bIns="0" rtlCol="0" anchor="t"/>
          <a:lstStyle/>
          <a:p>
            <a:pPr marL="0" indent="0" algn="l">
              <a:lnSpc>
                <a:spcPts val="1950"/>
              </a:lnSpc>
              <a:buNone/>
            </a:pPr>
            <a:r>
              <a:rPr lang="en-US" sz="1950" dirty="0">
                <a:solidFill>
                  <a:srgbClr val="3B3535"/>
                </a:solidFill>
                <a:latin typeface="Sora Semi Bold" pitchFamily="34" charset="0"/>
                <a:ea typeface="Sora Semi Bold" pitchFamily="34" charset="-122"/>
                <a:cs typeface="Sora Semi Bold" pitchFamily="34" charset="-120"/>
              </a:rPr>
              <a:t>3</a:t>
            </a:r>
            <a:endParaRPr lang="en-US" sz="1950" dirty="0"/>
          </a:p>
        </p:txBody>
      </p:sp>
      <p:sp>
        <p:nvSpPr>
          <p:cNvPr id="17" name="Text 15"/>
          <p:cNvSpPr/>
          <p:nvPr/>
        </p:nvSpPr>
        <p:spPr>
          <a:xfrm>
            <a:off x="867369" y="5576292"/>
            <a:ext cx="2222659" cy="277773"/>
          </a:xfrm>
          <a:prstGeom prst="rect">
            <a:avLst/>
          </a:prstGeom>
          <a:noFill/>
          <a:ln/>
        </p:spPr>
        <p:txBody>
          <a:bodyPr wrap="none" lIns="0" tIns="0" rIns="0" bIns="0" rtlCol="0" anchor="t"/>
          <a:lstStyle/>
          <a:p>
            <a:pPr marL="0" indent="0" algn="l">
              <a:lnSpc>
                <a:spcPts val="2150"/>
              </a:lnSpc>
              <a:buNone/>
            </a:pPr>
            <a:r>
              <a:rPr lang="en-US" sz="1750" dirty="0">
                <a:solidFill>
                  <a:srgbClr val="3B3535"/>
                </a:solidFill>
                <a:latin typeface="Sora Semi Bold" pitchFamily="34" charset="0"/>
                <a:ea typeface="Sora Semi Bold" pitchFamily="34" charset="-122"/>
                <a:cs typeface="Sora Semi Bold" pitchFamily="34" charset="-120"/>
              </a:rPr>
              <a:t>Enhanced Security</a:t>
            </a:r>
            <a:endParaRPr lang="en-US" sz="1750" dirty="0"/>
          </a:p>
        </p:txBody>
      </p:sp>
      <p:sp>
        <p:nvSpPr>
          <p:cNvPr id="18" name="Text 16"/>
          <p:cNvSpPr/>
          <p:nvPr/>
        </p:nvSpPr>
        <p:spPr>
          <a:xfrm>
            <a:off x="867369" y="5955387"/>
            <a:ext cx="6171724" cy="1351359"/>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Amazon MQ provides comprehensive security features. Messages are encrypted in transit using SSL/TLS and at rest using AWS KMS. Access control is managed through AWS IAM, allowing precise control over who can interact with your brokers. You can also deploy brokers within an Amazon VPC for network isolation and enhanced security.</a:t>
            </a:r>
            <a:endParaRPr lang="en-US" sz="1300" dirty="0"/>
          </a:p>
        </p:txBody>
      </p:sp>
      <p:sp>
        <p:nvSpPr>
          <p:cNvPr id="19" name="Shape 17"/>
          <p:cNvSpPr/>
          <p:nvPr/>
        </p:nvSpPr>
        <p:spPr>
          <a:xfrm>
            <a:off x="7399614" y="4877871"/>
            <a:ext cx="6555105" cy="2620566"/>
          </a:xfrm>
          <a:prstGeom prst="roundRect">
            <a:avLst>
              <a:gd name="adj" fmla="val 2707"/>
            </a:avLst>
          </a:prstGeom>
          <a:solidFill>
            <a:srgbClr val="FFF6F7"/>
          </a:solidFill>
          <a:ln w="22860">
            <a:solidFill>
              <a:srgbClr val="DFB8BC"/>
            </a:solidFill>
            <a:prstDash val="solid"/>
          </a:ln>
        </p:spPr>
      </p:sp>
      <p:sp>
        <p:nvSpPr>
          <p:cNvPr id="20" name="Shape 18"/>
          <p:cNvSpPr/>
          <p:nvPr/>
        </p:nvSpPr>
        <p:spPr>
          <a:xfrm>
            <a:off x="7422474" y="4900731"/>
            <a:ext cx="6509385" cy="506730"/>
          </a:xfrm>
          <a:prstGeom prst="roundRect">
            <a:avLst>
              <a:gd name="adj" fmla="val 8588"/>
            </a:avLst>
          </a:prstGeom>
          <a:solidFill>
            <a:srgbClr val="F9D2D6"/>
          </a:solidFill>
          <a:ln/>
        </p:spPr>
      </p:sp>
      <p:sp>
        <p:nvSpPr>
          <p:cNvPr id="21" name="Text 19"/>
          <p:cNvSpPr/>
          <p:nvPr/>
        </p:nvSpPr>
        <p:spPr>
          <a:xfrm>
            <a:off x="10550484" y="4991933"/>
            <a:ext cx="253365" cy="316706"/>
          </a:xfrm>
          <a:prstGeom prst="rect">
            <a:avLst/>
          </a:prstGeom>
          <a:noFill/>
          <a:ln/>
        </p:spPr>
        <p:txBody>
          <a:bodyPr wrap="none" lIns="0" tIns="0" rIns="0" bIns="0" rtlCol="0" anchor="t"/>
          <a:lstStyle/>
          <a:p>
            <a:pPr marL="0" indent="0" algn="l">
              <a:lnSpc>
                <a:spcPts val="1950"/>
              </a:lnSpc>
              <a:buNone/>
            </a:pPr>
            <a:r>
              <a:rPr lang="en-US" sz="1950" dirty="0">
                <a:solidFill>
                  <a:srgbClr val="3B3535"/>
                </a:solidFill>
                <a:latin typeface="Sora Semi Bold" pitchFamily="34" charset="0"/>
                <a:ea typeface="Sora Semi Bold" pitchFamily="34" charset="-122"/>
                <a:cs typeface="Sora Semi Bold" pitchFamily="34" charset="-120"/>
              </a:rPr>
              <a:t>4</a:t>
            </a:r>
            <a:endParaRPr lang="en-US" sz="1950" dirty="0"/>
          </a:p>
        </p:txBody>
      </p:sp>
      <p:sp>
        <p:nvSpPr>
          <p:cNvPr id="22" name="Text 20"/>
          <p:cNvSpPr/>
          <p:nvPr/>
        </p:nvSpPr>
        <p:spPr>
          <a:xfrm>
            <a:off x="7591305" y="5576292"/>
            <a:ext cx="3459004" cy="277773"/>
          </a:xfrm>
          <a:prstGeom prst="rect">
            <a:avLst/>
          </a:prstGeom>
          <a:noFill/>
          <a:ln/>
        </p:spPr>
        <p:txBody>
          <a:bodyPr wrap="none" lIns="0" tIns="0" rIns="0" bIns="0" rtlCol="0" anchor="t"/>
          <a:lstStyle/>
          <a:p>
            <a:pPr marL="0" indent="0" algn="l">
              <a:lnSpc>
                <a:spcPts val="2150"/>
              </a:lnSpc>
              <a:buNone/>
            </a:pPr>
            <a:r>
              <a:rPr lang="en-US" sz="1750" dirty="0">
                <a:solidFill>
                  <a:srgbClr val="3B3535"/>
                </a:solidFill>
                <a:latin typeface="Sora Semi Bold" pitchFamily="34" charset="0"/>
                <a:ea typeface="Sora Semi Bold" pitchFamily="34" charset="-122"/>
                <a:cs typeface="Sora Semi Bold" pitchFamily="34" charset="-120"/>
              </a:rPr>
              <a:t>Advanced Messaging Patterns</a:t>
            </a:r>
            <a:endParaRPr lang="en-US" sz="1750" dirty="0"/>
          </a:p>
        </p:txBody>
      </p:sp>
      <p:sp>
        <p:nvSpPr>
          <p:cNvPr id="23" name="Text 21"/>
          <p:cNvSpPr/>
          <p:nvPr/>
        </p:nvSpPr>
        <p:spPr>
          <a:xfrm>
            <a:off x="7591305" y="5955387"/>
            <a:ext cx="6171724" cy="1351359"/>
          </a:xfrm>
          <a:prstGeom prst="rect">
            <a:avLst/>
          </a:prstGeom>
          <a:noFill/>
          <a:ln/>
        </p:spPr>
        <p:txBody>
          <a:bodyPr wrap="square" lIns="0" tIns="0" rIns="0" bIns="0" rtlCol="0" anchor="t"/>
          <a:lstStyle/>
          <a:p>
            <a:pPr marL="0" indent="0" algn="l">
              <a:lnSpc>
                <a:spcPts val="2100"/>
              </a:lnSpc>
              <a:buNone/>
            </a:pPr>
            <a:r>
              <a:rPr lang="en-US" sz="1300" dirty="0">
                <a:solidFill>
                  <a:srgbClr val="3B3535"/>
                </a:solidFill>
                <a:latin typeface="Sora Light" pitchFamily="34" charset="0"/>
                <a:ea typeface="Sora Light" pitchFamily="34" charset="-122"/>
                <a:cs typeface="Sora Light" pitchFamily="34" charset="-120"/>
              </a:rPr>
              <a:t>Amazon MQ is ideal for applications requiring more complex messaging patterns than simple queues. This includes support for publish/subscribe topics, request/reply patterns, message routing rules, and message filtering, which are often essential for enterprise application integration and microservices communication in intricate architectures.</a:t>
            </a:r>
            <a:endParaRPr lang="en-US" sz="1300" dirty="0"/>
          </a:p>
        </p:txBody>
      </p:sp>
      <p:sp>
        <p:nvSpPr>
          <p:cNvPr id="24" name="Rectangle 23">
            <a:extLst>
              <a:ext uri="{FF2B5EF4-FFF2-40B4-BE49-F238E27FC236}">
                <a16:creationId xmlns:a16="http://schemas.microsoft.com/office/drawing/2014/main" id="{97C1721B-3029-5092-D0A5-29B750CC24B3}"/>
              </a:ext>
            </a:extLst>
          </p:cNvPr>
          <p:cNvSpPr/>
          <p:nvPr/>
        </p:nvSpPr>
        <p:spPr>
          <a:xfrm>
            <a:off x="12582525" y="7659053"/>
            <a:ext cx="2047875" cy="535186"/>
          </a:xfrm>
          <a:prstGeom prst="rect">
            <a:avLst/>
          </a:prstGeom>
          <a:solidFill>
            <a:srgbClr val="FFF6F7"/>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454598" y="617934"/>
            <a:ext cx="7721203" cy="573048"/>
          </a:xfrm>
          <a:prstGeom prst="rect">
            <a:avLst/>
          </a:prstGeom>
          <a:noFill/>
          <a:ln/>
        </p:spPr>
        <p:txBody>
          <a:bodyPr wrap="none" lIns="0" tIns="0" rIns="0" bIns="0" rtlCol="0" anchor="t"/>
          <a:lstStyle/>
          <a:p>
            <a:pPr marL="0" indent="0" algn="ctr">
              <a:lnSpc>
                <a:spcPts val="4500"/>
              </a:lnSpc>
              <a:buNone/>
            </a:pPr>
            <a:r>
              <a:rPr lang="en-US" sz="3600" dirty="0">
                <a:solidFill>
                  <a:srgbClr val="1F1E1E"/>
                </a:solidFill>
                <a:latin typeface="Sora Semi Bold" pitchFamily="34" charset="0"/>
                <a:ea typeface="Sora Semi Bold" pitchFamily="34" charset="-122"/>
                <a:cs typeface="Sora Semi Bold" pitchFamily="34" charset="-120"/>
              </a:rPr>
              <a:t>SQS vs. MQ: When to Use Which?</a:t>
            </a:r>
            <a:endParaRPr lang="en-US" sz="3600" dirty="0"/>
          </a:p>
        </p:txBody>
      </p:sp>
      <p:sp>
        <p:nvSpPr>
          <p:cNvPr id="3" name="Text 1"/>
          <p:cNvSpPr/>
          <p:nvPr/>
        </p:nvSpPr>
        <p:spPr>
          <a:xfrm>
            <a:off x="696992" y="1539478"/>
            <a:ext cx="13236416" cy="557689"/>
          </a:xfrm>
          <a:prstGeom prst="rect">
            <a:avLst/>
          </a:prstGeom>
          <a:noFill/>
          <a:ln/>
        </p:spPr>
        <p:txBody>
          <a:bodyPr wrap="square" lIns="0" tIns="0" rIns="0" bIns="0" rtlCol="0" anchor="t"/>
          <a:lstStyle/>
          <a:p>
            <a:pPr marL="0" indent="0" algn="ctr">
              <a:lnSpc>
                <a:spcPts val="2150"/>
              </a:lnSpc>
              <a:buNone/>
            </a:pPr>
            <a:r>
              <a:rPr lang="en-US" sz="1350" dirty="0">
                <a:solidFill>
                  <a:srgbClr val="3B3535"/>
                </a:solidFill>
                <a:latin typeface="Sora Light" pitchFamily="34" charset="0"/>
                <a:ea typeface="Sora Light" pitchFamily="34" charset="-122"/>
                <a:cs typeface="Sora Light" pitchFamily="34" charset="-120"/>
              </a:rPr>
              <a:t>Choosing between Amazon SQS and Amazon MQ depends heavily on your specific application requirements, existing infrastructure, and desired operational model.</a:t>
            </a:r>
            <a:endParaRPr lang="en-US" sz="1350" dirty="0"/>
          </a:p>
        </p:txBody>
      </p:sp>
      <p:sp>
        <p:nvSpPr>
          <p:cNvPr id="4" name="Text 2"/>
          <p:cNvSpPr/>
          <p:nvPr/>
        </p:nvSpPr>
        <p:spPr>
          <a:xfrm>
            <a:off x="2500432" y="2467332"/>
            <a:ext cx="2798802" cy="286583"/>
          </a:xfrm>
          <a:prstGeom prst="rect">
            <a:avLst/>
          </a:prstGeom>
          <a:noFill/>
          <a:ln/>
        </p:spPr>
        <p:txBody>
          <a:bodyPr wrap="none" lIns="0" tIns="0" rIns="0" bIns="0" rtlCol="0" anchor="t"/>
          <a:lstStyle/>
          <a:p>
            <a:pPr marL="0" indent="0" algn="ctr">
              <a:lnSpc>
                <a:spcPts val="2250"/>
              </a:lnSpc>
              <a:buNone/>
            </a:pPr>
            <a:r>
              <a:rPr lang="en-US" sz="1800" dirty="0">
                <a:solidFill>
                  <a:srgbClr val="1F1E1E"/>
                </a:solidFill>
                <a:latin typeface="Sora Semi Bold" pitchFamily="34" charset="0"/>
                <a:ea typeface="Sora Semi Bold" pitchFamily="34" charset="-122"/>
                <a:cs typeface="Sora Semi Bold" pitchFamily="34" charset="-120"/>
              </a:rPr>
              <a:t>Use Amazon SQS When:</a:t>
            </a:r>
            <a:endParaRPr lang="en-US" sz="1800" dirty="0"/>
          </a:p>
        </p:txBody>
      </p:sp>
      <p:sp>
        <p:nvSpPr>
          <p:cNvPr id="5" name="Text 3"/>
          <p:cNvSpPr/>
          <p:nvPr/>
        </p:nvSpPr>
        <p:spPr>
          <a:xfrm>
            <a:off x="696992" y="2928104"/>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are building </a:t>
            </a:r>
            <a:r>
              <a:rPr lang="en-US" sz="1350" b="1" dirty="0">
                <a:solidFill>
                  <a:srgbClr val="3B3535"/>
                </a:solidFill>
                <a:latin typeface="Sora Light" pitchFamily="34" charset="0"/>
                <a:ea typeface="Sora Light" pitchFamily="34" charset="-122"/>
                <a:cs typeface="Sora Light" pitchFamily="34" charset="-120"/>
              </a:rPr>
              <a:t>new cloud-native applications</a:t>
            </a:r>
            <a:r>
              <a:rPr lang="en-US" sz="1350" dirty="0">
                <a:solidFill>
                  <a:srgbClr val="3B3535"/>
                </a:solidFill>
                <a:latin typeface="Sora Light" pitchFamily="34" charset="0"/>
                <a:ea typeface="Sora Light" pitchFamily="34" charset="-122"/>
                <a:cs typeface="Sora Light" pitchFamily="34" charset="-120"/>
              </a:rPr>
              <a:t>, especially those using serverless architectures (e.g., AWS Lambda).</a:t>
            </a:r>
            <a:endParaRPr lang="en-US" sz="1350" dirty="0"/>
          </a:p>
        </p:txBody>
      </p:sp>
      <p:sp>
        <p:nvSpPr>
          <p:cNvPr id="6" name="Text 4"/>
          <p:cNvSpPr/>
          <p:nvPr/>
        </p:nvSpPr>
        <p:spPr>
          <a:xfrm>
            <a:off x="696992" y="3546753"/>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need a </a:t>
            </a:r>
            <a:r>
              <a:rPr lang="en-US" sz="1350" b="1" dirty="0">
                <a:solidFill>
                  <a:srgbClr val="3B3535"/>
                </a:solidFill>
                <a:latin typeface="Sora Light" pitchFamily="34" charset="0"/>
                <a:ea typeface="Sora Light" pitchFamily="34" charset="-122"/>
                <a:cs typeface="Sora Light" pitchFamily="34" charset="-120"/>
              </a:rPr>
              <a:t>simple, scalable, and highly available message queue</a:t>
            </a:r>
            <a:r>
              <a:rPr lang="en-US" sz="1350" dirty="0">
                <a:solidFill>
                  <a:srgbClr val="3B3535"/>
                </a:solidFill>
                <a:latin typeface="Sora Light" pitchFamily="34" charset="0"/>
                <a:ea typeface="Sora Light" pitchFamily="34" charset="-122"/>
                <a:cs typeface="Sora Light" pitchFamily="34" charset="-120"/>
              </a:rPr>
              <a:t> without managing broker infrastructure.</a:t>
            </a:r>
            <a:endParaRPr lang="en-US" sz="1350" dirty="0"/>
          </a:p>
        </p:txBody>
      </p:sp>
      <p:sp>
        <p:nvSpPr>
          <p:cNvPr id="7" name="Text 5"/>
          <p:cNvSpPr/>
          <p:nvPr/>
        </p:nvSpPr>
        <p:spPr>
          <a:xfrm>
            <a:off x="696992" y="4165402"/>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Your application can tolerate </a:t>
            </a:r>
            <a:r>
              <a:rPr lang="en-US" sz="1350" b="1" dirty="0">
                <a:solidFill>
                  <a:srgbClr val="3B3535"/>
                </a:solidFill>
                <a:latin typeface="Sora Light" pitchFamily="34" charset="0"/>
                <a:ea typeface="Sora Light" pitchFamily="34" charset="-122"/>
                <a:cs typeface="Sora Light" pitchFamily="34" charset="-120"/>
              </a:rPr>
              <a:t>at-least-once delivery</a:t>
            </a:r>
            <a:r>
              <a:rPr lang="en-US" sz="1350" dirty="0">
                <a:solidFill>
                  <a:srgbClr val="3B3535"/>
                </a:solidFill>
                <a:latin typeface="Sora Light" pitchFamily="34" charset="0"/>
                <a:ea typeface="Sora Light" pitchFamily="34" charset="-122"/>
                <a:cs typeface="Sora Light" pitchFamily="34" charset="-120"/>
              </a:rPr>
              <a:t> (Standard queues) or requires </a:t>
            </a:r>
            <a:r>
              <a:rPr lang="en-US" sz="1350" b="1" dirty="0">
                <a:solidFill>
                  <a:srgbClr val="3B3535"/>
                </a:solidFill>
                <a:latin typeface="Sora Light" pitchFamily="34" charset="0"/>
                <a:ea typeface="Sora Light" pitchFamily="34" charset="-122"/>
                <a:cs typeface="Sora Light" pitchFamily="34" charset="-120"/>
              </a:rPr>
              <a:t>ordered, exactly-once processing</a:t>
            </a:r>
            <a:r>
              <a:rPr lang="en-US" sz="1350" dirty="0">
                <a:solidFill>
                  <a:srgbClr val="3B3535"/>
                </a:solidFill>
                <a:latin typeface="Sora Light" pitchFamily="34" charset="0"/>
                <a:ea typeface="Sora Light" pitchFamily="34" charset="-122"/>
                <a:cs typeface="Sora Light" pitchFamily="34" charset="-120"/>
              </a:rPr>
              <a:t> (FIFO queues).</a:t>
            </a:r>
            <a:endParaRPr lang="en-US" sz="1350" dirty="0"/>
          </a:p>
        </p:txBody>
      </p:sp>
      <p:sp>
        <p:nvSpPr>
          <p:cNvPr id="8" name="Text 6"/>
          <p:cNvSpPr/>
          <p:nvPr/>
        </p:nvSpPr>
        <p:spPr>
          <a:xfrm>
            <a:off x="696992" y="4784050"/>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prioritize </a:t>
            </a:r>
            <a:r>
              <a:rPr lang="en-US" sz="1350" b="1" dirty="0">
                <a:solidFill>
                  <a:srgbClr val="3B3535"/>
                </a:solidFill>
                <a:latin typeface="Sora Light" pitchFamily="34" charset="0"/>
                <a:ea typeface="Sora Light" pitchFamily="34" charset="-122"/>
                <a:cs typeface="Sora Light" pitchFamily="34" charset="-120"/>
              </a:rPr>
              <a:t>cost-effectiveness</a:t>
            </a:r>
            <a:r>
              <a:rPr lang="en-US" sz="1350" dirty="0">
                <a:solidFill>
                  <a:srgbClr val="3B3535"/>
                </a:solidFill>
                <a:latin typeface="Sora Light" pitchFamily="34" charset="0"/>
                <a:ea typeface="Sora Light" pitchFamily="34" charset="-122"/>
                <a:cs typeface="Sora Light" pitchFamily="34" charset="-120"/>
              </a:rPr>
              <a:t> with a pay-per-message model and minimal operational overhead.</a:t>
            </a:r>
            <a:endParaRPr lang="en-US" sz="1350" dirty="0"/>
          </a:p>
        </p:txBody>
      </p:sp>
      <p:sp>
        <p:nvSpPr>
          <p:cNvPr id="9" name="Text 7"/>
          <p:cNvSpPr/>
          <p:nvPr/>
        </p:nvSpPr>
        <p:spPr>
          <a:xfrm>
            <a:off x="696992" y="5402699"/>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Your use case primarily involves </a:t>
            </a:r>
            <a:r>
              <a:rPr lang="en-US" sz="1350" b="1" dirty="0">
                <a:solidFill>
                  <a:srgbClr val="3B3535"/>
                </a:solidFill>
                <a:latin typeface="Sora Light" pitchFamily="34" charset="0"/>
                <a:ea typeface="Sora Light" pitchFamily="34" charset="-122"/>
                <a:cs typeface="Sora Light" pitchFamily="34" charset="-120"/>
              </a:rPr>
              <a:t>decoupling components</a:t>
            </a:r>
            <a:r>
              <a:rPr lang="en-US" sz="1350" dirty="0">
                <a:solidFill>
                  <a:srgbClr val="3B3535"/>
                </a:solidFill>
                <a:latin typeface="Sora Light" pitchFamily="34" charset="0"/>
                <a:ea typeface="Sora Light" pitchFamily="34" charset="-122"/>
                <a:cs typeface="Sora Light" pitchFamily="34" charset="-120"/>
              </a:rPr>
              <a:t> and enabling asynchronous communication without complex routing logic.</a:t>
            </a:r>
            <a:endParaRPr lang="en-US" sz="1350" dirty="0"/>
          </a:p>
        </p:txBody>
      </p:sp>
      <p:sp>
        <p:nvSpPr>
          <p:cNvPr id="10" name="Text 8"/>
          <p:cNvSpPr/>
          <p:nvPr/>
        </p:nvSpPr>
        <p:spPr>
          <a:xfrm>
            <a:off x="9383554" y="2467332"/>
            <a:ext cx="2709148" cy="286583"/>
          </a:xfrm>
          <a:prstGeom prst="rect">
            <a:avLst/>
          </a:prstGeom>
          <a:noFill/>
          <a:ln/>
        </p:spPr>
        <p:txBody>
          <a:bodyPr wrap="none" lIns="0" tIns="0" rIns="0" bIns="0" rtlCol="0" anchor="t"/>
          <a:lstStyle/>
          <a:p>
            <a:pPr marL="0" indent="0" algn="ctr">
              <a:lnSpc>
                <a:spcPts val="2250"/>
              </a:lnSpc>
              <a:buNone/>
            </a:pPr>
            <a:r>
              <a:rPr lang="en-US" sz="1800" dirty="0">
                <a:solidFill>
                  <a:srgbClr val="1F1E1E"/>
                </a:solidFill>
                <a:latin typeface="Sora Semi Bold" pitchFamily="34" charset="0"/>
                <a:ea typeface="Sora Semi Bold" pitchFamily="34" charset="-122"/>
                <a:cs typeface="Sora Semi Bold" pitchFamily="34" charset="-120"/>
              </a:rPr>
              <a:t>Use Amazon MQ When:</a:t>
            </a:r>
            <a:endParaRPr lang="en-US" sz="1800" dirty="0"/>
          </a:p>
        </p:txBody>
      </p:sp>
      <p:sp>
        <p:nvSpPr>
          <p:cNvPr id="11" name="Text 9"/>
          <p:cNvSpPr/>
          <p:nvPr/>
        </p:nvSpPr>
        <p:spPr>
          <a:xfrm>
            <a:off x="7535347" y="2928104"/>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are </a:t>
            </a:r>
            <a:r>
              <a:rPr lang="en-US" sz="1350" b="1" dirty="0">
                <a:solidFill>
                  <a:srgbClr val="3B3535"/>
                </a:solidFill>
                <a:latin typeface="Sora Light" pitchFamily="34" charset="0"/>
                <a:ea typeface="Sora Light" pitchFamily="34" charset="-122"/>
                <a:cs typeface="Sora Light" pitchFamily="34" charset="-120"/>
              </a:rPr>
              <a:t>migrating existing applications</a:t>
            </a:r>
            <a:r>
              <a:rPr lang="en-US" sz="1350" dirty="0">
                <a:solidFill>
                  <a:srgbClr val="3B3535"/>
                </a:solidFill>
                <a:latin typeface="Sora Light" pitchFamily="34" charset="0"/>
                <a:ea typeface="Sora Light" pitchFamily="34" charset="-122"/>
                <a:cs typeface="Sora Light" pitchFamily="34" charset="-120"/>
              </a:rPr>
              <a:t> from on-premises message brokers (like ActiveMQ or RabbitMQ) and want to avoid rewriting code.</a:t>
            </a:r>
            <a:endParaRPr lang="en-US" sz="1350" dirty="0"/>
          </a:p>
        </p:txBody>
      </p:sp>
      <p:sp>
        <p:nvSpPr>
          <p:cNvPr id="12" name="Text 10"/>
          <p:cNvSpPr/>
          <p:nvPr/>
        </p:nvSpPr>
        <p:spPr>
          <a:xfrm>
            <a:off x="7535347" y="3825597"/>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Your application requires </a:t>
            </a:r>
            <a:r>
              <a:rPr lang="en-US" sz="1350" b="1" dirty="0">
                <a:solidFill>
                  <a:srgbClr val="3B3535"/>
                </a:solidFill>
                <a:latin typeface="Sora Light" pitchFamily="34" charset="0"/>
                <a:ea typeface="Sora Light" pitchFamily="34" charset="-122"/>
                <a:cs typeface="Sora Light" pitchFamily="34" charset="-120"/>
              </a:rPr>
              <a:t>advanced broker features</a:t>
            </a:r>
            <a:r>
              <a:rPr lang="en-US" sz="1350" dirty="0">
                <a:solidFill>
                  <a:srgbClr val="3B3535"/>
                </a:solidFill>
                <a:latin typeface="Sora Light" pitchFamily="34" charset="0"/>
                <a:ea typeface="Sora Light" pitchFamily="34" charset="-122"/>
                <a:cs typeface="Sora Light" pitchFamily="34" charset="-120"/>
              </a:rPr>
              <a:t> such as publish/subscribe topics, complex routing, message filtering, or durable subscriptions.</a:t>
            </a:r>
            <a:endParaRPr lang="en-US" sz="1350" dirty="0"/>
          </a:p>
        </p:txBody>
      </p:sp>
      <p:sp>
        <p:nvSpPr>
          <p:cNvPr id="13" name="Text 11"/>
          <p:cNvSpPr/>
          <p:nvPr/>
        </p:nvSpPr>
        <p:spPr>
          <a:xfrm>
            <a:off x="7535347" y="4723090"/>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need </a:t>
            </a:r>
            <a:r>
              <a:rPr lang="en-US" sz="1350" b="1" dirty="0">
                <a:solidFill>
                  <a:srgbClr val="3B3535"/>
                </a:solidFill>
                <a:latin typeface="Sora Light" pitchFamily="34" charset="0"/>
                <a:ea typeface="Sora Light" pitchFamily="34" charset="-122"/>
                <a:cs typeface="Sora Light" pitchFamily="34" charset="-120"/>
              </a:rPr>
              <a:t>compatibility with industry-standard messaging protocols</a:t>
            </a:r>
            <a:r>
              <a:rPr lang="en-US" sz="1350" dirty="0">
                <a:solidFill>
                  <a:srgbClr val="3B3535"/>
                </a:solidFill>
                <a:latin typeface="Sora Light" pitchFamily="34" charset="0"/>
                <a:ea typeface="Sora Light" pitchFamily="34" charset="-122"/>
                <a:cs typeface="Sora Light" pitchFamily="34" charset="-120"/>
              </a:rPr>
              <a:t> (AMQP, MQTT, JMS, OpenWire, STOMP) that are not natively supported by SQS.</a:t>
            </a:r>
            <a:endParaRPr lang="en-US" sz="1350" dirty="0"/>
          </a:p>
        </p:txBody>
      </p:sp>
      <p:sp>
        <p:nvSpPr>
          <p:cNvPr id="14" name="Text 12"/>
          <p:cNvSpPr/>
          <p:nvPr/>
        </p:nvSpPr>
        <p:spPr>
          <a:xfrm>
            <a:off x="7535347" y="5620583"/>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Your developers are already familiar with open-source message brokers and prefer working within that paradigm.</a:t>
            </a:r>
            <a:endParaRPr lang="en-US" sz="1350" dirty="0"/>
          </a:p>
        </p:txBody>
      </p:sp>
      <p:sp>
        <p:nvSpPr>
          <p:cNvPr id="15" name="Text 13"/>
          <p:cNvSpPr/>
          <p:nvPr/>
        </p:nvSpPr>
        <p:spPr>
          <a:xfrm>
            <a:off x="7535347" y="6239232"/>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3B3535"/>
                </a:solidFill>
                <a:latin typeface="Sora Light" pitchFamily="34" charset="0"/>
                <a:ea typeface="Sora Light" pitchFamily="34" charset="-122"/>
                <a:cs typeface="Sora Light" pitchFamily="34" charset="-120"/>
              </a:rPr>
              <a:t>You need fine-grained control over broker configuration and network security, while still benefiting from AWS-managed operations.</a:t>
            </a:r>
            <a:endParaRPr lang="en-US" sz="1350" dirty="0"/>
          </a:p>
        </p:txBody>
      </p:sp>
      <p:sp>
        <p:nvSpPr>
          <p:cNvPr id="16" name="Text 14"/>
          <p:cNvSpPr/>
          <p:nvPr/>
        </p:nvSpPr>
        <p:spPr>
          <a:xfrm>
            <a:off x="696992" y="7053858"/>
            <a:ext cx="13236416" cy="557689"/>
          </a:xfrm>
          <a:prstGeom prst="rect">
            <a:avLst/>
          </a:prstGeom>
          <a:noFill/>
          <a:ln/>
        </p:spPr>
        <p:txBody>
          <a:bodyPr wrap="square" lIns="0" tIns="0" rIns="0" bIns="0" rtlCol="0" anchor="t"/>
          <a:lstStyle/>
          <a:p>
            <a:pPr marL="0" indent="0" algn="ctr">
              <a:lnSpc>
                <a:spcPts val="2150"/>
              </a:lnSpc>
              <a:buNone/>
            </a:pPr>
            <a:r>
              <a:rPr lang="en-US" sz="1350" dirty="0">
                <a:solidFill>
                  <a:srgbClr val="3B3535"/>
                </a:solidFill>
                <a:latin typeface="Sora Light" pitchFamily="34" charset="0"/>
                <a:ea typeface="Sora Light" pitchFamily="34" charset="-122"/>
                <a:cs typeface="Sora Light" pitchFamily="34" charset="-120"/>
              </a:rPr>
              <a:t>While both services improve decoupling, SQS offers simplicity and native cloud integration, whereas MQ provides a more traditional broker experience for complex needs and seamless migration.</a:t>
            </a:r>
            <a:endParaRPr lang="en-US" sz="1350" dirty="0"/>
          </a:p>
        </p:txBody>
      </p:sp>
      <p:sp>
        <p:nvSpPr>
          <p:cNvPr id="17" name="Rectangle 16">
            <a:extLst>
              <a:ext uri="{FF2B5EF4-FFF2-40B4-BE49-F238E27FC236}">
                <a16:creationId xmlns:a16="http://schemas.microsoft.com/office/drawing/2014/main" id="{E76CBF26-0A8A-FF9E-DB8D-8BAB02341916}"/>
              </a:ext>
            </a:extLst>
          </p:cNvPr>
          <p:cNvSpPr/>
          <p:nvPr/>
        </p:nvSpPr>
        <p:spPr>
          <a:xfrm>
            <a:off x="12582525" y="7659053"/>
            <a:ext cx="2047875" cy="535186"/>
          </a:xfrm>
          <a:prstGeom prst="rect">
            <a:avLst/>
          </a:prstGeom>
          <a:solidFill>
            <a:srgbClr val="F9D2D6"/>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045029" y="260628"/>
            <a:ext cx="6540341" cy="311706"/>
          </a:xfrm>
          <a:prstGeom prst="rect">
            <a:avLst/>
          </a:prstGeom>
          <a:noFill/>
          <a:ln/>
        </p:spPr>
        <p:txBody>
          <a:bodyPr wrap="none" lIns="0" tIns="0" rIns="0" bIns="0" rtlCol="0" anchor="t"/>
          <a:lstStyle/>
          <a:p>
            <a:pPr marL="0" indent="0" algn="ctr">
              <a:lnSpc>
                <a:spcPts val="2450"/>
              </a:lnSpc>
              <a:buNone/>
            </a:pPr>
            <a:r>
              <a:rPr lang="en-US" sz="1950" dirty="0">
                <a:solidFill>
                  <a:srgbClr val="FFFFFF"/>
                </a:solidFill>
                <a:latin typeface="Sora Semi Bold" pitchFamily="34" charset="0"/>
                <a:ea typeface="Sora Semi Bold" pitchFamily="34" charset="-122"/>
                <a:cs typeface="Sora Semi Bold" pitchFamily="34" charset="-120"/>
              </a:rPr>
              <a:t>Real-World Integration Example: Hybrid Messaging</a:t>
            </a:r>
            <a:endParaRPr lang="en-US" sz="1950" dirty="0"/>
          </a:p>
        </p:txBody>
      </p:sp>
      <p:sp>
        <p:nvSpPr>
          <p:cNvPr id="3" name="Text 1"/>
          <p:cNvSpPr/>
          <p:nvPr/>
        </p:nvSpPr>
        <p:spPr>
          <a:xfrm>
            <a:off x="379095" y="761881"/>
            <a:ext cx="13872210" cy="151567"/>
          </a:xfrm>
          <a:prstGeom prst="rect">
            <a:avLst/>
          </a:prstGeom>
          <a:noFill/>
          <a:ln/>
        </p:spPr>
        <p:txBody>
          <a:bodyPr wrap="none" lIns="0" tIns="0" rIns="0" bIns="0" rtlCol="0" anchor="t"/>
          <a:lstStyle/>
          <a:p>
            <a:pPr marL="0" indent="0" algn="ctr">
              <a:lnSpc>
                <a:spcPts val="1150"/>
              </a:lnSpc>
              <a:buNone/>
            </a:pPr>
            <a:r>
              <a:rPr lang="en-US" sz="700" dirty="0">
                <a:solidFill>
                  <a:srgbClr val="FFFFFF"/>
                </a:solidFill>
                <a:latin typeface="Sora Light" pitchFamily="34" charset="0"/>
                <a:ea typeface="Sora Light" pitchFamily="34" charset="-122"/>
                <a:cs typeface="Sora Light" pitchFamily="34" charset="-120"/>
              </a:rPr>
              <a:t>A common challenge for enterprises is integrating legacy on-premises systems with new cloud-native applications. This often involves bridging traditional messaging middleware with AWS services.</a:t>
            </a:r>
            <a:endParaRPr lang="en-US" sz="700" dirty="0"/>
          </a:p>
        </p:txBody>
      </p:sp>
      <p:pic>
        <p:nvPicPr>
          <p:cNvPr id="4" name="Image 0" descr="preencoded.png"/>
          <p:cNvPicPr>
            <a:picLocks noChangeAspect="1"/>
          </p:cNvPicPr>
          <p:nvPr/>
        </p:nvPicPr>
        <p:blipFill>
          <a:blip r:embed="rId3"/>
          <a:stretch>
            <a:fillRect/>
          </a:stretch>
        </p:blipFill>
        <p:spPr>
          <a:xfrm>
            <a:off x="1956078" y="1020008"/>
            <a:ext cx="10718125" cy="7386280"/>
          </a:xfrm>
          <a:prstGeom prst="rect">
            <a:avLst/>
          </a:prstGeom>
        </p:spPr>
      </p:pic>
      <p:sp>
        <p:nvSpPr>
          <p:cNvPr id="5" name="Text 2"/>
          <p:cNvSpPr/>
          <p:nvPr/>
        </p:nvSpPr>
        <p:spPr>
          <a:xfrm>
            <a:off x="2224515" y="5616015"/>
            <a:ext cx="2928977" cy="821492"/>
          </a:xfrm>
          <a:prstGeom prst="rect">
            <a:avLst/>
          </a:prstGeom>
          <a:noFill/>
          <a:ln/>
        </p:spPr>
        <p:txBody>
          <a:bodyPr wrap="square" lIns="0" tIns="0" rIns="0" bIns="0" rtlCol="0" anchor="t"/>
          <a:lstStyle/>
          <a:p>
            <a:pPr marL="0" indent="0" algn="ctr">
              <a:lnSpc>
                <a:spcPts val="1750"/>
              </a:lnSpc>
              <a:buNone/>
            </a:pPr>
            <a:r>
              <a:rPr lang="en-US" sz="1400" dirty="0">
                <a:solidFill>
                  <a:srgbClr val="FFFFFF"/>
                </a:solidFill>
                <a:latin typeface="Sora Semi Bold" pitchFamily="34" charset="0"/>
                <a:ea typeface="Sora Semi Bold" pitchFamily="34" charset="-122"/>
                <a:cs typeface="Sora Semi Bold" pitchFamily="34" charset="-120"/>
              </a:rPr>
              <a:t>IBM MQ (On‑Prem)</a:t>
            </a:r>
            <a:endParaRPr lang="en-US" sz="1400" dirty="0"/>
          </a:p>
        </p:txBody>
      </p:sp>
      <p:pic>
        <p:nvPicPr>
          <p:cNvPr id="6" name="Image 1" descr="preencoded.png"/>
          <p:cNvPicPr>
            <a:picLocks noChangeAspect="1"/>
          </p:cNvPicPr>
          <p:nvPr/>
        </p:nvPicPr>
        <p:blipFill>
          <a:blip r:embed="rId4"/>
          <a:stretch>
            <a:fillRect/>
          </a:stretch>
        </p:blipFill>
        <p:spPr>
          <a:xfrm>
            <a:off x="3475394" y="3734387"/>
            <a:ext cx="693608" cy="693608"/>
          </a:xfrm>
          <a:prstGeom prst="rect">
            <a:avLst/>
          </a:prstGeom>
        </p:spPr>
      </p:pic>
      <p:sp>
        <p:nvSpPr>
          <p:cNvPr id="7" name="Text 3"/>
          <p:cNvSpPr/>
          <p:nvPr/>
        </p:nvSpPr>
        <p:spPr>
          <a:xfrm>
            <a:off x="4720421" y="2493695"/>
            <a:ext cx="3024131" cy="410746"/>
          </a:xfrm>
          <a:prstGeom prst="rect">
            <a:avLst/>
          </a:prstGeom>
          <a:noFill/>
          <a:ln/>
        </p:spPr>
        <p:txBody>
          <a:bodyPr wrap="none" lIns="0" tIns="0" rIns="0" bIns="0" rtlCol="0" anchor="t"/>
          <a:lstStyle/>
          <a:p>
            <a:pPr marL="0" indent="0" algn="ctr">
              <a:lnSpc>
                <a:spcPts val="1750"/>
              </a:lnSpc>
              <a:buNone/>
            </a:pPr>
            <a:r>
              <a:rPr lang="en-US" sz="1400" dirty="0">
                <a:solidFill>
                  <a:srgbClr val="FFFFFF"/>
                </a:solidFill>
                <a:latin typeface="Sora Semi Bold" pitchFamily="34" charset="0"/>
                <a:ea typeface="Sora Semi Bold" pitchFamily="34" charset="-122"/>
                <a:cs typeface="Sora Semi Bold" pitchFamily="34" charset="-120"/>
              </a:rPr>
              <a:t>Apache Camel</a:t>
            </a:r>
            <a:endParaRPr lang="en-US" sz="1400" dirty="0"/>
          </a:p>
        </p:txBody>
      </p:sp>
      <p:pic>
        <p:nvPicPr>
          <p:cNvPr id="8" name="Image 2" descr="preencoded.png"/>
          <p:cNvPicPr>
            <a:picLocks noChangeAspect="1"/>
          </p:cNvPicPr>
          <p:nvPr/>
        </p:nvPicPr>
        <p:blipFill>
          <a:blip r:embed="rId5"/>
          <a:stretch>
            <a:fillRect/>
          </a:stretch>
        </p:blipFill>
        <p:spPr>
          <a:xfrm>
            <a:off x="5667846" y="4157271"/>
            <a:ext cx="693608" cy="693608"/>
          </a:xfrm>
          <a:prstGeom prst="rect">
            <a:avLst/>
          </a:prstGeom>
        </p:spPr>
      </p:pic>
      <p:sp>
        <p:nvSpPr>
          <p:cNvPr id="9" name="Text 4"/>
          <p:cNvSpPr/>
          <p:nvPr/>
        </p:nvSpPr>
        <p:spPr>
          <a:xfrm>
            <a:off x="6750525" y="6524425"/>
            <a:ext cx="2928977" cy="410746"/>
          </a:xfrm>
          <a:prstGeom prst="rect">
            <a:avLst/>
          </a:prstGeom>
          <a:noFill/>
          <a:ln/>
        </p:spPr>
        <p:txBody>
          <a:bodyPr wrap="none" lIns="0" tIns="0" rIns="0" bIns="0" rtlCol="0" anchor="t"/>
          <a:lstStyle/>
          <a:p>
            <a:pPr marL="0" indent="0" algn="ctr">
              <a:lnSpc>
                <a:spcPts val="1750"/>
              </a:lnSpc>
              <a:buNone/>
            </a:pPr>
            <a:r>
              <a:rPr lang="en-US" sz="1400" dirty="0">
                <a:solidFill>
                  <a:srgbClr val="FFFFFF"/>
                </a:solidFill>
                <a:latin typeface="Sora Semi Bold" pitchFamily="34" charset="0"/>
                <a:ea typeface="Sora Semi Bold" pitchFamily="34" charset="-122"/>
                <a:cs typeface="Sora Semi Bold" pitchFamily="34" charset="-120"/>
              </a:rPr>
              <a:t>AWS Messaging</a:t>
            </a:r>
            <a:endParaRPr lang="en-US" sz="1400" dirty="0"/>
          </a:p>
        </p:txBody>
      </p:sp>
      <p:pic>
        <p:nvPicPr>
          <p:cNvPr id="10" name="Image 3" descr="preencoded.png"/>
          <p:cNvPicPr>
            <a:picLocks noChangeAspect="1"/>
          </p:cNvPicPr>
          <p:nvPr/>
        </p:nvPicPr>
        <p:blipFill>
          <a:blip r:embed="rId6"/>
          <a:stretch>
            <a:fillRect/>
          </a:stretch>
        </p:blipFill>
        <p:spPr>
          <a:xfrm>
            <a:off x="7860514" y="4580155"/>
            <a:ext cx="693608" cy="693608"/>
          </a:xfrm>
          <a:prstGeom prst="rect">
            <a:avLst/>
          </a:prstGeom>
        </p:spPr>
      </p:pic>
      <p:sp>
        <p:nvSpPr>
          <p:cNvPr id="11" name="Text 5"/>
          <p:cNvSpPr/>
          <p:nvPr/>
        </p:nvSpPr>
        <p:spPr>
          <a:xfrm>
            <a:off x="9350471" y="3310202"/>
            <a:ext cx="2928977" cy="410746"/>
          </a:xfrm>
          <a:prstGeom prst="rect">
            <a:avLst/>
          </a:prstGeom>
          <a:noFill/>
          <a:ln/>
        </p:spPr>
        <p:txBody>
          <a:bodyPr wrap="none" lIns="0" tIns="0" rIns="0" bIns="0" rtlCol="0" anchor="t"/>
          <a:lstStyle/>
          <a:p>
            <a:pPr marL="0" indent="0" algn="ctr">
              <a:lnSpc>
                <a:spcPts val="1750"/>
              </a:lnSpc>
              <a:buNone/>
            </a:pPr>
            <a:r>
              <a:rPr lang="en-US" sz="1400" dirty="0">
                <a:solidFill>
                  <a:srgbClr val="FFFFFF"/>
                </a:solidFill>
                <a:latin typeface="Sora Semi Bold" pitchFamily="34" charset="0"/>
                <a:ea typeface="Sora Semi Bold" pitchFamily="34" charset="-122"/>
                <a:cs typeface="Sora Semi Bold" pitchFamily="34" charset="-120"/>
              </a:rPr>
              <a:t>S3 / DLQ</a:t>
            </a:r>
            <a:endParaRPr lang="en-US" sz="1400" dirty="0"/>
          </a:p>
        </p:txBody>
      </p:sp>
      <p:pic>
        <p:nvPicPr>
          <p:cNvPr id="12" name="Image 4" descr="preencoded.png"/>
          <p:cNvPicPr>
            <a:picLocks noChangeAspect="1"/>
          </p:cNvPicPr>
          <p:nvPr/>
        </p:nvPicPr>
        <p:blipFill>
          <a:blip r:embed="rId7"/>
          <a:stretch>
            <a:fillRect/>
          </a:stretch>
        </p:blipFill>
        <p:spPr>
          <a:xfrm>
            <a:off x="10194072" y="5034251"/>
            <a:ext cx="693608" cy="693608"/>
          </a:xfrm>
          <a:prstGeom prst="rect">
            <a:avLst/>
          </a:prstGeom>
        </p:spPr>
      </p:pic>
      <p:sp>
        <p:nvSpPr>
          <p:cNvPr id="13" name="Text 6"/>
          <p:cNvSpPr/>
          <p:nvPr/>
        </p:nvSpPr>
        <p:spPr>
          <a:xfrm>
            <a:off x="379095" y="8512850"/>
            <a:ext cx="13872210" cy="151567"/>
          </a:xfrm>
          <a:prstGeom prst="rect">
            <a:avLst/>
          </a:prstGeom>
          <a:noFill/>
          <a:ln/>
        </p:spPr>
        <p:txBody>
          <a:bodyPr wrap="none" lIns="0" tIns="0" rIns="0" bIns="0" rtlCol="0" anchor="t"/>
          <a:lstStyle/>
          <a:p>
            <a:pPr marL="0" indent="0" algn="ctr">
              <a:lnSpc>
                <a:spcPts val="1150"/>
              </a:lnSpc>
              <a:buNone/>
            </a:pPr>
            <a:r>
              <a:rPr lang="en-US" sz="700" dirty="0">
                <a:solidFill>
                  <a:srgbClr val="FFFFFF"/>
                </a:solidFill>
                <a:latin typeface="Sora Light" pitchFamily="34" charset="0"/>
                <a:ea typeface="Sora Light" pitchFamily="34" charset="-122"/>
                <a:cs typeface="Sora Light" pitchFamily="34" charset="-120"/>
              </a:rPr>
              <a:t>Consider a scenario where an enterprise has a significant investment in on-premises IBM MQ infrastructure but wants to leverage the scalability and flexibility of AWS.</a:t>
            </a:r>
            <a:endParaRPr lang="en-US" sz="700" dirty="0"/>
          </a:p>
        </p:txBody>
      </p:sp>
      <p:sp>
        <p:nvSpPr>
          <p:cNvPr id="14" name="Text 7"/>
          <p:cNvSpPr/>
          <p:nvPr/>
        </p:nvSpPr>
        <p:spPr>
          <a:xfrm>
            <a:off x="379095" y="8865751"/>
            <a:ext cx="2616398" cy="155972"/>
          </a:xfrm>
          <a:prstGeom prst="rect">
            <a:avLst/>
          </a:prstGeom>
          <a:noFill/>
          <a:ln/>
        </p:spPr>
        <p:txBody>
          <a:bodyPr wrap="none" lIns="0" tIns="0" rIns="0" bIns="0" rtlCol="0" anchor="t"/>
          <a:lstStyle/>
          <a:p>
            <a:pPr marL="0" indent="0" algn="l">
              <a:lnSpc>
                <a:spcPts val="1200"/>
              </a:lnSpc>
              <a:buNone/>
            </a:pPr>
            <a:r>
              <a:rPr lang="en-US" sz="950" dirty="0">
                <a:solidFill>
                  <a:srgbClr val="FFFFFF"/>
                </a:solidFill>
                <a:latin typeface="Sora Semi Bold" pitchFamily="34" charset="0"/>
                <a:ea typeface="Sora Semi Bold" pitchFamily="34" charset="-122"/>
                <a:cs typeface="Sora Semi Bold" pitchFamily="34" charset="-120"/>
              </a:rPr>
              <a:t>Bi-directional Bridge with Apache Camel</a:t>
            </a:r>
            <a:endParaRPr lang="en-US" sz="950" dirty="0"/>
          </a:p>
        </p:txBody>
      </p:sp>
      <p:sp>
        <p:nvSpPr>
          <p:cNvPr id="15" name="Text 8"/>
          <p:cNvSpPr/>
          <p:nvPr/>
        </p:nvSpPr>
        <p:spPr>
          <a:xfrm>
            <a:off x="379095" y="9116497"/>
            <a:ext cx="6820495" cy="454700"/>
          </a:xfrm>
          <a:prstGeom prst="rect">
            <a:avLst/>
          </a:prstGeom>
          <a:noFill/>
          <a:ln/>
        </p:spPr>
        <p:txBody>
          <a:bodyPr wrap="square" lIns="0" tIns="0" rIns="0" bIns="0" rtlCol="0" anchor="t"/>
          <a:lstStyle/>
          <a:p>
            <a:pPr marL="0" indent="0" algn="l">
              <a:lnSpc>
                <a:spcPts val="1150"/>
              </a:lnSpc>
              <a:buNone/>
            </a:pPr>
            <a:r>
              <a:rPr lang="en-US" sz="700" dirty="0">
                <a:solidFill>
                  <a:srgbClr val="FFFFFF"/>
                </a:solidFill>
                <a:latin typeface="Sora Light" pitchFamily="34" charset="0"/>
                <a:ea typeface="Sora Light" pitchFamily="34" charset="-122"/>
                <a:cs typeface="Sora Light" pitchFamily="34" charset="-120"/>
              </a:rPr>
              <a:t>Apache Camel, an open-source integration framework, can be used to build a robust bi-directional bridge. This allows messages to flow seamlessly between on-premises IBM MQ and various AWS messaging services like Amazon MQ, SQS, and SNS (Simple Notification Service). Camel’s extensive component library provides connectors for both IBM MQ and AWS services, simplifying the integration logic.</a:t>
            </a:r>
            <a:endParaRPr lang="en-US" sz="700" dirty="0"/>
          </a:p>
        </p:txBody>
      </p:sp>
      <p:sp>
        <p:nvSpPr>
          <p:cNvPr id="16" name="Text 9"/>
          <p:cNvSpPr/>
          <p:nvPr/>
        </p:nvSpPr>
        <p:spPr>
          <a:xfrm>
            <a:off x="7438430" y="8865751"/>
            <a:ext cx="2272070" cy="155972"/>
          </a:xfrm>
          <a:prstGeom prst="rect">
            <a:avLst/>
          </a:prstGeom>
          <a:noFill/>
          <a:ln/>
        </p:spPr>
        <p:txBody>
          <a:bodyPr wrap="none" lIns="0" tIns="0" rIns="0" bIns="0" rtlCol="0" anchor="t"/>
          <a:lstStyle/>
          <a:p>
            <a:pPr marL="0" indent="0" algn="l">
              <a:lnSpc>
                <a:spcPts val="1200"/>
              </a:lnSpc>
              <a:buNone/>
            </a:pPr>
            <a:r>
              <a:rPr lang="en-US" sz="950" dirty="0">
                <a:solidFill>
                  <a:srgbClr val="FFFFFF"/>
                </a:solidFill>
                <a:latin typeface="Sora Semi Bold" pitchFamily="34" charset="0"/>
                <a:ea typeface="Sora Semi Bold" pitchFamily="34" charset="-122"/>
                <a:cs typeface="Sora Semi Bold" pitchFamily="34" charset="-120"/>
              </a:rPr>
              <a:t>Handling Large Messages &amp; Failures</a:t>
            </a:r>
            <a:endParaRPr lang="en-US" sz="950" dirty="0"/>
          </a:p>
        </p:txBody>
      </p:sp>
      <p:sp>
        <p:nvSpPr>
          <p:cNvPr id="17" name="Text 10"/>
          <p:cNvSpPr/>
          <p:nvPr/>
        </p:nvSpPr>
        <p:spPr>
          <a:xfrm>
            <a:off x="7438430" y="9116497"/>
            <a:ext cx="6820495" cy="454700"/>
          </a:xfrm>
          <a:prstGeom prst="rect">
            <a:avLst/>
          </a:prstGeom>
          <a:noFill/>
          <a:ln/>
        </p:spPr>
        <p:txBody>
          <a:bodyPr wrap="square" lIns="0" tIns="0" rIns="0" bIns="0" rtlCol="0" anchor="t"/>
          <a:lstStyle/>
          <a:p>
            <a:pPr marL="342900" indent="-342900" algn="l">
              <a:lnSpc>
                <a:spcPts val="1150"/>
              </a:lnSpc>
              <a:buSzPct val="100000"/>
              <a:buChar char="•"/>
            </a:pPr>
            <a:r>
              <a:rPr lang="en-US" sz="700" b="1" dirty="0">
                <a:solidFill>
                  <a:srgbClr val="FFFFFF"/>
                </a:solidFill>
                <a:latin typeface="Sora Light" pitchFamily="34" charset="0"/>
                <a:ea typeface="Sora Light" pitchFamily="34" charset="-122"/>
                <a:cs typeface="Sora Light" pitchFamily="34" charset="-120"/>
              </a:rPr>
              <a:t>S3-backed Storage:</a:t>
            </a:r>
            <a:r>
              <a:rPr lang="en-US" sz="700" dirty="0">
                <a:solidFill>
                  <a:srgbClr val="FFFFFF"/>
                </a:solidFill>
                <a:latin typeface="Sora Light" pitchFamily="34" charset="0"/>
                <a:ea typeface="Sora Light" pitchFamily="34" charset="-122"/>
                <a:cs typeface="Sora Light" pitchFamily="34" charset="-120"/>
              </a:rPr>
              <a:t> For large messages exceeding typical queue size limits, the solution can integrate with Amazon S3. Message metadata is sent through the queue, while the actual large payload is stored in S3, with a reference passed in the message. This prevents message size limitations and improves queue performance.</a:t>
            </a:r>
            <a:endParaRPr lang="en-US" sz="700" dirty="0"/>
          </a:p>
        </p:txBody>
      </p:sp>
      <p:sp>
        <p:nvSpPr>
          <p:cNvPr id="18" name="Text 11"/>
          <p:cNvSpPr/>
          <p:nvPr/>
        </p:nvSpPr>
        <p:spPr>
          <a:xfrm>
            <a:off x="7438430" y="9604296"/>
            <a:ext cx="6820495" cy="454700"/>
          </a:xfrm>
          <a:prstGeom prst="rect">
            <a:avLst/>
          </a:prstGeom>
          <a:noFill/>
          <a:ln/>
        </p:spPr>
        <p:txBody>
          <a:bodyPr wrap="square" lIns="0" tIns="0" rIns="0" bIns="0" rtlCol="0" anchor="t"/>
          <a:lstStyle/>
          <a:p>
            <a:pPr marL="342900" indent="-342900" algn="l">
              <a:lnSpc>
                <a:spcPts val="1150"/>
              </a:lnSpc>
              <a:buSzPct val="100000"/>
              <a:buChar char="•"/>
            </a:pPr>
            <a:r>
              <a:rPr lang="en-US" sz="700" b="1" dirty="0">
                <a:solidFill>
                  <a:srgbClr val="FFFFFF"/>
                </a:solidFill>
                <a:latin typeface="Sora Light" pitchFamily="34" charset="0"/>
                <a:ea typeface="Sora Light" pitchFamily="34" charset="-122"/>
                <a:cs typeface="Sora Light" pitchFamily="34" charset="-120"/>
              </a:rPr>
              <a:t>Dead-Letter Queues (DLQs):</a:t>
            </a:r>
            <a:r>
              <a:rPr lang="en-US" sz="700" dirty="0">
                <a:solidFill>
                  <a:srgbClr val="FFFFFF"/>
                </a:solidFill>
                <a:latin typeface="Sora Light" pitchFamily="34" charset="0"/>
                <a:ea typeface="Sora Light" pitchFamily="34" charset="-122"/>
                <a:cs typeface="Sora Light" pitchFamily="34" charset="-120"/>
              </a:rPr>
              <a:t> Implementing DLQs for both on-premises and cloud queues is crucial for handling failed message processing. Messages that cannot be delivered or processed after multiple retries are moved to a DLQ, allowing operations teams to inspect, debug, and manually intervene without blocking the main message flow.</a:t>
            </a:r>
            <a:endParaRPr lang="en-US" sz="700" dirty="0"/>
          </a:p>
        </p:txBody>
      </p:sp>
      <p:sp>
        <p:nvSpPr>
          <p:cNvPr id="19" name="Rectangle 18">
            <a:extLst>
              <a:ext uri="{FF2B5EF4-FFF2-40B4-BE49-F238E27FC236}">
                <a16:creationId xmlns:a16="http://schemas.microsoft.com/office/drawing/2014/main" id="{52BBC40E-88CB-3D92-0B00-3D4D7049A4DD}"/>
              </a:ext>
            </a:extLst>
          </p:cNvPr>
          <p:cNvSpPr/>
          <p:nvPr/>
        </p:nvSpPr>
        <p:spPr>
          <a:xfrm>
            <a:off x="12582525" y="7659053"/>
            <a:ext cx="2047875" cy="535186"/>
          </a:xfrm>
          <a:prstGeom prst="rect">
            <a:avLst/>
          </a:prstGeom>
          <a:solidFill>
            <a:srgbClr val="DA1B2E"/>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510195" y="1170861"/>
            <a:ext cx="9609892" cy="623530"/>
          </a:xfrm>
          <a:prstGeom prst="rect">
            <a:avLst/>
          </a:prstGeom>
          <a:noFill/>
          <a:ln/>
        </p:spPr>
        <p:txBody>
          <a:bodyPr wrap="none" lIns="0" tIns="0" rIns="0" bIns="0" rtlCol="0" anchor="t"/>
          <a:lstStyle/>
          <a:p>
            <a:pPr marL="0" indent="0" algn="ctr">
              <a:lnSpc>
                <a:spcPts val="4900"/>
              </a:lnSpc>
              <a:buNone/>
            </a:pPr>
            <a:r>
              <a:rPr lang="en-US" sz="3900" dirty="0">
                <a:solidFill>
                  <a:srgbClr val="FFFFFF"/>
                </a:solidFill>
                <a:latin typeface="Sora Semi Bold" pitchFamily="34" charset="0"/>
                <a:ea typeface="Sora Semi Bold" pitchFamily="34" charset="-122"/>
                <a:cs typeface="Sora Semi Bold" pitchFamily="34" charset="-120"/>
              </a:rPr>
              <a:t>Architectural Patterns with SQS &amp; MQ</a:t>
            </a:r>
            <a:endParaRPr lang="en-US" sz="3900" dirty="0"/>
          </a:p>
        </p:txBody>
      </p:sp>
      <p:sp>
        <p:nvSpPr>
          <p:cNvPr id="3" name="Text 1"/>
          <p:cNvSpPr/>
          <p:nvPr/>
        </p:nvSpPr>
        <p:spPr>
          <a:xfrm>
            <a:off x="758309" y="2173486"/>
            <a:ext cx="13113782" cy="303252"/>
          </a:xfrm>
          <a:prstGeom prst="rect">
            <a:avLst/>
          </a:prstGeom>
          <a:noFill/>
          <a:ln/>
        </p:spPr>
        <p:txBody>
          <a:bodyPr wrap="none" lIns="0" tIns="0" rIns="0" bIns="0" rtlCol="0" anchor="t"/>
          <a:lstStyle/>
          <a:p>
            <a:pPr marL="0" indent="0" algn="ctr">
              <a:lnSpc>
                <a:spcPts val="2350"/>
              </a:lnSpc>
              <a:buNone/>
            </a:pPr>
            <a:r>
              <a:rPr lang="en-US" sz="1450" dirty="0">
                <a:solidFill>
                  <a:srgbClr val="FFFFFF"/>
                </a:solidFill>
                <a:latin typeface="Sora Light" pitchFamily="34" charset="0"/>
                <a:ea typeface="Sora Light" pitchFamily="34" charset="-122"/>
                <a:cs typeface="Sora Light" pitchFamily="34" charset="-120"/>
              </a:rPr>
              <a:t>Both SQS and MQ can be combined with other AWS services to build powerful and resilient architectural patterns.</a:t>
            </a:r>
            <a:endParaRPr lang="en-US" sz="1450" dirty="0"/>
          </a:p>
        </p:txBody>
      </p:sp>
      <p:sp>
        <p:nvSpPr>
          <p:cNvPr id="4" name="Shape 2"/>
          <p:cNvSpPr/>
          <p:nvPr/>
        </p:nvSpPr>
        <p:spPr>
          <a:xfrm>
            <a:off x="758309" y="2689979"/>
            <a:ext cx="13113782" cy="3549015"/>
          </a:xfrm>
          <a:prstGeom prst="roundRect">
            <a:avLst>
              <a:gd name="adj" fmla="val 2244"/>
            </a:avLst>
          </a:prstGeom>
          <a:solidFill>
            <a:srgbClr val="F9D2D6"/>
          </a:solidFill>
          <a:ln w="7620">
            <a:solidFill>
              <a:srgbClr val="DFB8BC"/>
            </a:solidFill>
            <a:prstDash val="solid"/>
          </a:ln>
        </p:spPr>
      </p:sp>
      <p:sp>
        <p:nvSpPr>
          <p:cNvPr id="5" name="Shape 3"/>
          <p:cNvSpPr/>
          <p:nvPr/>
        </p:nvSpPr>
        <p:spPr>
          <a:xfrm>
            <a:off x="765929" y="2697599"/>
            <a:ext cx="4366141" cy="3533775"/>
          </a:xfrm>
          <a:prstGeom prst="roundRect">
            <a:avLst>
              <a:gd name="adj" fmla="val 2253"/>
            </a:avLst>
          </a:prstGeom>
          <a:solidFill>
            <a:srgbClr val="DA1B2E"/>
          </a:solidFill>
          <a:ln/>
        </p:spPr>
      </p:sp>
      <p:sp>
        <p:nvSpPr>
          <p:cNvPr id="6" name="Text 4"/>
          <p:cNvSpPr/>
          <p:nvPr/>
        </p:nvSpPr>
        <p:spPr>
          <a:xfrm>
            <a:off x="955477" y="2887147"/>
            <a:ext cx="2494359" cy="311706"/>
          </a:xfrm>
          <a:prstGeom prst="rect">
            <a:avLst/>
          </a:prstGeom>
          <a:noFill/>
          <a:ln/>
        </p:spPr>
        <p:txBody>
          <a:bodyPr wrap="none" lIns="0" tIns="0" rIns="0" bIns="0" rtlCol="0" anchor="t"/>
          <a:lstStyle/>
          <a:p>
            <a:pPr marL="0" indent="0" algn="l">
              <a:lnSpc>
                <a:spcPts val="2450"/>
              </a:lnSpc>
              <a:buNone/>
            </a:pPr>
            <a:r>
              <a:rPr lang="en-US" sz="1950" dirty="0">
                <a:solidFill>
                  <a:srgbClr val="FFF6F7"/>
                </a:solidFill>
                <a:latin typeface="Sora Semi Bold" pitchFamily="34" charset="0"/>
                <a:ea typeface="Sora Semi Bold" pitchFamily="34" charset="-122"/>
                <a:cs typeface="Sora Semi Bold" pitchFamily="34" charset="-120"/>
              </a:rPr>
              <a:t>Fanout Pattern</a:t>
            </a:r>
            <a:endParaRPr lang="en-US" sz="1950" dirty="0"/>
          </a:p>
        </p:txBody>
      </p:sp>
      <p:sp>
        <p:nvSpPr>
          <p:cNvPr id="7" name="Text 5"/>
          <p:cNvSpPr/>
          <p:nvPr/>
        </p:nvSpPr>
        <p:spPr>
          <a:xfrm>
            <a:off x="955477" y="3312557"/>
            <a:ext cx="3702725" cy="2426018"/>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Sora Light" pitchFamily="34" charset="0"/>
                <a:ea typeface="Sora Light" pitchFamily="34" charset="-122"/>
                <a:cs typeface="Sora Light" pitchFamily="34" charset="-120"/>
              </a:rPr>
              <a:t>Utilize Amazon SNS (Simple Notification Service) topics to publish a message once, and then fan it out to multiple Amazon SQS queues for parallel processing by different downstream services. This is highly effective for broadcasting events or updates to multiple subscribers.</a:t>
            </a:r>
            <a:endParaRPr lang="en-US" sz="1450" dirty="0"/>
          </a:p>
        </p:txBody>
      </p:sp>
      <p:sp>
        <p:nvSpPr>
          <p:cNvPr id="8" name="Shape 6"/>
          <p:cNvSpPr/>
          <p:nvPr/>
        </p:nvSpPr>
        <p:spPr>
          <a:xfrm>
            <a:off x="5132070" y="2697599"/>
            <a:ext cx="4366141" cy="3533775"/>
          </a:xfrm>
          <a:prstGeom prst="rect">
            <a:avLst/>
          </a:prstGeom>
          <a:solidFill>
            <a:srgbClr val="DA1B2E"/>
          </a:solidFill>
          <a:ln/>
        </p:spPr>
      </p:sp>
      <p:sp>
        <p:nvSpPr>
          <p:cNvPr id="9" name="Shape 7"/>
          <p:cNvSpPr/>
          <p:nvPr/>
        </p:nvSpPr>
        <p:spPr>
          <a:xfrm>
            <a:off x="5132070" y="2697599"/>
            <a:ext cx="22860" cy="3533775"/>
          </a:xfrm>
          <a:prstGeom prst="roundRect">
            <a:avLst>
              <a:gd name="adj" fmla="val 348309"/>
            </a:avLst>
          </a:prstGeom>
          <a:solidFill>
            <a:srgbClr val="F33447"/>
          </a:solidFill>
          <a:ln/>
        </p:spPr>
      </p:sp>
      <p:sp>
        <p:nvSpPr>
          <p:cNvPr id="10" name="Text 8"/>
          <p:cNvSpPr/>
          <p:nvPr/>
        </p:nvSpPr>
        <p:spPr>
          <a:xfrm>
            <a:off x="5605939" y="2887147"/>
            <a:ext cx="3065145" cy="311706"/>
          </a:xfrm>
          <a:prstGeom prst="rect">
            <a:avLst/>
          </a:prstGeom>
          <a:noFill/>
          <a:ln/>
        </p:spPr>
        <p:txBody>
          <a:bodyPr wrap="none" lIns="0" tIns="0" rIns="0" bIns="0" rtlCol="0" anchor="t"/>
          <a:lstStyle/>
          <a:p>
            <a:pPr marL="0" indent="0" algn="l">
              <a:lnSpc>
                <a:spcPts val="2450"/>
              </a:lnSpc>
              <a:buNone/>
            </a:pPr>
            <a:r>
              <a:rPr lang="en-US" sz="1950" dirty="0">
                <a:solidFill>
                  <a:srgbClr val="FFF6F7"/>
                </a:solidFill>
                <a:latin typeface="Sora Semi Bold" pitchFamily="34" charset="0"/>
                <a:ea typeface="Sora Semi Bold" pitchFamily="34" charset="-122"/>
                <a:cs typeface="Sora Semi Bold" pitchFamily="34" charset="-120"/>
              </a:rPr>
              <a:t>Event-Driven Serverless</a:t>
            </a:r>
            <a:endParaRPr lang="en-US" sz="1950" dirty="0"/>
          </a:p>
        </p:txBody>
      </p:sp>
      <p:sp>
        <p:nvSpPr>
          <p:cNvPr id="11" name="Text 9"/>
          <p:cNvSpPr/>
          <p:nvPr/>
        </p:nvSpPr>
        <p:spPr>
          <a:xfrm>
            <a:off x="5605939" y="3312557"/>
            <a:ext cx="3418403" cy="2729270"/>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Sora Light" pitchFamily="34" charset="0"/>
                <a:ea typeface="Sora Light" pitchFamily="34" charset="-122"/>
                <a:cs typeface="Sora Light" pitchFamily="34" charset="-120"/>
              </a:rPr>
              <a:t>SQS can directly trigger AWS Lambda functions. This pattern allows for scalable background processing of events (e.g., image resizing, data processing, email notifications) without provisioning or managing any servers, scaling automatically with incoming message volume.</a:t>
            </a:r>
            <a:endParaRPr lang="en-US" sz="1450" dirty="0"/>
          </a:p>
        </p:txBody>
      </p:sp>
      <p:sp>
        <p:nvSpPr>
          <p:cNvPr id="12" name="Shape 10"/>
          <p:cNvSpPr/>
          <p:nvPr/>
        </p:nvSpPr>
        <p:spPr>
          <a:xfrm>
            <a:off x="4895136" y="4227552"/>
            <a:ext cx="473869" cy="473869"/>
          </a:xfrm>
          <a:prstGeom prst="roundRect">
            <a:avLst>
              <a:gd name="adj" fmla="val 16803"/>
            </a:avLst>
          </a:prstGeom>
          <a:solidFill>
            <a:srgbClr val="790C1C"/>
          </a:solidFill>
          <a:ln w="22860">
            <a:solidFill>
              <a:srgbClr val="F33447"/>
            </a:solidFill>
            <a:prstDash val="solid"/>
          </a:ln>
        </p:spPr>
      </p:sp>
      <p:pic>
        <p:nvPicPr>
          <p:cNvPr id="13" name="Image 0" descr="preencoded.png"/>
          <p:cNvPicPr>
            <a:picLocks noChangeAspect="1"/>
          </p:cNvPicPr>
          <p:nvPr/>
        </p:nvPicPr>
        <p:blipFill>
          <a:blip r:embed="rId3"/>
          <a:stretch>
            <a:fillRect/>
          </a:stretch>
        </p:blipFill>
        <p:spPr>
          <a:xfrm>
            <a:off x="5013603" y="4316373"/>
            <a:ext cx="236934" cy="296108"/>
          </a:xfrm>
          <a:prstGeom prst="rect">
            <a:avLst/>
          </a:prstGeom>
        </p:spPr>
      </p:pic>
      <p:sp>
        <p:nvSpPr>
          <p:cNvPr id="14" name="Shape 11"/>
          <p:cNvSpPr/>
          <p:nvPr/>
        </p:nvSpPr>
        <p:spPr>
          <a:xfrm>
            <a:off x="9498211" y="2697599"/>
            <a:ext cx="4366141" cy="3533775"/>
          </a:xfrm>
          <a:prstGeom prst="rect">
            <a:avLst/>
          </a:prstGeom>
          <a:solidFill>
            <a:srgbClr val="DA1B2E"/>
          </a:solidFill>
          <a:ln/>
        </p:spPr>
      </p:sp>
      <p:sp>
        <p:nvSpPr>
          <p:cNvPr id="15" name="Shape 12"/>
          <p:cNvSpPr/>
          <p:nvPr/>
        </p:nvSpPr>
        <p:spPr>
          <a:xfrm>
            <a:off x="9498211" y="2697599"/>
            <a:ext cx="22860" cy="3533775"/>
          </a:xfrm>
          <a:prstGeom prst="roundRect">
            <a:avLst>
              <a:gd name="adj" fmla="val 348309"/>
            </a:avLst>
          </a:prstGeom>
          <a:solidFill>
            <a:srgbClr val="F33447"/>
          </a:solidFill>
          <a:ln/>
        </p:spPr>
      </p:sp>
      <p:sp>
        <p:nvSpPr>
          <p:cNvPr id="16" name="Text 13"/>
          <p:cNvSpPr/>
          <p:nvPr/>
        </p:nvSpPr>
        <p:spPr>
          <a:xfrm>
            <a:off x="9972080" y="2887147"/>
            <a:ext cx="2494359" cy="311706"/>
          </a:xfrm>
          <a:prstGeom prst="rect">
            <a:avLst/>
          </a:prstGeom>
          <a:noFill/>
          <a:ln/>
        </p:spPr>
        <p:txBody>
          <a:bodyPr wrap="none" lIns="0" tIns="0" rIns="0" bIns="0" rtlCol="0" anchor="t"/>
          <a:lstStyle/>
          <a:p>
            <a:pPr marL="0" indent="0" algn="l">
              <a:lnSpc>
                <a:spcPts val="2450"/>
              </a:lnSpc>
              <a:buNone/>
            </a:pPr>
            <a:r>
              <a:rPr lang="en-US" sz="1950" dirty="0">
                <a:solidFill>
                  <a:srgbClr val="FFF6F7"/>
                </a:solidFill>
                <a:latin typeface="Sora Semi Bold" pitchFamily="34" charset="0"/>
                <a:ea typeface="Sora Semi Bold" pitchFamily="34" charset="-122"/>
                <a:cs typeface="Sora Semi Bold" pitchFamily="34" charset="-120"/>
              </a:rPr>
              <a:t>Hybrid Migration</a:t>
            </a:r>
            <a:endParaRPr lang="en-US" sz="1950" dirty="0"/>
          </a:p>
        </p:txBody>
      </p:sp>
      <p:sp>
        <p:nvSpPr>
          <p:cNvPr id="17" name="Text 14"/>
          <p:cNvSpPr/>
          <p:nvPr/>
        </p:nvSpPr>
        <p:spPr>
          <a:xfrm>
            <a:off x="9972080" y="3312557"/>
            <a:ext cx="3702725" cy="2426018"/>
          </a:xfrm>
          <a:prstGeom prst="rect">
            <a:avLst/>
          </a:prstGeom>
          <a:noFill/>
          <a:ln/>
        </p:spPr>
        <p:txBody>
          <a:bodyPr wrap="square" lIns="0" tIns="0" rIns="0" bIns="0" rtlCol="0" anchor="t"/>
          <a:lstStyle/>
          <a:p>
            <a:pPr marL="0" indent="0" algn="l">
              <a:lnSpc>
                <a:spcPts val="2350"/>
              </a:lnSpc>
              <a:buNone/>
            </a:pPr>
            <a:r>
              <a:rPr lang="en-US" sz="1450" dirty="0">
                <a:solidFill>
                  <a:srgbClr val="FFFFFF"/>
                </a:solidFill>
                <a:latin typeface="Sora Light" pitchFamily="34" charset="0"/>
                <a:ea typeface="Sora Light" pitchFamily="34" charset="-122"/>
                <a:cs typeface="Sora Light" pitchFamily="34" charset="-120"/>
              </a:rPr>
              <a:t>For gradual cloud adoption, you can implement a hybrid migration strategy where existing on-premises MQ brokers communicate with new Amazon MQ brokers. This minimizes downtime and risk by allowing a phased transition of applications to the cloud.</a:t>
            </a:r>
            <a:endParaRPr lang="en-US" sz="1450" dirty="0"/>
          </a:p>
        </p:txBody>
      </p:sp>
      <p:sp>
        <p:nvSpPr>
          <p:cNvPr id="18" name="Shape 15"/>
          <p:cNvSpPr/>
          <p:nvPr/>
        </p:nvSpPr>
        <p:spPr>
          <a:xfrm>
            <a:off x="9261277" y="4227552"/>
            <a:ext cx="473869" cy="473869"/>
          </a:xfrm>
          <a:prstGeom prst="roundRect">
            <a:avLst>
              <a:gd name="adj" fmla="val 16803"/>
            </a:avLst>
          </a:prstGeom>
          <a:solidFill>
            <a:srgbClr val="790C1C"/>
          </a:solidFill>
          <a:ln w="22860">
            <a:solidFill>
              <a:srgbClr val="F33447"/>
            </a:solidFill>
            <a:prstDash val="solid"/>
          </a:ln>
        </p:spPr>
      </p:sp>
      <p:pic>
        <p:nvPicPr>
          <p:cNvPr id="19" name="Image 1" descr="preencoded.png"/>
          <p:cNvPicPr>
            <a:picLocks noChangeAspect="1"/>
          </p:cNvPicPr>
          <p:nvPr/>
        </p:nvPicPr>
        <p:blipFill>
          <a:blip r:embed="rId4"/>
          <a:stretch>
            <a:fillRect/>
          </a:stretch>
        </p:blipFill>
        <p:spPr>
          <a:xfrm>
            <a:off x="9379744" y="4316373"/>
            <a:ext cx="236934" cy="296108"/>
          </a:xfrm>
          <a:prstGeom prst="rect">
            <a:avLst/>
          </a:prstGeom>
        </p:spPr>
      </p:pic>
      <p:sp>
        <p:nvSpPr>
          <p:cNvPr id="20" name="Text 16"/>
          <p:cNvSpPr/>
          <p:nvPr/>
        </p:nvSpPr>
        <p:spPr>
          <a:xfrm>
            <a:off x="758309" y="6452235"/>
            <a:ext cx="13113782" cy="606504"/>
          </a:xfrm>
          <a:prstGeom prst="rect">
            <a:avLst/>
          </a:prstGeom>
          <a:noFill/>
          <a:ln/>
        </p:spPr>
        <p:txBody>
          <a:bodyPr wrap="square" lIns="0" tIns="0" rIns="0" bIns="0" rtlCol="0" anchor="t"/>
          <a:lstStyle/>
          <a:p>
            <a:pPr marL="0" indent="0" algn="ctr">
              <a:lnSpc>
                <a:spcPts val="2350"/>
              </a:lnSpc>
              <a:buNone/>
            </a:pPr>
            <a:r>
              <a:rPr lang="en-US" sz="1450" dirty="0">
                <a:solidFill>
                  <a:srgbClr val="FFFFFF"/>
                </a:solidFill>
                <a:latin typeface="Sora Light" pitchFamily="34" charset="0"/>
                <a:ea typeface="Sora Light" pitchFamily="34" charset="-122"/>
                <a:cs typeface="Sora Light" pitchFamily="34" charset="-120"/>
              </a:rPr>
              <a:t>These patterns demonstrate the versatility and power of AWS messaging services in creating adaptive and high-performance cloud applications.</a:t>
            </a:r>
            <a:endParaRPr lang="en-US" sz="1450" dirty="0"/>
          </a:p>
        </p:txBody>
      </p:sp>
      <p:sp>
        <p:nvSpPr>
          <p:cNvPr id="21" name="Rectangle 20">
            <a:extLst>
              <a:ext uri="{FF2B5EF4-FFF2-40B4-BE49-F238E27FC236}">
                <a16:creationId xmlns:a16="http://schemas.microsoft.com/office/drawing/2014/main" id="{66A59DE8-9E7D-2B04-714D-BD68CBF65C90}"/>
              </a:ext>
            </a:extLst>
          </p:cNvPr>
          <p:cNvSpPr/>
          <p:nvPr/>
        </p:nvSpPr>
        <p:spPr>
          <a:xfrm>
            <a:off x="12582525" y="7659053"/>
            <a:ext cx="2047875" cy="535186"/>
          </a:xfrm>
          <a:prstGeom prst="rect">
            <a:avLst/>
          </a:prstGeom>
          <a:solidFill>
            <a:srgbClr val="790C1C"/>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D2D6">
              <a:alpha val="85000"/>
            </a:srgbClr>
          </a:solidFill>
          <a:ln/>
        </p:spPr>
      </p:sp>
      <p:sp>
        <p:nvSpPr>
          <p:cNvPr id="4" name="Text 1"/>
          <p:cNvSpPr/>
          <p:nvPr/>
        </p:nvSpPr>
        <p:spPr>
          <a:xfrm>
            <a:off x="4151114" y="569238"/>
            <a:ext cx="6328172" cy="790932"/>
          </a:xfrm>
          <a:prstGeom prst="rect">
            <a:avLst/>
          </a:prstGeom>
          <a:noFill/>
          <a:ln/>
        </p:spPr>
        <p:txBody>
          <a:bodyPr wrap="none" lIns="0" tIns="0" rIns="0" bIns="0" rtlCol="0" anchor="t"/>
          <a:lstStyle/>
          <a:p>
            <a:pPr marL="0" indent="0" algn="ctr">
              <a:lnSpc>
                <a:spcPts val="6200"/>
              </a:lnSpc>
              <a:buNone/>
            </a:pPr>
            <a:r>
              <a:rPr lang="en-US" sz="4950" dirty="0">
                <a:solidFill>
                  <a:srgbClr val="1F1E1E"/>
                </a:solidFill>
                <a:latin typeface="Sora Semi Bold" pitchFamily="34" charset="0"/>
                <a:ea typeface="Sora Semi Bold" pitchFamily="34" charset="-122"/>
                <a:cs typeface="Sora Semi Bold" pitchFamily="34" charset="-120"/>
              </a:rPr>
              <a:t>Conclusion:</a:t>
            </a:r>
            <a:endParaRPr lang="en-US" sz="4950" dirty="0"/>
          </a:p>
        </p:txBody>
      </p:sp>
      <p:sp>
        <p:nvSpPr>
          <p:cNvPr id="5" name="Text 2"/>
          <p:cNvSpPr/>
          <p:nvPr/>
        </p:nvSpPr>
        <p:spPr>
          <a:xfrm>
            <a:off x="2151340" y="1621512"/>
            <a:ext cx="10327600" cy="573286"/>
          </a:xfrm>
          <a:prstGeom prst="rect">
            <a:avLst/>
          </a:prstGeom>
          <a:noFill/>
          <a:ln/>
        </p:spPr>
        <p:txBody>
          <a:bodyPr wrap="none" lIns="0" tIns="0" rIns="0" bIns="0" rtlCol="0" anchor="t"/>
          <a:lstStyle/>
          <a:p>
            <a:pPr marL="0" indent="0" algn="ctr">
              <a:lnSpc>
                <a:spcPts val="4500"/>
              </a:lnSpc>
              <a:buNone/>
            </a:pPr>
            <a:r>
              <a:rPr lang="en-US" sz="3600" dirty="0">
                <a:solidFill>
                  <a:srgbClr val="1F1E1E"/>
                </a:solidFill>
                <a:latin typeface="Sora Semi Bold" pitchFamily="34" charset="0"/>
                <a:ea typeface="Sora Semi Bold" pitchFamily="34" charset="-122"/>
                <a:cs typeface="Sora Semi Bold" pitchFamily="34" charset="-120"/>
              </a:rPr>
              <a:t>Choosing the Right AWS Messaging Service</a:t>
            </a:r>
            <a:endParaRPr lang="en-US" sz="3600" dirty="0"/>
          </a:p>
        </p:txBody>
      </p:sp>
      <p:sp>
        <p:nvSpPr>
          <p:cNvPr id="6" name="Text 3"/>
          <p:cNvSpPr/>
          <p:nvPr/>
        </p:nvSpPr>
        <p:spPr>
          <a:xfrm>
            <a:off x="696992" y="2456140"/>
            <a:ext cx="13236416" cy="557689"/>
          </a:xfrm>
          <a:prstGeom prst="rect">
            <a:avLst/>
          </a:prstGeom>
          <a:noFill/>
          <a:ln/>
        </p:spPr>
        <p:txBody>
          <a:bodyPr wrap="square" lIns="0" tIns="0" rIns="0" bIns="0" rtlCol="0" anchor="t"/>
          <a:lstStyle/>
          <a:p>
            <a:pPr marL="0" indent="0" algn="ctr">
              <a:lnSpc>
                <a:spcPts val="2150"/>
              </a:lnSpc>
              <a:buNone/>
            </a:pPr>
            <a:r>
              <a:rPr lang="en-US" sz="1350" dirty="0">
                <a:solidFill>
                  <a:srgbClr val="3B3535"/>
                </a:solidFill>
                <a:latin typeface="Sora Light" pitchFamily="34" charset="0"/>
                <a:ea typeface="Sora Light" pitchFamily="34" charset="-122"/>
                <a:cs typeface="Sora Light" pitchFamily="34" charset="-120"/>
              </a:rPr>
              <a:t>AWS offers powerful messaging solutions tailored for different needs. Understanding their distinct advantages is key to building resilient and scalable architectures.</a:t>
            </a:r>
            <a:endParaRPr lang="en-US" sz="1350" dirty="0"/>
          </a:p>
        </p:txBody>
      </p:sp>
      <p:sp>
        <p:nvSpPr>
          <p:cNvPr id="7" name="Text 4"/>
          <p:cNvSpPr/>
          <p:nvPr/>
        </p:nvSpPr>
        <p:spPr>
          <a:xfrm>
            <a:off x="696992" y="3383994"/>
            <a:ext cx="2751415" cy="343853"/>
          </a:xfrm>
          <a:prstGeom prst="rect">
            <a:avLst/>
          </a:prstGeom>
          <a:noFill/>
          <a:ln/>
        </p:spPr>
        <p:txBody>
          <a:bodyPr wrap="none" lIns="0" tIns="0" rIns="0" bIns="0" rtlCol="0" anchor="t"/>
          <a:lstStyle/>
          <a:p>
            <a:pPr marL="0" indent="0" algn="l">
              <a:lnSpc>
                <a:spcPts val="2700"/>
              </a:lnSpc>
              <a:buNone/>
            </a:pPr>
            <a:r>
              <a:rPr lang="en-US" sz="2150" dirty="0">
                <a:solidFill>
                  <a:srgbClr val="1F1E1E"/>
                </a:solidFill>
                <a:latin typeface="Sora Semi Bold" pitchFamily="34" charset="0"/>
                <a:ea typeface="Sora Semi Bold" pitchFamily="34" charset="-122"/>
                <a:cs typeface="Sora Semi Bold" pitchFamily="34" charset="-120"/>
              </a:rPr>
              <a:t>Amazon SQS</a:t>
            </a:r>
            <a:endParaRPr lang="en-US" sz="2150" dirty="0"/>
          </a:p>
        </p:txBody>
      </p:sp>
      <p:sp>
        <p:nvSpPr>
          <p:cNvPr id="8" name="Text 5"/>
          <p:cNvSpPr/>
          <p:nvPr/>
        </p:nvSpPr>
        <p:spPr>
          <a:xfrm>
            <a:off x="696992" y="3902035"/>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Lightweight and Fully Managed:</a:t>
            </a:r>
            <a:r>
              <a:rPr lang="en-US" sz="1350" dirty="0">
                <a:solidFill>
                  <a:srgbClr val="3B3535"/>
                </a:solidFill>
                <a:latin typeface="Sora Light" pitchFamily="34" charset="0"/>
                <a:ea typeface="Sora Light" pitchFamily="34" charset="-122"/>
                <a:cs typeface="Sora Light" pitchFamily="34" charset="-120"/>
              </a:rPr>
              <a:t> Ideal for serverless, microservices, and event-driven architectures where you need robust queues without operational overhead.</a:t>
            </a:r>
            <a:endParaRPr lang="en-US" sz="1350" dirty="0"/>
          </a:p>
        </p:txBody>
      </p:sp>
      <p:sp>
        <p:nvSpPr>
          <p:cNvPr id="9" name="Text 6"/>
          <p:cNvSpPr/>
          <p:nvPr/>
        </p:nvSpPr>
        <p:spPr>
          <a:xfrm>
            <a:off x="696992" y="4799528"/>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Scalability by Design:</a:t>
            </a:r>
            <a:r>
              <a:rPr lang="en-US" sz="1350" dirty="0">
                <a:solidFill>
                  <a:srgbClr val="3B3535"/>
                </a:solidFill>
                <a:latin typeface="Sora Light" pitchFamily="34" charset="0"/>
                <a:ea typeface="Sora Light" pitchFamily="34" charset="-122"/>
                <a:cs typeface="Sora Light" pitchFamily="34" charset="-120"/>
              </a:rPr>
              <a:t> Handles any message volume automatically, ensuring consistent performance.</a:t>
            </a:r>
            <a:endParaRPr lang="en-US" sz="1350" dirty="0"/>
          </a:p>
        </p:txBody>
      </p:sp>
      <p:sp>
        <p:nvSpPr>
          <p:cNvPr id="10" name="Text 7"/>
          <p:cNvSpPr/>
          <p:nvPr/>
        </p:nvSpPr>
        <p:spPr>
          <a:xfrm>
            <a:off x="696992" y="5418177"/>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Cost-Effective:</a:t>
            </a:r>
            <a:r>
              <a:rPr lang="en-US" sz="1350" dirty="0">
                <a:solidFill>
                  <a:srgbClr val="3B3535"/>
                </a:solidFill>
                <a:latin typeface="Sora Light" pitchFamily="34" charset="0"/>
                <a:ea typeface="Sora Light" pitchFamily="34" charset="-122"/>
                <a:cs typeface="Sora Light" pitchFamily="34" charset="-120"/>
              </a:rPr>
              <a:t> Pay-as-you-go model makes it economical for a wide range of use cases.</a:t>
            </a:r>
            <a:endParaRPr lang="en-US" sz="1350" dirty="0"/>
          </a:p>
        </p:txBody>
      </p:sp>
      <p:sp>
        <p:nvSpPr>
          <p:cNvPr id="11" name="Text 8"/>
          <p:cNvSpPr/>
          <p:nvPr/>
        </p:nvSpPr>
        <p:spPr>
          <a:xfrm>
            <a:off x="7535347" y="3383994"/>
            <a:ext cx="2751415" cy="343853"/>
          </a:xfrm>
          <a:prstGeom prst="rect">
            <a:avLst/>
          </a:prstGeom>
          <a:noFill/>
          <a:ln/>
        </p:spPr>
        <p:txBody>
          <a:bodyPr wrap="none" lIns="0" tIns="0" rIns="0" bIns="0" rtlCol="0" anchor="t"/>
          <a:lstStyle/>
          <a:p>
            <a:pPr marL="0" indent="0" algn="l">
              <a:lnSpc>
                <a:spcPts val="2700"/>
              </a:lnSpc>
              <a:buNone/>
            </a:pPr>
            <a:r>
              <a:rPr lang="en-US" sz="2150" dirty="0">
                <a:solidFill>
                  <a:srgbClr val="1F1E1E"/>
                </a:solidFill>
                <a:latin typeface="Sora Semi Bold" pitchFamily="34" charset="0"/>
                <a:ea typeface="Sora Semi Bold" pitchFamily="34" charset="-122"/>
                <a:cs typeface="Sora Semi Bold" pitchFamily="34" charset="-120"/>
              </a:rPr>
              <a:t>Amazon MQ</a:t>
            </a:r>
            <a:endParaRPr lang="en-US" sz="2150" dirty="0"/>
          </a:p>
        </p:txBody>
      </p:sp>
      <p:sp>
        <p:nvSpPr>
          <p:cNvPr id="12" name="Text 9"/>
          <p:cNvSpPr/>
          <p:nvPr/>
        </p:nvSpPr>
        <p:spPr>
          <a:xfrm>
            <a:off x="7535347" y="3902035"/>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Managed Broker for Complex Needs:</a:t>
            </a:r>
            <a:r>
              <a:rPr lang="en-US" sz="1350" dirty="0">
                <a:solidFill>
                  <a:srgbClr val="3B3535"/>
                </a:solidFill>
                <a:latin typeface="Sora Light" pitchFamily="34" charset="0"/>
                <a:ea typeface="Sora Light" pitchFamily="34" charset="-122"/>
                <a:cs typeface="Sora Light" pitchFamily="34" charset="-120"/>
              </a:rPr>
              <a:t> Best suited for migrating existing applications that rely on open-source brokers like ActiveMQ or RabbitMQ.</a:t>
            </a:r>
            <a:endParaRPr lang="en-US" sz="1350" dirty="0"/>
          </a:p>
        </p:txBody>
      </p:sp>
      <p:sp>
        <p:nvSpPr>
          <p:cNvPr id="13" name="Text 10"/>
          <p:cNvSpPr/>
          <p:nvPr/>
        </p:nvSpPr>
        <p:spPr>
          <a:xfrm>
            <a:off x="7535347" y="4799528"/>
            <a:ext cx="6405682" cy="836533"/>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Protocol Compatibility:</a:t>
            </a:r>
            <a:r>
              <a:rPr lang="en-US" sz="1350" dirty="0">
                <a:solidFill>
                  <a:srgbClr val="3B3535"/>
                </a:solidFill>
                <a:latin typeface="Sora Light" pitchFamily="34" charset="0"/>
                <a:ea typeface="Sora Light" pitchFamily="34" charset="-122"/>
                <a:cs typeface="Sora Light" pitchFamily="34" charset="-120"/>
              </a:rPr>
              <a:t> Supports industry-standard protocols (JMS, AMQP, MQTT, etc.), reducing the need for code changes during migration.</a:t>
            </a:r>
            <a:endParaRPr lang="en-US" sz="1350" dirty="0"/>
          </a:p>
        </p:txBody>
      </p:sp>
      <p:sp>
        <p:nvSpPr>
          <p:cNvPr id="14" name="Text 11"/>
          <p:cNvSpPr/>
          <p:nvPr/>
        </p:nvSpPr>
        <p:spPr>
          <a:xfrm>
            <a:off x="7535347" y="5697022"/>
            <a:ext cx="6405682" cy="557689"/>
          </a:xfrm>
          <a:prstGeom prst="rect">
            <a:avLst/>
          </a:prstGeom>
          <a:noFill/>
          <a:ln/>
        </p:spPr>
        <p:txBody>
          <a:bodyPr wrap="square" lIns="0" tIns="0" rIns="0" bIns="0" rtlCol="0" anchor="t"/>
          <a:lstStyle/>
          <a:p>
            <a:pPr marL="342900" indent="-342900" algn="l">
              <a:lnSpc>
                <a:spcPts val="2150"/>
              </a:lnSpc>
              <a:buSzPct val="100000"/>
              <a:buChar char="•"/>
            </a:pPr>
            <a:r>
              <a:rPr lang="en-US" sz="1350" b="1" dirty="0">
                <a:solidFill>
                  <a:srgbClr val="3B3535"/>
                </a:solidFill>
                <a:latin typeface="Sora Light" pitchFamily="34" charset="0"/>
                <a:ea typeface="Sora Light" pitchFamily="34" charset="-122"/>
                <a:cs typeface="Sora Light" pitchFamily="34" charset="-120"/>
              </a:rPr>
              <a:t>Advanced Messaging Features:</a:t>
            </a:r>
            <a:r>
              <a:rPr lang="en-US" sz="1350" dirty="0">
                <a:solidFill>
                  <a:srgbClr val="3B3535"/>
                </a:solidFill>
                <a:latin typeface="Sora Light" pitchFamily="34" charset="0"/>
                <a:ea typeface="Sora Light" pitchFamily="34" charset="-122"/>
                <a:cs typeface="Sora Light" pitchFamily="34" charset="-120"/>
              </a:rPr>
              <a:t> Offers topics, routing, and other broker-specific functionalities for intricate integration patterns.</a:t>
            </a:r>
            <a:endParaRPr lang="en-US" sz="1350" dirty="0"/>
          </a:p>
        </p:txBody>
      </p:sp>
      <p:sp>
        <p:nvSpPr>
          <p:cNvPr id="15" name="Shape 12"/>
          <p:cNvSpPr/>
          <p:nvPr/>
        </p:nvSpPr>
        <p:spPr>
          <a:xfrm>
            <a:off x="696992" y="6598669"/>
            <a:ext cx="13236416" cy="29289"/>
          </a:xfrm>
          <a:prstGeom prst="rect">
            <a:avLst/>
          </a:prstGeom>
          <a:solidFill>
            <a:srgbClr val="3B3535">
              <a:alpha val="50000"/>
            </a:srgbClr>
          </a:solidFill>
          <a:ln/>
        </p:spPr>
      </p:sp>
      <p:sp>
        <p:nvSpPr>
          <p:cNvPr id="16" name="Text 13"/>
          <p:cNvSpPr/>
          <p:nvPr/>
        </p:nvSpPr>
        <p:spPr>
          <a:xfrm>
            <a:off x="696992" y="6823829"/>
            <a:ext cx="13236416" cy="836533"/>
          </a:xfrm>
          <a:prstGeom prst="rect">
            <a:avLst/>
          </a:prstGeom>
          <a:noFill/>
          <a:ln/>
        </p:spPr>
        <p:txBody>
          <a:bodyPr wrap="square" lIns="0" tIns="0" rIns="0" bIns="0" rtlCol="0" anchor="t"/>
          <a:lstStyle/>
          <a:p>
            <a:pPr marL="0" indent="0" algn="ctr">
              <a:lnSpc>
                <a:spcPts val="2150"/>
              </a:lnSpc>
              <a:buNone/>
            </a:pPr>
            <a:r>
              <a:rPr lang="en-US" sz="1350" dirty="0">
                <a:solidFill>
                  <a:srgbClr val="3B3535"/>
                </a:solidFill>
                <a:latin typeface="Sora Light" pitchFamily="34" charset="0"/>
                <a:ea typeface="Sora Light" pitchFamily="34" charset="-122"/>
                <a:cs typeface="Sora Light" pitchFamily="34" charset="-120"/>
              </a:rPr>
              <a:t>By leveraging the comprehensive AWS integration ecosystem, you can combine SQS, MQ, and other services like SNS, Lambda, and S3 to construct highly resilient, scalable, and secure distributed applications that meet your business requirements. The choice between SQS and MQ is not always exclusive; in complex environments, they can often be used in tandem, each serving its optimal purpose within a broader messaging strategy.</a:t>
            </a:r>
            <a:endParaRPr lang="en-US" sz="1350" dirty="0"/>
          </a:p>
        </p:txBody>
      </p:sp>
      <p:sp>
        <p:nvSpPr>
          <p:cNvPr id="17" name="Rectangle 16">
            <a:extLst>
              <a:ext uri="{FF2B5EF4-FFF2-40B4-BE49-F238E27FC236}">
                <a16:creationId xmlns:a16="http://schemas.microsoft.com/office/drawing/2014/main" id="{7779F834-FB15-0EA1-EF99-08C76C150010}"/>
              </a:ext>
            </a:extLst>
          </p:cNvPr>
          <p:cNvSpPr/>
          <p:nvPr/>
        </p:nvSpPr>
        <p:spPr>
          <a:xfrm>
            <a:off x="12582525" y="7659053"/>
            <a:ext cx="2047875" cy="535186"/>
          </a:xfrm>
          <a:prstGeom prst="rect">
            <a:avLst/>
          </a:prstGeom>
          <a:solidFill>
            <a:srgbClr val="F9D2D6"/>
          </a:solidFill>
          <a:effectLst>
            <a:softEdge rad="63500"/>
          </a:effectLst>
        </p:spPr>
        <p:style>
          <a:lnRef idx="1">
            <a:schemeClr val="dk1"/>
          </a:lnRef>
          <a:fillRef idx="3">
            <a:schemeClr val="dk1"/>
          </a:fillRef>
          <a:effectRef idx="2">
            <a:schemeClr val="dk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2288</Words>
  <Application>Microsoft Office PowerPoint</Application>
  <PresentationFormat>Custom</PresentationFormat>
  <Paragraphs>112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Sora Semi Bold</vt:lpstr>
      <vt:lpstr>Sora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MD Waseem</cp:lastModifiedBy>
  <cp:revision>2</cp:revision>
  <dcterms:created xsi:type="dcterms:W3CDTF">2025-08-17T08:03:46Z</dcterms:created>
  <dcterms:modified xsi:type="dcterms:W3CDTF">2025-08-17T12:23:12Z</dcterms:modified>
</cp:coreProperties>
</file>