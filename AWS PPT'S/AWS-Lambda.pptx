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101"/>
    <a:srgbClr val="2421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31" autoAdjust="0"/>
  </p:normalViewPr>
  <p:slideViewPr>
    <p:cSldViewPr snapToGrid="0" snapToObjects="1">
      <p:cViewPr varScale="1">
        <p:scale>
          <a:sx n="95" d="100"/>
          <a:sy n="95" d="100"/>
        </p:scale>
        <p:origin x="426" y="8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4232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20374">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00">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22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20374">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20374">
              <a:alpha val="80000"/>
            </a:srgbClr>
          </a:solidFill>
          <a:ln/>
        </p:spPr>
      </p:sp>
      <p:sp>
        <p:nvSpPr>
          <p:cNvPr id="4" name="Text 1"/>
          <p:cNvSpPr/>
          <p:nvPr/>
        </p:nvSpPr>
        <p:spPr>
          <a:xfrm>
            <a:off x="837724" y="2149793"/>
            <a:ext cx="12954952" cy="1848088"/>
          </a:xfrm>
          <a:prstGeom prst="rect">
            <a:avLst/>
          </a:prstGeom>
          <a:noFill/>
          <a:ln/>
        </p:spPr>
        <p:txBody>
          <a:bodyPr wrap="none" lIns="0" tIns="0" rIns="0" bIns="0" rtlCol="0" anchor="t"/>
          <a:lstStyle/>
          <a:p>
            <a:pPr marL="0" indent="0" algn="ctr">
              <a:lnSpc>
                <a:spcPts val="14550"/>
              </a:lnSpc>
              <a:buNone/>
            </a:pPr>
            <a:r>
              <a:rPr lang="en-US" sz="11600" b="1" dirty="0">
                <a:solidFill>
                  <a:srgbClr val="FFFFFF"/>
                </a:solidFill>
                <a:latin typeface="Arial" panose="020B0604020202020204" pitchFamily="34" charset="0"/>
                <a:ea typeface="Overpass Bold" pitchFamily="34" charset="-122"/>
                <a:cs typeface="Arial" panose="020B0604020202020204" pitchFamily="34" charset="0"/>
              </a:rPr>
              <a:t>AWS Lambda:</a:t>
            </a:r>
            <a:endParaRPr lang="en-US" sz="11600" dirty="0">
              <a:latin typeface="Arial" panose="020B0604020202020204" pitchFamily="34" charset="0"/>
              <a:cs typeface="Arial" panose="020B0604020202020204" pitchFamily="34" charset="0"/>
            </a:endParaRPr>
          </a:p>
        </p:txBody>
      </p:sp>
      <p:sp>
        <p:nvSpPr>
          <p:cNvPr id="5" name="Text 2"/>
          <p:cNvSpPr/>
          <p:nvPr/>
        </p:nvSpPr>
        <p:spPr>
          <a:xfrm>
            <a:off x="2936558" y="4311968"/>
            <a:ext cx="8757166" cy="615910"/>
          </a:xfrm>
          <a:prstGeom prst="rect">
            <a:avLst/>
          </a:prstGeom>
          <a:noFill/>
          <a:ln/>
        </p:spPr>
        <p:txBody>
          <a:bodyPr wrap="none" lIns="0" tIns="0" rIns="0" bIns="0" rtlCol="0" anchor="t"/>
          <a:lstStyle/>
          <a:p>
            <a:pPr marL="0" indent="0" algn="ctr">
              <a:lnSpc>
                <a:spcPts val="4850"/>
              </a:lnSpc>
              <a:buNone/>
            </a:pPr>
            <a:r>
              <a:rPr lang="en-US" sz="4800" b="1" dirty="0">
                <a:solidFill>
                  <a:srgbClr val="E5E0DF"/>
                </a:solidFill>
                <a:latin typeface="Arial" panose="020B0604020202020204" pitchFamily="34" charset="0"/>
                <a:ea typeface="Overpass Bold" pitchFamily="34" charset="-122"/>
                <a:cs typeface="Arial" panose="020B0604020202020204" pitchFamily="34" charset="0"/>
              </a:rPr>
              <a:t>Revolutionizing</a:t>
            </a:r>
            <a:r>
              <a:rPr lang="en-US" sz="4800" b="1" dirty="0">
                <a:solidFill>
                  <a:srgbClr val="FFFFFF"/>
                </a:solidFill>
                <a:latin typeface="Arial" panose="020B0604020202020204" pitchFamily="34" charset="0"/>
                <a:ea typeface="Overpass Bold" pitchFamily="34" charset="-122"/>
                <a:cs typeface="Arial" panose="020B0604020202020204" pitchFamily="34" charset="0"/>
              </a:rPr>
              <a:t> </a:t>
            </a:r>
            <a:r>
              <a:rPr lang="en-US" sz="4800" b="1" dirty="0">
                <a:solidFill>
                  <a:srgbClr val="E5E0DF"/>
                </a:solidFill>
                <a:latin typeface="Arial" panose="020B0604020202020204" pitchFamily="34" charset="0"/>
                <a:ea typeface="Overpass Bold" pitchFamily="34" charset="-122"/>
                <a:cs typeface="Arial" panose="020B0604020202020204" pitchFamily="34" charset="0"/>
              </a:rPr>
              <a:t>Serverless</a:t>
            </a:r>
            <a:r>
              <a:rPr lang="en-US" sz="4800" b="1" dirty="0">
                <a:solidFill>
                  <a:srgbClr val="FFFFFF"/>
                </a:solidFill>
                <a:latin typeface="Arial" panose="020B0604020202020204" pitchFamily="34" charset="0"/>
                <a:ea typeface="Overpass Bold" pitchFamily="34" charset="-122"/>
                <a:cs typeface="Arial" panose="020B0604020202020204" pitchFamily="34" charset="0"/>
              </a:rPr>
              <a:t> </a:t>
            </a:r>
            <a:r>
              <a:rPr lang="en-US" sz="4800" b="1" dirty="0">
                <a:solidFill>
                  <a:srgbClr val="E5E0DF"/>
                </a:solidFill>
                <a:latin typeface="Arial" panose="020B0604020202020204" pitchFamily="34" charset="0"/>
                <a:ea typeface="Overpass Bold" pitchFamily="34" charset="-122"/>
                <a:cs typeface="Arial" panose="020B0604020202020204" pitchFamily="34" charset="0"/>
              </a:rPr>
              <a:t>Computing</a:t>
            </a:r>
          </a:p>
        </p:txBody>
      </p:sp>
      <p:sp>
        <p:nvSpPr>
          <p:cNvPr id="6" name="Text 3"/>
          <p:cNvSpPr/>
          <p:nvPr/>
        </p:nvSpPr>
        <p:spPr>
          <a:xfrm>
            <a:off x="837724" y="5241965"/>
            <a:ext cx="12954952" cy="837724"/>
          </a:xfrm>
          <a:prstGeom prst="rect">
            <a:avLst/>
          </a:prstGeom>
          <a:noFill/>
          <a:ln/>
        </p:spPr>
        <p:txBody>
          <a:bodyPr wrap="square" lIns="0" tIns="0" rIns="0" bIns="0" rtlCol="0" anchor="t"/>
          <a:lstStyle/>
          <a:p>
            <a:pPr marL="0" indent="0" algn="ctr">
              <a:lnSpc>
                <a:spcPts val="3250"/>
              </a:lnSpc>
              <a:buNone/>
            </a:pPr>
            <a:r>
              <a:rPr lang="en-US" sz="2050" dirty="0">
                <a:solidFill>
                  <a:srgbClr val="000000"/>
                </a:solidFill>
                <a:latin typeface="Arial" panose="020B0604020202020204" pitchFamily="34" charset="0"/>
                <a:ea typeface="Overpass" pitchFamily="34" charset="-122"/>
                <a:cs typeface="Arial" panose="020B0604020202020204" pitchFamily="34" charset="0"/>
              </a:rPr>
              <a:t>Unleashing the power of event-driven architectures and empowering developers to build scalable, cost-effective applications.</a:t>
            </a:r>
            <a:endParaRPr lang="en-US" sz="2050" dirty="0">
              <a:latin typeface="Arial" panose="020B0604020202020204" pitchFamily="34" charset="0"/>
              <a:cs typeface="Arial" panose="020B0604020202020204" pitchFamily="34" charset="0"/>
            </a:endParaRPr>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9259" y="508159"/>
            <a:ext cx="4433768" cy="543520"/>
          </a:xfrm>
          <a:prstGeom prst="rect">
            <a:avLst/>
          </a:prstGeom>
          <a:noFill/>
          <a:ln/>
        </p:spPr>
        <p:txBody>
          <a:bodyPr wrap="none" lIns="0" tIns="0" rIns="0" bIns="0" rtlCol="0" anchor="t"/>
          <a:lstStyle/>
          <a:p>
            <a:pPr marL="0" indent="0" algn="l">
              <a:lnSpc>
                <a:spcPts val="4250"/>
              </a:lnSpc>
              <a:buNone/>
            </a:pPr>
            <a:r>
              <a:rPr lang="en-US" sz="3400" b="1" dirty="0">
                <a:solidFill>
                  <a:srgbClr val="FFFFFF"/>
                </a:solidFill>
                <a:latin typeface="Arial" panose="020B0604020202020204" pitchFamily="34" charset="0"/>
                <a:ea typeface="Overpass Bold" pitchFamily="34" charset="-122"/>
                <a:cs typeface="Arial" panose="020B0604020202020204" pitchFamily="34" charset="0"/>
              </a:rPr>
              <a:t>What is AWS Lambda?</a:t>
            </a:r>
            <a:endParaRPr lang="en-US" sz="3400" dirty="0">
              <a:latin typeface="Arial" panose="020B0604020202020204" pitchFamily="34" charset="0"/>
              <a:cs typeface="Arial" panose="020B0604020202020204" pitchFamily="34" charset="0"/>
            </a:endParaRPr>
          </a:p>
        </p:txBody>
      </p:sp>
      <p:sp>
        <p:nvSpPr>
          <p:cNvPr id="3" name="Text 1"/>
          <p:cNvSpPr/>
          <p:nvPr/>
        </p:nvSpPr>
        <p:spPr>
          <a:xfrm>
            <a:off x="739259" y="1421249"/>
            <a:ext cx="13151882" cy="886897"/>
          </a:xfrm>
          <a:prstGeom prst="rect">
            <a:avLst/>
          </a:prstGeom>
          <a:noFill/>
          <a:ln/>
        </p:spPr>
        <p:txBody>
          <a:bodyPr wrap="square" lIns="0" tIns="0" rIns="0" bIns="0" rtlCol="0" anchor="t"/>
          <a:lstStyle/>
          <a:p>
            <a:pPr>
              <a:lnSpc>
                <a:spcPts val="2300"/>
              </a:lnSpc>
            </a:pPr>
            <a:r>
              <a:rPr lang="en-US" sz="1450" dirty="0">
                <a:solidFill>
                  <a:srgbClr val="E5E0DF"/>
                </a:solidFill>
                <a:latin typeface="Arial" panose="020B0604020202020204" pitchFamily="34" charset="0"/>
                <a:cs typeface="Arial" panose="020B0604020202020204" pitchFamily="34" charset="0"/>
              </a:rPr>
              <a:t>AWS Lambda is a groundbreaking serverless compute service provided by Amazon Web Services. At its core, Lambda allows you to run your code without needing to provision or manage any servers. This fundamentally changes how developers think about and deploy their applications, shifting the focus from infrastructure to pure application logic.</a:t>
            </a:r>
          </a:p>
        </p:txBody>
      </p:sp>
      <p:sp>
        <p:nvSpPr>
          <p:cNvPr id="4" name="Shape 2"/>
          <p:cNvSpPr/>
          <p:nvPr/>
        </p:nvSpPr>
        <p:spPr>
          <a:xfrm>
            <a:off x="739259" y="2793206"/>
            <a:ext cx="6483548" cy="2234684"/>
          </a:xfrm>
          <a:prstGeom prst="roundRect">
            <a:avLst>
              <a:gd name="adj" fmla="val 4910"/>
            </a:avLst>
          </a:prstGeom>
          <a:solidFill>
            <a:srgbClr val="252222">
              <a:alpha val="95000"/>
            </a:srgbClr>
          </a:solidFill>
          <a:ln/>
        </p:spPr>
      </p:sp>
      <p:sp>
        <p:nvSpPr>
          <p:cNvPr id="5" name="Shape 3"/>
          <p:cNvSpPr/>
          <p:nvPr/>
        </p:nvSpPr>
        <p:spPr>
          <a:xfrm>
            <a:off x="739259" y="2770346"/>
            <a:ext cx="6483548" cy="91440"/>
          </a:xfrm>
          <a:prstGeom prst="roundRect">
            <a:avLst>
              <a:gd name="adj" fmla="val 84891"/>
            </a:avLst>
          </a:prstGeom>
          <a:solidFill>
            <a:srgbClr val="F20374"/>
          </a:solidFill>
          <a:ln/>
        </p:spPr>
      </p:sp>
      <p:sp>
        <p:nvSpPr>
          <p:cNvPr id="6" name="Shape 4"/>
          <p:cNvSpPr/>
          <p:nvPr/>
        </p:nvSpPr>
        <p:spPr>
          <a:xfrm>
            <a:off x="3703796" y="2516029"/>
            <a:ext cx="554355" cy="554355"/>
          </a:xfrm>
          <a:prstGeom prst="roundRect">
            <a:avLst>
              <a:gd name="adj" fmla="val 164948"/>
            </a:avLst>
          </a:prstGeom>
          <a:solidFill>
            <a:srgbClr val="F20374"/>
          </a:solidFill>
          <a:ln/>
        </p:spPr>
      </p:sp>
      <p:sp>
        <p:nvSpPr>
          <p:cNvPr id="7" name="Text 5"/>
          <p:cNvSpPr/>
          <p:nvPr/>
        </p:nvSpPr>
        <p:spPr>
          <a:xfrm>
            <a:off x="946904" y="3255169"/>
            <a:ext cx="2280761" cy="271701"/>
          </a:xfrm>
          <a:prstGeom prst="rect">
            <a:avLst/>
          </a:prstGeom>
          <a:noFill/>
          <a:ln/>
        </p:spPr>
        <p:txBody>
          <a:bodyPr wrap="none" lIns="0" tIns="0" rIns="0" bIns="0" rtlCol="0" anchor="t"/>
          <a:lstStyle/>
          <a:p>
            <a:pPr marL="0" indent="0" algn="l">
              <a:lnSpc>
                <a:spcPts val="2100"/>
              </a:lnSpc>
              <a:buNone/>
            </a:pPr>
            <a:r>
              <a:rPr lang="en-US" sz="2800" b="1" dirty="0">
                <a:solidFill>
                  <a:srgbClr val="E5E0DF"/>
                </a:solidFill>
                <a:latin typeface="Arial" panose="020B0604020202020204" pitchFamily="34" charset="0"/>
                <a:ea typeface="Overpass Bold" pitchFamily="34" charset="-122"/>
                <a:cs typeface="Arial" panose="020B0604020202020204" pitchFamily="34" charset="0"/>
              </a:rPr>
              <a:t>Fully Managed Service</a:t>
            </a:r>
          </a:p>
        </p:txBody>
      </p:sp>
      <p:sp>
        <p:nvSpPr>
          <p:cNvPr id="8" name="Text 6"/>
          <p:cNvSpPr/>
          <p:nvPr/>
        </p:nvSpPr>
        <p:spPr>
          <a:xfrm>
            <a:off x="946904" y="3637717"/>
            <a:ext cx="6068258" cy="1182529"/>
          </a:xfrm>
          <a:prstGeom prst="rect">
            <a:avLst/>
          </a:prstGeom>
          <a:noFill/>
          <a:ln/>
        </p:spPr>
        <p:txBody>
          <a:bodyPr wrap="square" lIns="0" tIns="0" rIns="0" bIns="0" rtlCol="0" anchor="t"/>
          <a:lstStyle/>
          <a:p>
            <a:pPr marL="0" indent="0" algn="l">
              <a:lnSpc>
                <a:spcPts val="2300"/>
              </a:lnSpc>
              <a:buNone/>
            </a:pPr>
            <a:r>
              <a:rPr lang="en-US" sz="1450" dirty="0">
                <a:solidFill>
                  <a:srgbClr val="E5E0DF"/>
                </a:solidFill>
                <a:latin typeface="Arial" panose="020B0604020202020204" pitchFamily="34" charset="0"/>
                <a:cs typeface="Arial" panose="020B0604020202020204" pitchFamily="34" charset="0"/>
              </a:rPr>
              <a:t>AWS takes care of all the operational aspects, including server provisioning, patching, operating system maintenance, and capacity management. Developers no longer need to worry about the underlying infrastructure.</a:t>
            </a:r>
          </a:p>
        </p:txBody>
      </p:sp>
      <p:sp>
        <p:nvSpPr>
          <p:cNvPr id="9" name="Shape 7"/>
          <p:cNvSpPr/>
          <p:nvPr/>
        </p:nvSpPr>
        <p:spPr>
          <a:xfrm>
            <a:off x="7407593" y="2793206"/>
            <a:ext cx="6483548" cy="2234684"/>
          </a:xfrm>
          <a:prstGeom prst="roundRect">
            <a:avLst>
              <a:gd name="adj" fmla="val 4910"/>
            </a:avLst>
          </a:prstGeom>
          <a:solidFill>
            <a:srgbClr val="252222">
              <a:alpha val="95000"/>
            </a:srgbClr>
          </a:solidFill>
          <a:ln/>
        </p:spPr>
      </p:sp>
      <p:sp>
        <p:nvSpPr>
          <p:cNvPr id="10" name="Shape 8"/>
          <p:cNvSpPr/>
          <p:nvPr/>
        </p:nvSpPr>
        <p:spPr>
          <a:xfrm>
            <a:off x="7407593" y="2770346"/>
            <a:ext cx="6483548" cy="91440"/>
          </a:xfrm>
          <a:prstGeom prst="roundRect">
            <a:avLst>
              <a:gd name="adj" fmla="val 84891"/>
            </a:avLst>
          </a:prstGeom>
          <a:solidFill>
            <a:srgbClr val="F20374"/>
          </a:solidFill>
          <a:ln/>
        </p:spPr>
      </p:sp>
      <p:sp>
        <p:nvSpPr>
          <p:cNvPr id="11" name="Shape 9"/>
          <p:cNvSpPr/>
          <p:nvPr/>
        </p:nvSpPr>
        <p:spPr>
          <a:xfrm>
            <a:off x="10372130" y="2516029"/>
            <a:ext cx="554355" cy="554355"/>
          </a:xfrm>
          <a:prstGeom prst="roundRect">
            <a:avLst>
              <a:gd name="adj" fmla="val 164948"/>
            </a:avLst>
          </a:prstGeom>
          <a:solidFill>
            <a:srgbClr val="F20374"/>
          </a:solidFill>
          <a:ln/>
        </p:spPr>
      </p:sp>
      <p:sp>
        <p:nvSpPr>
          <p:cNvPr id="12" name="Text 10"/>
          <p:cNvSpPr/>
          <p:nvPr/>
        </p:nvSpPr>
        <p:spPr>
          <a:xfrm>
            <a:off x="7615238" y="3255169"/>
            <a:ext cx="3240762" cy="271701"/>
          </a:xfrm>
          <a:prstGeom prst="rect">
            <a:avLst/>
          </a:prstGeom>
          <a:noFill/>
          <a:ln/>
        </p:spPr>
        <p:txBody>
          <a:bodyPr wrap="none" lIns="0" tIns="0" rIns="0" bIns="0" rtlCol="0" anchor="t"/>
          <a:lstStyle/>
          <a:p>
            <a:pPr marL="0" indent="0" algn="l">
              <a:lnSpc>
                <a:spcPts val="2100"/>
              </a:lnSpc>
              <a:buNone/>
            </a:pPr>
            <a:r>
              <a:rPr lang="en-US" sz="2800" b="1" dirty="0">
                <a:solidFill>
                  <a:srgbClr val="E5E0DF"/>
                </a:solidFill>
                <a:latin typeface="Arial" panose="020B0604020202020204" pitchFamily="34" charset="0"/>
                <a:ea typeface="Overpass Bold" pitchFamily="34" charset="-122"/>
                <a:cs typeface="Arial" panose="020B0604020202020204" pitchFamily="34" charset="0"/>
              </a:rPr>
              <a:t>Code Execution without Servers</a:t>
            </a:r>
          </a:p>
        </p:txBody>
      </p:sp>
      <p:sp>
        <p:nvSpPr>
          <p:cNvPr id="13" name="Text 11"/>
          <p:cNvSpPr/>
          <p:nvPr/>
        </p:nvSpPr>
        <p:spPr>
          <a:xfrm>
            <a:off x="7615238" y="3637717"/>
            <a:ext cx="6068258" cy="886897"/>
          </a:xfrm>
          <a:prstGeom prst="rect">
            <a:avLst/>
          </a:prstGeom>
          <a:noFill/>
          <a:ln/>
        </p:spPr>
        <p:txBody>
          <a:bodyPr wrap="square" lIns="0" tIns="0" rIns="0" bIns="0" rtlCol="0" anchor="t"/>
          <a:lstStyle/>
          <a:p>
            <a:pPr>
              <a:lnSpc>
                <a:spcPts val="2300"/>
              </a:lnSpc>
            </a:pPr>
            <a:r>
              <a:rPr lang="en-US" sz="1450" dirty="0">
                <a:solidFill>
                  <a:srgbClr val="E5E0DF"/>
                </a:solidFill>
                <a:latin typeface="Arial" panose="020B0604020202020204" pitchFamily="34" charset="0"/>
                <a:cs typeface="Arial" panose="020B0604020202020204" pitchFamily="34" charset="0"/>
              </a:rPr>
              <a:t>You simply upload your code, and Lambda executes it in a highly available and fault-tolerant environment. This "serverless" paradigm frees up valuable development time and resources.</a:t>
            </a:r>
          </a:p>
        </p:txBody>
      </p:sp>
      <p:sp>
        <p:nvSpPr>
          <p:cNvPr id="14" name="Shape 12"/>
          <p:cNvSpPr/>
          <p:nvPr/>
        </p:nvSpPr>
        <p:spPr>
          <a:xfrm>
            <a:off x="739259" y="5489853"/>
            <a:ext cx="6483548" cy="2234684"/>
          </a:xfrm>
          <a:prstGeom prst="roundRect">
            <a:avLst>
              <a:gd name="adj" fmla="val 4910"/>
            </a:avLst>
          </a:prstGeom>
          <a:solidFill>
            <a:srgbClr val="252222">
              <a:alpha val="95000"/>
            </a:srgbClr>
          </a:solidFill>
          <a:ln/>
        </p:spPr>
      </p:sp>
      <p:sp>
        <p:nvSpPr>
          <p:cNvPr id="15" name="Shape 13"/>
          <p:cNvSpPr/>
          <p:nvPr/>
        </p:nvSpPr>
        <p:spPr>
          <a:xfrm>
            <a:off x="739259" y="5466993"/>
            <a:ext cx="6483548" cy="91440"/>
          </a:xfrm>
          <a:prstGeom prst="roundRect">
            <a:avLst>
              <a:gd name="adj" fmla="val 84891"/>
            </a:avLst>
          </a:prstGeom>
          <a:solidFill>
            <a:srgbClr val="F20374"/>
          </a:solidFill>
          <a:ln/>
        </p:spPr>
      </p:sp>
      <p:sp>
        <p:nvSpPr>
          <p:cNvPr id="16" name="Shape 14"/>
          <p:cNvSpPr/>
          <p:nvPr/>
        </p:nvSpPr>
        <p:spPr>
          <a:xfrm>
            <a:off x="3703796" y="5212675"/>
            <a:ext cx="554355" cy="554355"/>
          </a:xfrm>
          <a:prstGeom prst="roundRect">
            <a:avLst>
              <a:gd name="adj" fmla="val 164948"/>
            </a:avLst>
          </a:prstGeom>
          <a:solidFill>
            <a:srgbClr val="F20374"/>
          </a:solidFill>
          <a:ln/>
        </p:spPr>
      </p:sp>
      <p:sp>
        <p:nvSpPr>
          <p:cNvPr id="17" name="Text 15"/>
          <p:cNvSpPr/>
          <p:nvPr/>
        </p:nvSpPr>
        <p:spPr>
          <a:xfrm>
            <a:off x="946904" y="5951815"/>
            <a:ext cx="2174319" cy="271701"/>
          </a:xfrm>
          <a:prstGeom prst="rect">
            <a:avLst/>
          </a:prstGeom>
          <a:noFill/>
          <a:ln/>
        </p:spPr>
        <p:txBody>
          <a:bodyPr wrap="none" lIns="0" tIns="0" rIns="0" bIns="0" rtlCol="0" anchor="t"/>
          <a:lstStyle/>
          <a:p>
            <a:pPr marL="0" indent="0" algn="l">
              <a:lnSpc>
                <a:spcPts val="2100"/>
              </a:lnSpc>
              <a:buNone/>
            </a:pPr>
            <a:r>
              <a:rPr lang="en-US" sz="2800" b="1" dirty="0">
                <a:solidFill>
                  <a:srgbClr val="E5E0DF"/>
                </a:solidFill>
                <a:latin typeface="Arial" panose="020B0604020202020204" pitchFamily="34" charset="0"/>
                <a:ea typeface="Overpass Bold" pitchFamily="34" charset="-122"/>
                <a:cs typeface="Arial" panose="020B0604020202020204" pitchFamily="34" charset="0"/>
              </a:rPr>
              <a:t>Automatic Scaling</a:t>
            </a:r>
          </a:p>
        </p:txBody>
      </p:sp>
      <p:sp>
        <p:nvSpPr>
          <p:cNvPr id="18" name="Text 16"/>
          <p:cNvSpPr/>
          <p:nvPr/>
        </p:nvSpPr>
        <p:spPr>
          <a:xfrm>
            <a:off x="946904" y="6334363"/>
            <a:ext cx="6068258" cy="886897"/>
          </a:xfrm>
          <a:prstGeom prst="rect">
            <a:avLst/>
          </a:prstGeom>
          <a:noFill/>
          <a:ln/>
        </p:spPr>
        <p:txBody>
          <a:bodyPr wrap="square" lIns="0" tIns="0" rIns="0" bIns="0" rtlCol="0" anchor="t"/>
          <a:lstStyle/>
          <a:p>
            <a:pPr>
              <a:lnSpc>
                <a:spcPts val="2300"/>
              </a:lnSpc>
            </a:pPr>
            <a:r>
              <a:rPr lang="en-US" sz="1450" dirty="0">
                <a:solidFill>
                  <a:srgbClr val="E5E0DF"/>
                </a:solidFill>
                <a:latin typeface="Arial" panose="020B0604020202020204" pitchFamily="34" charset="0"/>
                <a:cs typeface="Arial" panose="020B0604020202020204" pitchFamily="34" charset="0"/>
              </a:rPr>
              <a:t>Lambda automatically scales your application by running multiple instances of your function concurrently to handle incoming requests, whether it's one per day or thousands per second.</a:t>
            </a:r>
          </a:p>
        </p:txBody>
      </p:sp>
      <p:sp>
        <p:nvSpPr>
          <p:cNvPr id="19" name="Shape 17"/>
          <p:cNvSpPr/>
          <p:nvPr/>
        </p:nvSpPr>
        <p:spPr>
          <a:xfrm>
            <a:off x="7407593" y="5489853"/>
            <a:ext cx="6483548" cy="2234684"/>
          </a:xfrm>
          <a:prstGeom prst="roundRect">
            <a:avLst>
              <a:gd name="adj" fmla="val 4910"/>
            </a:avLst>
          </a:prstGeom>
          <a:solidFill>
            <a:srgbClr val="252222">
              <a:alpha val="95000"/>
            </a:srgbClr>
          </a:solidFill>
          <a:ln/>
        </p:spPr>
      </p:sp>
      <p:sp>
        <p:nvSpPr>
          <p:cNvPr id="20" name="Shape 18"/>
          <p:cNvSpPr/>
          <p:nvPr/>
        </p:nvSpPr>
        <p:spPr>
          <a:xfrm>
            <a:off x="7407593" y="5466993"/>
            <a:ext cx="6483548" cy="91440"/>
          </a:xfrm>
          <a:prstGeom prst="roundRect">
            <a:avLst>
              <a:gd name="adj" fmla="val 84891"/>
            </a:avLst>
          </a:prstGeom>
          <a:solidFill>
            <a:srgbClr val="F20374"/>
          </a:solidFill>
          <a:ln/>
        </p:spPr>
      </p:sp>
      <p:sp>
        <p:nvSpPr>
          <p:cNvPr id="21" name="Shape 19"/>
          <p:cNvSpPr/>
          <p:nvPr/>
        </p:nvSpPr>
        <p:spPr>
          <a:xfrm>
            <a:off x="10372130" y="5212675"/>
            <a:ext cx="554355" cy="554355"/>
          </a:xfrm>
          <a:prstGeom prst="roundRect">
            <a:avLst>
              <a:gd name="adj" fmla="val 164948"/>
            </a:avLst>
          </a:prstGeom>
          <a:solidFill>
            <a:srgbClr val="F20374"/>
          </a:solidFill>
          <a:ln/>
        </p:spPr>
      </p:sp>
      <p:sp>
        <p:nvSpPr>
          <p:cNvPr id="22" name="Text 20"/>
          <p:cNvSpPr/>
          <p:nvPr/>
        </p:nvSpPr>
        <p:spPr>
          <a:xfrm>
            <a:off x="7615238" y="5951815"/>
            <a:ext cx="2174319" cy="271701"/>
          </a:xfrm>
          <a:prstGeom prst="rect">
            <a:avLst/>
          </a:prstGeom>
          <a:noFill/>
          <a:ln/>
        </p:spPr>
        <p:txBody>
          <a:bodyPr wrap="none" lIns="0" tIns="0" rIns="0" bIns="0" rtlCol="0" anchor="t"/>
          <a:lstStyle/>
          <a:p>
            <a:pPr marL="0" indent="0" algn="l">
              <a:lnSpc>
                <a:spcPts val="2100"/>
              </a:lnSpc>
              <a:buNone/>
            </a:pPr>
            <a:r>
              <a:rPr lang="en-US" sz="2800" b="1" dirty="0">
                <a:solidFill>
                  <a:srgbClr val="E5E0DF"/>
                </a:solidFill>
                <a:latin typeface="Arial" panose="020B0604020202020204" pitchFamily="34" charset="0"/>
                <a:ea typeface="Overpass Bold" pitchFamily="34" charset="-122"/>
                <a:cs typeface="Arial" panose="020B0604020202020204" pitchFamily="34" charset="0"/>
              </a:rPr>
              <a:t>Pay-Per-Use Pricing</a:t>
            </a:r>
          </a:p>
        </p:txBody>
      </p:sp>
      <p:sp>
        <p:nvSpPr>
          <p:cNvPr id="23" name="Text 21"/>
          <p:cNvSpPr/>
          <p:nvPr/>
        </p:nvSpPr>
        <p:spPr>
          <a:xfrm>
            <a:off x="7615238" y="6334363"/>
            <a:ext cx="6068258" cy="1182529"/>
          </a:xfrm>
          <a:prstGeom prst="rect">
            <a:avLst/>
          </a:prstGeom>
          <a:noFill/>
          <a:ln/>
        </p:spPr>
        <p:txBody>
          <a:bodyPr wrap="square" lIns="0" tIns="0" rIns="0" bIns="0" rtlCol="0" anchor="t"/>
          <a:lstStyle/>
          <a:p>
            <a:pPr>
              <a:lnSpc>
                <a:spcPts val="2300"/>
              </a:lnSpc>
            </a:pPr>
            <a:r>
              <a:rPr lang="en-US" sz="1450" dirty="0">
                <a:solidFill>
                  <a:srgbClr val="E5E0DF"/>
                </a:solidFill>
                <a:latin typeface="Arial" panose="020B0604020202020204" pitchFamily="34" charset="0"/>
                <a:cs typeface="Arial" panose="020B0604020202020204" pitchFamily="34" charset="0"/>
              </a:rPr>
              <a:t>One of Lambda's most compelling features is its cost model. You only pay for the compute time consumed by your code when it's actually running, measured in milliseconds, and the number of requests. There are no charges when your code isn't executing.</a:t>
            </a:r>
          </a:p>
        </p:txBody>
      </p:sp>
      <p:sp>
        <p:nvSpPr>
          <p:cNvPr id="24" name="Rectangle 23">
            <a:extLst>
              <a:ext uri="{FF2B5EF4-FFF2-40B4-BE49-F238E27FC236}">
                <a16:creationId xmlns:a16="http://schemas.microsoft.com/office/drawing/2014/main" id="{B702E4A7-C4C7-4B6E-5BE5-09C67793E2F3}"/>
              </a:ext>
            </a:extLst>
          </p:cNvPr>
          <p:cNvSpPr/>
          <p:nvPr/>
        </p:nvSpPr>
        <p:spPr>
          <a:xfrm>
            <a:off x="12804755" y="7516892"/>
            <a:ext cx="1825645" cy="706756"/>
          </a:xfrm>
          <a:prstGeom prst="rect">
            <a:avLst/>
          </a:prstGeom>
          <a:solidFill>
            <a:srgbClr val="242121"/>
          </a:solidFill>
          <a:effectLst>
            <a:softEdge rad="63500"/>
          </a:effectLst>
        </p:spPr>
        <p:style>
          <a:lnRef idx="1">
            <a:schemeClr val="dk1"/>
          </a:lnRef>
          <a:fillRef idx="3">
            <a:schemeClr val="dk1"/>
          </a:fillRef>
          <a:effectRef idx="2">
            <a:schemeClr val="dk1"/>
          </a:effectRef>
          <a:fontRef idx="minor">
            <a:schemeClr val="lt1"/>
          </a:fontRef>
        </p:style>
        <p:txBody>
          <a:bodyPr rtlCol="0" anchor="ctr"/>
          <a:lstStyle/>
          <a:p>
            <a:pPr algn="ctr"/>
            <a:endParaRPr lang="en-IN">
              <a:latin typeface="Arial" panose="020B0604020202020204" pitchFamily="34" charset="0"/>
              <a:cs typeface="Arial" panose="020B0604020202020204" pitchFamily="34" charset="0"/>
            </a:endParaRPr>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4E34851-DCB1-67C4-5F45-6E2F8F95F753}"/>
              </a:ext>
            </a:extLst>
          </p:cNvPr>
          <p:cNvSpPr/>
          <p:nvPr/>
        </p:nvSpPr>
        <p:spPr>
          <a:xfrm>
            <a:off x="12804755" y="7496070"/>
            <a:ext cx="1825645" cy="727578"/>
          </a:xfrm>
          <a:prstGeom prst="rect">
            <a:avLst/>
          </a:prstGeom>
          <a:solidFill>
            <a:srgbClr val="242121"/>
          </a:solidFill>
          <a:effectLst>
            <a:softEdge rad="63500"/>
          </a:effectLst>
        </p:spPr>
        <p:style>
          <a:lnRef idx="1">
            <a:schemeClr val="dk1"/>
          </a:lnRef>
          <a:fillRef idx="3">
            <a:schemeClr val="dk1"/>
          </a:fillRef>
          <a:effectRef idx="2">
            <a:schemeClr val="dk1"/>
          </a:effectRef>
          <a:fontRef idx="minor">
            <a:schemeClr val="lt1"/>
          </a:fontRef>
        </p:style>
        <p:txBody>
          <a:bodyPr rtlCol="0" anchor="ctr"/>
          <a:lstStyle/>
          <a:p>
            <a:pPr algn="ctr"/>
            <a:endParaRPr lang="en-IN">
              <a:latin typeface="Arial" panose="020B0604020202020204" pitchFamily="34" charset="0"/>
              <a:cs typeface="Arial" panose="020B0604020202020204" pitchFamily="34" charset="0"/>
            </a:endParaRPr>
          </a:p>
        </p:txBody>
      </p:sp>
      <p:sp>
        <p:nvSpPr>
          <p:cNvPr id="2" name="Text 0"/>
          <p:cNvSpPr/>
          <p:nvPr/>
        </p:nvSpPr>
        <p:spPr>
          <a:xfrm>
            <a:off x="472916" y="325160"/>
            <a:ext cx="6703219" cy="347782"/>
          </a:xfrm>
          <a:prstGeom prst="rect">
            <a:avLst/>
          </a:prstGeom>
          <a:noFill/>
          <a:ln/>
        </p:spPr>
        <p:txBody>
          <a:bodyPr wrap="none" lIns="0" tIns="0" rIns="0" bIns="0" rtlCol="0" anchor="t"/>
          <a:lstStyle/>
          <a:p>
            <a:pPr>
              <a:lnSpc>
                <a:spcPts val="4250"/>
              </a:lnSpc>
            </a:pPr>
            <a:r>
              <a:rPr lang="en-US" sz="3400" b="1" dirty="0">
                <a:solidFill>
                  <a:srgbClr val="FFFFFF"/>
                </a:solidFill>
                <a:latin typeface="Arial" panose="020B0604020202020204" pitchFamily="34" charset="0"/>
                <a:ea typeface="Overpass Bold" pitchFamily="34" charset="-122"/>
                <a:cs typeface="Arial" panose="020B0604020202020204" pitchFamily="34" charset="0"/>
              </a:rPr>
              <a:t>How AWS Lambda Works: Event-Driven &amp; Serverless</a:t>
            </a:r>
          </a:p>
          <a:p>
            <a:pPr>
              <a:lnSpc>
                <a:spcPts val="4250"/>
              </a:lnSpc>
            </a:pPr>
            <a:endParaRPr lang="en-US" sz="3400" b="1" dirty="0">
              <a:solidFill>
                <a:srgbClr val="FFFFFF"/>
              </a:solidFill>
              <a:latin typeface="Arial" panose="020B0604020202020204" pitchFamily="34" charset="0"/>
              <a:ea typeface="Overpass Bold" pitchFamily="34" charset="-122"/>
              <a:cs typeface="Arial" panose="020B0604020202020204" pitchFamily="34" charset="0"/>
            </a:endParaRPr>
          </a:p>
          <a:p>
            <a:pPr>
              <a:lnSpc>
                <a:spcPts val="4250"/>
              </a:lnSpc>
            </a:pPr>
            <a:endParaRPr lang="en-US" sz="3400" b="1" dirty="0">
              <a:solidFill>
                <a:srgbClr val="FFFFFF"/>
              </a:solidFill>
              <a:latin typeface="Arial" panose="020B0604020202020204" pitchFamily="34" charset="0"/>
              <a:ea typeface="Overpass Bold" pitchFamily="34" charset="-122"/>
              <a:cs typeface="Arial" panose="020B0604020202020204" pitchFamily="34" charset="0"/>
            </a:endParaRPr>
          </a:p>
        </p:txBody>
      </p:sp>
      <p:sp>
        <p:nvSpPr>
          <p:cNvPr id="3" name="Text 1"/>
          <p:cNvSpPr/>
          <p:nvPr/>
        </p:nvSpPr>
        <p:spPr>
          <a:xfrm>
            <a:off x="472916" y="1318737"/>
            <a:ext cx="13684568" cy="189071"/>
          </a:xfrm>
          <a:prstGeom prst="rect">
            <a:avLst/>
          </a:prstGeom>
          <a:noFill/>
          <a:ln/>
        </p:spPr>
        <p:txBody>
          <a:bodyPr wrap="none" lIns="0" tIns="0" rIns="0" bIns="0" rtlCol="0" anchor="t"/>
          <a:lstStyle/>
          <a:p>
            <a:pPr>
              <a:lnSpc>
                <a:spcPts val="2300"/>
              </a:lnSpc>
            </a:pPr>
            <a:r>
              <a:rPr lang="en-US" sz="1450" dirty="0">
                <a:solidFill>
                  <a:srgbClr val="E5E0DF"/>
                </a:solidFill>
                <a:latin typeface="Arial" panose="020B0604020202020204" pitchFamily="34" charset="0"/>
                <a:cs typeface="Arial" panose="020B0604020202020204" pitchFamily="34" charset="0"/>
              </a:rPr>
              <a:t>AWS Lambda operates on an event-driven model, meaning your functions are executed only when a specific event occurs. </a:t>
            </a:r>
          </a:p>
          <a:p>
            <a:pPr>
              <a:lnSpc>
                <a:spcPts val="2300"/>
              </a:lnSpc>
            </a:pPr>
            <a:endParaRPr lang="en-US" sz="1450" dirty="0">
              <a:solidFill>
                <a:srgbClr val="E5E0DF"/>
              </a:solidFill>
              <a:latin typeface="Arial" panose="020B0604020202020204" pitchFamily="34" charset="0"/>
              <a:cs typeface="Arial" panose="020B0604020202020204" pitchFamily="34" charset="0"/>
            </a:endParaRPr>
          </a:p>
          <a:p>
            <a:pPr>
              <a:lnSpc>
                <a:spcPts val="2300"/>
              </a:lnSpc>
            </a:pPr>
            <a:r>
              <a:rPr lang="en-US" sz="1450" dirty="0">
                <a:solidFill>
                  <a:srgbClr val="E5E0DF"/>
                </a:solidFill>
                <a:latin typeface="Arial" panose="020B0604020202020204" pitchFamily="34" charset="0"/>
                <a:cs typeface="Arial" panose="020B0604020202020204" pitchFamily="34" charset="0"/>
              </a:rPr>
              <a:t>This makes it incredibly efficient and cost-effective for applications that respond to various triggers.</a:t>
            </a:r>
          </a:p>
        </p:txBody>
      </p:sp>
      <p:pic>
        <p:nvPicPr>
          <p:cNvPr id="4" name="Image 0" descr="preencoded.png"/>
          <p:cNvPicPr>
            <a:picLocks noChangeAspect="1"/>
          </p:cNvPicPr>
          <p:nvPr/>
        </p:nvPicPr>
        <p:blipFill>
          <a:blip r:embed="rId3"/>
          <a:stretch>
            <a:fillRect/>
          </a:stretch>
        </p:blipFill>
        <p:spPr>
          <a:xfrm>
            <a:off x="2028587" y="1231463"/>
            <a:ext cx="10573107" cy="7286268"/>
          </a:xfrm>
          <a:prstGeom prst="rect">
            <a:avLst/>
          </a:prstGeom>
        </p:spPr>
      </p:pic>
      <p:sp>
        <p:nvSpPr>
          <p:cNvPr id="5" name="Text 2"/>
          <p:cNvSpPr/>
          <p:nvPr/>
        </p:nvSpPr>
        <p:spPr>
          <a:xfrm>
            <a:off x="2293444" y="5765239"/>
            <a:ext cx="2889317" cy="361993"/>
          </a:xfrm>
          <a:prstGeom prst="rect">
            <a:avLst/>
          </a:prstGeom>
          <a:noFill/>
          <a:ln/>
        </p:spPr>
        <p:txBody>
          <a:bodyPr wrap="none" lIns="0" tIns="0" rIns="0" bIns="0" rtlCol="0" anchor="t"/>
          <a:lstStyle/>
          <a:p>
            <a:pPr marL="0" indent="0" algn="ctr">
              <a:lnSpc>
                <a:spcPts val="1550"/>
              </a:lnSpc>
              <a:buNone/>
            </a:pPr>
            <a:r>
              <a:rPr lang="en-US" sz="2800" b="1" dirty="0">
                <a:solidFill>
                  <a:srgbClr val="E5E0DF"/>
                </a:solidFill>
                <a:latin typeface="Arial" panose="020B0604020202020204" pitchFamily="34" charset="0"/>
                <a:ea typeface="Overpass Bold" pitchFamily="34" charset="-122"/>
                <a:cs typeface="Arial" panose="020B0604020202020204" pitchFamily="34" charset="0"/>
              </a:rPr>
              <a:t>Trigger</a:t>
            </a:r>
          </a:p>
        </p:txBody>
      </p:sp>
      <p:pic>
        <p:nvPicPr>
          <p:cNvPr id="6" name="Image 1" descr="preencoded.png"/>
          <p:cNvPicPr>
            <a:picLocks noChangeAspect="1"/>
          </p:cNvPicPr>
          <p:nvPr/>
        </p:nvPicPr>
        <p:blipFill>
          <a:blip r:embed="rId4"/>
          <a:stretch>
            <a:fillRect/>
          </a:stretch>
        </p:blipFill>
        <p:spPr>
          <a:xfrm>
            <a:off x="3527386" y="3909088"/>
            <a:ext cx="684216" cy="684217"/>
          </a:xfrm>
          <a:prstGeom prst="rect">
            <a:avLst/>
          </a:prstGeom>
        </p:spPr>
      </p:pic>
      <p:sp>
        <p:nvSpPr>
          <p:cNvPr id="7" name="Text 3"/>
          <p:cNvSpPr/>
          <p:nvPr/>
        </p:nvSpPr>
        <p:spPr>
          <a:xfrm>
            <a:off x="4798317" y="2728387"/>
            <a:ext cx="2897656" cy="361993"/>
          </a:xfrm>
          <a:prstGeom prst="rect">
            <a:avLst/>
          </a:prstGeom>
          <a:noFill/>
          <a:ln/>
        </p:spPr>
        <p:txBody>
          <a:bodyPr wrap="none" lIns="0" tIns="0" rIns="0" bIns="0" rtlCol="0" anchor="t"/>
          <a:lstStyle/>
          <a:p>
            <a:pPr marL="0" indent="0" algn="ctr">
              <a:lnSpc>
                <a:spcPts val="1550"/>
              </a:lnSpc>
              <a:buNone/>
            </a:pPr>
            <a:r>
              <a:rPr lang="en-US" sz="2800" b="1" dirty="0">
                <a:solidFill>
                  <a:srgbClr val="E5E0DF"/>
                </a:solidFill>
                <a:latin typeface="Arial" panose="020B0604020202020204" pitchFamily="34" charset="0"/>
                <a:ea typeface="Overpass Bold" pitchFamily="34" charset="-122"/>
                <a:cs typeface="Arial" panose="020B0604020202020204" pitchFamily="34" charset="0"/>
              </a:rPr>
              <a:t>Invoke</a:t>
            </a:r>
          </a:p>
        </p:txBody>
      </p:sp>
      <p:pic>
        <p:nvPicPr>
          <p:cNvPr id="8" name="Image 2" descr="preencoded.png"/>
          <p:cNvPicPr>
            <a:picLocks noChangeAspect="1"/>
          </p:cNvPicPr>
          <p:nvPr/>
        </p:nvPicPr>
        <p:blipFill>
          <a:blip r:embed="rId5"/>
          <a:stretch>
            <a:fillRect/>
          </a:stretch>
        </p:blipFill>
        <p:spPr>
          <a:xfrm>
            <a:off x="5690150" y="4326247"/>
            <a:ext cx="684217" cy="684216"/>
          </a:xfrm>
          <a:prstGeom prst="rect">
            <a:avLst/>
          </a:prstGeom>
        </p:spPr>
      </p:pic>
      <p:sp>
        <p:nvSpPr>
          <p:cNvPr id="9" name="Text 4"/>
          <p:cNvSpPr/>
          <p:nvPr/>
        </p:nvSpPr>
        <p:spPr>
          <a:xfrm>
            <a:off x="6758170" y="6661349"/>
            <a:ext cx="2889318" cy="361993"/>
          </a:xfrm>
          <a:prstGeom prst="rect">
            <a:avLst/>
          </a:prstGeom>
          <a:noFill/>
          <a:ln/>
        </p:spPr>
        <p:txBody>
          <a:bodyPr wrap="none" lIns="0" tIns="0" rIns="0" bIns="0" rtlCol="0" anchor="t"/>
          <a:lstStyle/>
          <a:p>
            <a:pPr marL="0" indent="0" algn="ctr">
              <a:lnSpc>
                <a:spcPts val="1550"/>
              </a:lnSpc>
              <a:buNone/>
            </a:pPr>
            <a:r>
              <a:rPr lang="en-US" sz="2800" b="1" dirty="0">
                <a:solidFill>
                  <a:srgbClr val="E5E0DF"/>
                </a:solidFill>
                <a:latin typeface="Arial" panose="020B0604020202020204" pitchFamily="34" charset="0"/>
                <a:ea typeface="Overpass Bold" pitchFamily="34" charset="-122"/>
                <a:cs typeface="Arial" panose="020B0604020202020204" pitchFamily="34" charset="0"/>
              </a:rPr>
              <a:t>Isolated</a:t>
            </a:r>
            <a:r>
              <a:rPr lang="en-US" sz="1250" b="1" dirty="0">
                <a:solidFill>
                  <a:srgbClr val="E5E0DF"/>
                </a:solidFill>
                <a:latin typeface="Arial" panose="020B0604020202020204" pitchFamily="34" charset="0"/>
                <a:ea typeface="Overpass Bold" pitchFamily="34" charset="-122"/>
                <a:cs typeface="Arial" panose="020B0604020202020204" pitchFamily="34" charset="0"/>
              </a:rPr>
              <a:t> </a:t>
            </a:r>
            <a:r>
              <a:rPr lang="en-US" sz="2800" b="1" dirty="0">
                <a:solidFill>
                  <a:srgbClr val="E5E0DF"/>
                </a:solidFill>
                <a:latin typeface="Arial" panose="020B0604020202020204" pitchFamily="34" charset="0"/>
                <a:ea typeface="Overpass Bold" pitchFamily="34" charset="-122"/>
                <a:cs typeface="Arial" panose="020B0604020202020204" pitchFamily="34" charset="0"/>
              </a:rPr>
              <a:t>Container</a:t>
            </a:r>
          </a:p>
        </p:txBody>
      </p:sp>
      <p:pic>
        <p:nvPicPr>
          <p:cNvPr id="10" name="Image 3" descr="preencoded.png"/>
          <p:cNvPicPr>
            <a:picLocks noChangeAspect="1"/>
          </p:cNvPicPr>
          <p:nvPr/>
        </p:nvPicPr>
        <p:blipFill>
          <a:blip r:embed="rId6"/>
          <a:stretch>
            <a:fillRect/>
          </a:stretch>
        </p:blipFill>
        <p:spPr>
          <a:xfrm>
            <a:off x="7853130" y="4743404"/>
            <a:ext cx="684216" cy="684216"/>
          </a:xfrm>
          <a:prstGeom prst="rect">
            <a:avLst/>
          </a:prstGeom>
        </p:spPr>
      </p:pic>
      <p:sp>
        <p:nvSpPr>
          <p:cNvPr id="11" name="Text 5"/>
          <p:cNvSpPr/>
          <p:nvPr/>
        </p:nvSpPr>
        <p:spPr>
          <a:xfrm>
            <a:off x="9322912" y="3533838"/>
            <a:ext cx="2889318" cy="361993"/>
          </a:xfrm>
          <a:prstGeom prst="rect">
            <a:avLst/>
          </a:prstGeom>
          <a:noFill/>
          <a:ln/>
        </p:spPr>
        <p:txBody>
          <a:bodyPr wrap="none" lIns="0" tIns="0" rIns="0" bIns="0" rtlCol="0" anchor="t"/>
          <a:lstStyle/>
          <a:p>
            <a:pPr marL="0" indent="0" algn="ctr">
              <a:lnSpc>
                <a:spcPts val="1550"/>
              </a:lnSpc>
              <a:buNone/>
            </a:pPr>
            <a:r>
              <a:rPr lang="en-US" sz="2800" b="1" dirty="0">
                <a:solidFill>
                  <a:srgbClr val="E5E0DF"/>
                </a:solidFill>
                <a:latin typeface="Arial" panose="020B0604020202020204" pitchFamily="34" charset="0"/>
                <a:ea typeface="Overpass Bold" pitchFamily="34" charset="-122"/>
                <a:cs typeface="Arial" panose="020B0604020202020204" pitchFamily="34" charset="0"/>
              </a:rPr>
              <a:t>Pay-per-</a:t>
            </a:r>
            <a:r>
              <a:rPr lang="en-US" sz="2800" b="1" dirty="0" err="1">
                <a:solidFill>
                  <a:srgbClr val="E5E0DF"/>
                </a:solidFill>
                <a:latin typeface="Arial" panose="020B0604020202020204" pitchFamily="34" charset="0"/>
                <a:ea typeface="Overpass Bold" pitchFamily="34" charset="-122"/>
                <a:cs typeface="Arial" panose="020B0604020202020204" pitchFamily="34" charset="0"/>
              </a:rPr>
              <a:t>ms</a:t>
            </a:r>
            <a:endParaRPr lang="en-US" sz="2800" b="1" dirty="0">
              <a:solidFill>
                <a:srgbClr val="E5E0DF"/>
              </a:solidFill>
              <a:latin typeface="Arial" panose="020B0604020202020204" pitchFamily="34" charset="0"/>
              <a:ea typeface="Overpass Bold" pitchFamily="34" charset="-122"/>
              <a:cs typeface="Arial" panose="020B0604020202020204" pitchFamily="34" charset="0"/>
            </a:endParaRPr>
          </a:p>
        </p:txBody>
      </p:sp>
      <p:pic>
        <p:nvPicPr>
          <p:cNvPr id="12" name="Image 4" descr="preencoded.png"/>
          <p:cNvPicPr>
            <a:picLocks noChangeAspect="1"/>
          </p:cNvPicPr>
          <p:nvPr/>
        </p:nvPicPr>
        <p:blipFill>
          <a:blip r:embed="rId7"/>
          <a:stretch>
            <a:fillRect/>
          </a:stretch>
        </p:blipFill>
        <p:spPr>
          <a:xfrm>
            <a:off x="10155090" y="5191352"/>
            <a:ext cx="684217" cy="684216"/>
          </a:xfrm>
          <a:prstGeom prst="rect">
            <a:avLst/>
          </a:prstGeom>
        </p:spPr>
      </p:pic>
      <p:sp>
        <p:nvSpPr>
          <p:cNvPr id="13" name="Text 6"/>
          <p:cNvSpPr/>
          <p:nvPr/>
        </p:nvSpPr>
        <p:spPr>
          <a:xfrm>
            <a:off x="472916" y="8650724"/>
            <a:ext cx="13684568" cy="378143"/>
          </a:xfrm>
          <a:prstGeom prst="rect">
            <a:avLst/>
          </a:prstGeom>
          <a:noFill/>
          <a:ln/>
        </p:spPr>
        <p:txBody>
          <a:bodyPr wrap="square" lIns="0" tIns="0" rIns="0" bIns="0" rtlCol="0" anchor="t"/>
          <a:lstStyle/>
          <a:p>
            <a:pPr marL="0" indent="0" algn="l">
              <a:lnSpc>
                <a:spcPts val="1450"/>
              </a:lnSpc>
              <a:buNone/>
            </a:pPr>
            <a:r>
              <a:rPr lang="en-US" sz="900" dirty="0">
                <a:solidFill>
                  <a:srgbClr val="E5E0DF"/>
                </a:solidFill>
                <a:latin typeface="Arial" panose="020B0604020202020204" pitchFamily="34" charset="0"/>
                <a:ea typeface="Overpass" pitchFamily="34" charset="-122"/>
                <a:cs typeface="Arial" panose="020B0604020202020204" pitchFamily="34" charset="0"/>
              </a:rPr>
              <a:t>Lambda's architecture ensures that each function runs in its own isolated execution environment, often referred to as a "container." This isolation provides security and resource allocation guarantees. When an event triggers a function, Lambda allocates the necessary CPU and memory resources for that specific execution. Once the execution completes, the resources are released. This ephemeral nature is central to the serverless philosophy.</a:t>
            </a:r>
            <a:endParaRPr lang="en-US" sz="900" dirty="0">
              <a:latin typeface="Arial" panose="020B0604020202020204" pitchFamily="34" charset="0"/>
              <a:cs typeface="Arial" panose="020B0604020202020204" pitchFamily="34" charset="0"/>
            </a:endParaRPr>
          </a:p>
        </p:txBody>
      </p:sp>
      <p:sp>
        <p:nvSpPr>
          <p:cNvPr id="14" name="Text 7"/>
          <p:cNvSpPr/>
          <p:nvPr/>
        </p:nvSpPr>
        <p:spPr>
          <a:xfrm>
            <a:off x="472916" y="9161859"/>
            <a:ext cx="13684568" cy="378143"/>
          </a:xfrm>
          <a:prstGeom prst="rect">
            <a:avLst/>
          </a:prstGeom>
          <a:noFill/>
          <a:ln/>
        </p:spPr>
        <p:txBody>
          <a:bodyPr wrap="square" lIns="0" tIns="0" rIns="0" bIns="0" rtlCol="0" anchor="t"/>
          <a:lstStyle/>
          <a:p>
            <a:pPr marL="0" indent="0" algn="l">
              <a:lnSpc>
                <a:spcPts val="1450"/>
              </a:lnSpc>
              <a:buNone/>
            </a:pPr>
            <a:r>
              <a:rPr lang="en-US" sz="900" dirty="0">
                <a:solidFill>
                  <a:srgbClr val="E5E0DF"/>
                </a:solidFill>
                <a:latin typeface="Arial" panose="020B0604020202020204" pitchFamily="34" charset="0"/>
                <a:ea typeface="Overpass" pitchFamily="34" charset="-122"/>
                <a:cs typeface="Arial" panose="020B0604020202020204" pitchFamily="34" charset="0"/>
              </a:rPr>
              <a:t>The pricing model, often called "pay-per-millisecond," is a significant advantage. You are billed based on the duration your code executes (rounded up to the nearest millisecond) and the amount of memory you configure for your function. This means you avoid the costs associated with idle servers or pre-provisioned capacity that might not always be fully utilized.</a:t>
            </a:r>
            <a:endParaRPr lang="en-US" sz="900" dirty="0">
              <a:latin typeface="Arial" panose="020B0604020202020204" pitchFamily="34" charset="0"/>
              <a:cs typeface="Arial" panose="020B0604020202020204" pitchFamily="34" charset="0"/>
            </a:endParaRPr>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4" y="1095970"/>
            <a:ext cx="7468553" cy="1231821"/>
          </a:xfrm>
          <a:prstGeom prst="rect">
            <a:avLst/>
          </a:prstGeom>
          <a:noFill/>
          <a:ln/>
        </p:spPr>
        <p:txBody>
          <a:bodyPr wrap="square" lIns="0" tIns="0" rIns="0" bIns="0" rtlCol="0" anchor="t"/>
          <a:lstStyle/>
          <a:p>
            <a:pPr marL="0" indent="0" algn="l">
              <a:lnSpc>
                <a:spcPts val="4850"/>
              </a:lnSpc>
              <a:buNone/>
            </a:pPr>
            <a:r>
              <a:rPr lang="en-US" sz="3850" b="1" dirty="0">
                <a:solidFill>
                  <a:srgbClr val="FFFFFF"/>
                </a:solidFill>
                <a:latin typeface="Arial" panose="020B0604020202020204" pitchFamily="34" charset="0"/>
                <a:ea typeface="Overpass Bold" pitchFamily="34" charset="-122"/>
                <a:cs typeface="Arial" panose="020B0604020202020204" pitchFamily="34" charset="0"/>
              </a:rPr>
              <a:t>Event-Driven Architecture in Action</a:t>
            </a:r>
            <a:endParaRPr lang="en-US" sz="3850" dirty="0">
              <a:latin typeface="Arial" panose="020B0604020202020204" pitchFamily="34" charset="0"/>
              <a:cs typeface="Arial" panose="020B0604020202020204" pitchFamily="34" charset="0"/>
            </a:endParaRPr>
          </a:p>
        </p:txBody>
      </p:sp>
      <p:sp>
        <p:nvSpPr>
          <p:cNvPr id="4" name="Text 1"/>
          <p:cNvSpPr/>
          <p:nvPr/>
        </p:nvSpPr>
        <p:spPr>
          <a:xfrm>
            <a:off x="837724" y="2641878"/>
            <a:ext cx="7468553" cy="1005126"/>
          </a:xfrm>
          <a:prstGeom prst="rect">
            <a:avLst/>
          </a:prstGeom>
          <a:noFill/>
          <a:ln/>
        </p:spPr>
        <p:txBody>
          <a:bodyPr wrap="square" lIns="0" tIns="0" rIns="0" bIns="0" rtlCol="0" anchor="t"/>
          <a:lstStyle/>
          <a:p>
            <a:pPr>
              <a:lnSpc>
                <a:spcPts val="2300"/>
              </a:lnSpc>
            </a:pPr>
            <a:r>
              <a:rPr lang="en-US" sz="1450" dirty="0">
                <a:solidFill>
                  <a:srgbClr val="E5E0DF"/>
                </a:solidFill>
                <a:latin typeface="Arial" panose="020B0604020202020204" pitchFamily="34" charset="0"/>
                <a:cs typeface="Arial" panose="020B0604020202020204" pitchFamily="34" charset="0"/>
              </a:rPr>
              <a:t>Imagine a scenario where a new file is uploaded to an Amazon S3 bucket. This action serves as an event that can automatically trigger an AWS Lambda function.</a:t>
            </a:r>
          </a:p>
        </p:txBody>
      </p:sp>
      <p:sp>
        <p:nvSpPr>
          <p:cNvPr id="5" name="Text 2"/>
          <p:cNvSpPr/>
          <p:nvPr/>
        </p:nvSpPr>
        <p:spPr>
          <a:xfrm>
            <a:off x="837724" y="3882628"/>
            <a:ext cx="7468553" cy="1340168"/>
          </a:xfrm>
          <a:prstGeom prst="rect">
            <a:avLst/>
          </a:prstGeom>
          <a:noFill/>
          <a:ln/>
        </p:spPr>
        <p:txBody>
          <a:bodyPr wrap="square" lIns="0" tIns="0" rIns="0" bIns="0" rtlCol="0" anchor="t"/>
          <a:lstStyle/>
          <a:p>
            <a:pPr>
              <a:lnSpc>
                <a:spcPts val="2300"/>
              </a:lnSpc>
            </a:pPr>
            <a:r>
              <a:rPr lang="en-US" sz="1450" dirty="0">
                <a:solidFill>
                  <a:srgbClr val="E5E0DF"/>
                </a:solidFill>
                <a:latin typeface="Arial" panose="020B0604020202020204" pitchFamily="34" charset="0"/>
                <a:cs typeface="Arial" panose="020B0604020202020204" pitchFamily="34" charset="0"/>
              </a:rPr>
              <a:t>Upon receiving the trigger, the Lambda function springs into action. It could, for example, process the uploaded file: resize images, transcode videos, extract metadata, or even initiate data analysis. This entire process happens without you managing a single server.</a:t>
            </a:r>
          </a:p>
        </p:txBody>
      </p:sp>
      <p:sp>
        <p:nvSpPr>
          <p:cNvPr id="6" name="Text 3"/>
          <p:cNvSpPr/>
          <p:nvPr/>
        </p:nvSpPr>
        <p:spPr>
          <a:xfrm>
            <a:off x="837724" y="5458420"/>
            <a:ext cx="7468553" cy="1675209"/>
          </a:xfrm>
          <a:prstGeom prst="rect">
            <a:avLst/>
          </a:prstGeom>
          <a:noFill/>
          <a:ln/>
        </p:spPr>
        <p:txBody>
          <a:bodyPr wrap="square" lIns="0" tIns="0" rIns="0" bIns="0" rtlCol="0" anchor="t"/>
          <a:lstStyle/>
          <a:p>
            <a:pPr>
              <a:lnSpc>
                <a:spcPts val="2300"/>
              </a:lnSpc>
            </a:pPr>
            <a:r>
              <a:rPr lang="en-US" sz="1450" dirty="0">
                <a:solidFill>
                  <a:srgbClr val="E5E0DF"/>
                </a:solidFill>
                <a:latin typeface="Arial" panose="020B0604020202020204" pitchFamily="34" charset="0"/>
                <a:cs typeface="Arial" panose="020B0604020202020204" pitchFamily="34" charset="0"/>
              </a:rPr>
              <a:t>The visual on the right illustrates this flow, showcasing the seamless connection between services, the instant scalability of Lambda to handle varying loads, and the highly cost-efficient pay-as-you-go model, only charging for the actual time your code runs. This model makes serverless computing incredibly attractive for unpredictable workloads.</a:t>
            </a:r>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33782" y="504468"/>
            <a:ext cx="7991356" cy="539591"/>
          </a:xfrm>
          <a:prstGeom prst="rect">
            <a:avLst/>
          </a:prstGeom>
          <a:noFill/>
          <a:ln/>
        </p:spPr>
        <p:txBody>
          <a:bodyPr wrap="none" lIns="0" tIns="0" rIns="0" bIns="0" rtlCol="0" anchor="t"/>
          <a:lstStyle/>
          <a:p>
            <a:pPr marL="0" indent="0" algn="l">
              <a:lnSpc>
                <a:spcPts val="4200"/>
              </a:lnSpc>
              <a:buNone/>
            </a:pPr>
            <a:r>
              <a:rPr lang="en-US" sz="3350" b="1" dirty="0">
                <a:solidFill>
                  <a:srgbClr val="FFFFFF"/>
                </a:solidFill>
                <a:latin typeface="Arial" panose="020B0604020202020204" pitchFamily="34" charset="0"/>
                <a:ea typeface="Verdana Bold" panose="020B0804030504040204" pitchFamily="34" charset="0"/>
                <a:cs typeface="Arial" panose="020B0604020202020204" pitchFamily="34" charset="0"/>
              </a:rPr>
              <a:t>Key Features That Empower Developers</a:t>
            </a:r>
            <a:endParaRPr lang="en-US" sz="3350" dirty="0">
              <a:latin typeface="Arial" panose="020B0604020202020204" pitchFamily="34" charset="0"/>
              <a:ea typeface="Verdana Bold" panose="020B0804030504040204" pitchFamily="34" charset="0"/>
              <a:cs typeface="Arial" panose="020B0604020202020204" pitchFamily="34" charset="0"/>
            </a:endParaRPr>
          </a:p>
        </p:txBody>
      </p:sp>
      <p:sp>
        <p:nvSpPr>
          <p:cNvPr id="3" name="Text 1"/>
          <p:cNvSpPr/>
          <p:nvPr/>
        </p:nvSpPr>
        <p:spPr>
          <a:xfrm>
            <a:off x="733782" y="1410891"/>
            <a:ext cx="13162836" cy="586978"/>
          </a:xfrm>
          <a:prstGeom prst="rect">
            <a:avLst/>
          </a:prstGeom>
          <a:noFill/>
          <a:ln/>
        </p:spPr>
        <p:txBody>
          <a:bodyPr wrap="square" lIns="0" tIns="0" rIns="0" bIns="0" rtlCol="0" anchor="t"/>
          <a:lstStyle/>
          <a:p>
            <a:pPr marL="0" indent="0" algn="l">
              <a:lnSpc>
                <a:spcPts val="2300"/>
              </a:lnSpc>
              <a:buNone/>
            </a:pPr>
            <a:r>
              <a:rPr lang="en-US" sz="1400" dirty="0">
                <a:solidFill>
                  <a:srgbClr val="E5E0DF"/>
                </a:solidFill>
                <a:latin typeface="Arial" panose="020B0604020202020204" pitchFamily="34" charset="0"/>
                <a:ea typeface="Overpass" pitchFamily="34" charset="-122"/>
                <a:cs typeface="Arial" panose="020B0604020202020204" pitchFamily="34" charset="0"/>
              </a:rPr>
              <a:t>AWS Lambda offers a rich set of features designed to enhance developer productivity and flexibility, allowing for robust and adaptable serverless application development.</a:t>
            </a:r>
            <a:endParaRPr lang="en-US" sz="1400" dirty="0">
              <a:latin typeface="Arial" panose="020B0604020202020204" pitchFamily="34" charset="0"/>
              <a:cs typeface="Arial" panose="020B0604020202020204" pitchFamily="34" charset="0"/>
            </a:endParaRPr>
          </a:p>
        </p:txBody>
      </p:sp>
      <p:sp>
        <p:nvSpPr>
          <p:cNvPr id="4" name="Shape 2"/>
          <p:cNvSpPr/>
          <p:nvPr/>
        </p:nvSpPr>
        <p:spPr>
          <a:xfrm>
            <a:off x="733782" y="2204204"/>
            <a:ext cx="4265295" cy="2962870"/>
          </a:xfrm>
          <a:prstGeom prst="roundRect">
            <a:avLst>
              <a:gd name="adj" fmla="val 2601"/>
            </a:avLst>
          </a:prstGeom>
          <a:solidFill>
            <a:srgbClr val="7E023C"/>
          </a:solidFill>
          <a:ln w="7620">
            <a:solidFill>
              <a:srgbClr val="971B55"/>
            </a:solidFill>
            <a:prstDash val="solid"/>
          </a:ln>
        </p:spPr>
      </p:sp>
      <p:sp>
        <p:nvSpPr>
          <p:cNvPr id="5" name="Shape 3"/>
          <p:cNvSpPr/>
          <p:nvPr/>
        </p:nvSpPr>
        <p:spPr>
          <a:xfrm>
            <a:off x="924758" y="2395180"/>
            <a:ext cx="550307" cy="550307"/>
          </a:xfrm>
          <a:prstGeom prst="roundRect">
            <a:avLst>
              <a:gd name="adj" fmla="val 16614518"/>
            </a:avLst>
          </a:prstGeom>
          <a:solidFill>
            <a:srgbClr val="F20374"/>
          </a:solidFill>
          <a:ln/>
        </p:spPr>
      </p:sp>
      <p:pic>
        <p:nvPicPr>
          <p:cNvPr id="6" name="Image 0" descr="preencoded.png"/>
          <p:cNvPicPr>
            <a:picLocks noChangeAspect="1"/>
          </p:cNvPicPr>
          <p:nvPr/>
        </p:nvPicPr>
        <p:blipFill>
          <a:blip r:embed="rId3"/>
          <a:stretch>
            <a:fillRect/>
          </a:stretch>
        </p:blipFill>
        <p:spPr>
          <a:xfrm>
            <a:off x="1076087" y="2515553"/>
            <a:ext cx="247650" cy="309563"/>
          </a:xfrm>
          <a:prstGeom prst="rect">
            <a:avLst/>
          </a:prstGeom>
        </p:spPr>
      </p:pic>
      <p:sp>
        <p:nvSpPr>
          <p:cNvPr id="7" name="Text 4"/>
          <p:cNvSpPr/>
          <p:nvPr/>
        </p:nvSpPr>
        <p:spPr>
          <a:xfrm>
            <a:off x="924758" y="3128843"/>
            <a:ext cx="2442091" cy="269796"/>
          </a:xfrm>
          <a:prstGeom prst="rect">
            <a:avLst/>
          </a:prstGeom>
          <a:noFill/>
          <a:ln/>
        </p:spPr>
        <p:txBody>
          <a:bodyPr wrap="none" lIns="0" tIns="0" rIns="0" bIns="0" rtlCol="0" anchor="t"/>
          <a:lstStyle/>
          <a:p>
            <a:pPr marL="0" indent="0" algn="l">
              <a:lnSpc>
                <a:spcPts val="2100"/>
              </a:lnSpc>
              <a:buNone/>
            </a:pPr>
            <a:r>
              <a:rPr lang="en-US" sz="2800" b="1" dirty="0">
                <a:solidFill>
                  <a:srgbClr val="E5E0DF"/>
                </a:solidFill>
                <a:latin typeface="Arial" panose="020B0604020202020204" pitchFamily="34" charset="0"/>
                <a:ea typeface="Overpass Bold" pitchFamily="34" charset="-122"/>
                <a:cs typeface="Arial" panose="020B0604020202020204" pitchFamily="34" charset="0"/>
              </a:rPr>
              <a:t>Multi-Language Support</a:t>
            </a:r>
          </a:p>
        </p:txBody>
      </p:sp>
      <p:sp>
        <p:nvSpPr>
          <p:cNvPr id="8" name="Text 5"/>
          <p:cNvSpPr/>
          <p:nvPr/>
        </p:nvSpPr>
        <p:spPr>
          <a:xfrm>
            <a:off x="924758" y="3508653"/>
            <a:ext cx="3883343" cy="1467445"/>
          </a:xfrm>
          <a:prstGeom prst="rect">
            <a:avLst/>
          </a:prstGeom>
          <a:noFill/>
          <a:ln/>
        </p:spPr>
        <p:txBody>
          <a:bodyPr wrap="square" lIns="0" tIns="0" rIns="0" bIns="0" rtlCol="0" anchor="t"/>
          <a:lstStyle/>
          <a:p>
            <a:pPr marL="0" indent="0" algn="l">
              <a:lnSpc>
                <a:spcPts val="2300"/>
              </a:lnSpc>
              <a:buNone/>
            </a:pPr>
            <a:r>
              <a:rPr lang="en-US" sz="1400" dirty="0">
                <a:solidFill>
                  <a:srgbClr val="E5E0DF"/>
                </a:solidFill>
                <a:latin typeface="Arial" panose="020B0604020202020204" pitchFamily="34" charset="0"/>
                <a:ea typeface="Overpass" pitchFamily="34" charset="-122"/>
                <a:cs typeface="Arial" panose="020B0604020202020204" pitchFamily="34" charset="0"/>
              </a:rPr>
              <a:t>Lambda supports a wide array of popular programming languages, including Python, Node.js, Java, C#, Go, PowerShell, and Ruby. This allows developers to use their preferred tools and expertise.</a:t>
            </a:r>
            <a:endParaRPr lang="en-US" sz="1400" dirty="0">
              <a:latin typeface="Arial" panose="020B0604020202020204" pitchFamily="34" charset="0"/>
              <a:cs typeface="Arial" panose="020B0604020202020204" pitchFamily="34" charset="0"/>
            </a:endParaRPr>
          </a:p>
        </p:txBody>
      </p:sp>
      <p:sp>
        <p:nvSpPr>
          <p:cNvPr id="9" name="Shape 6"/>
          <p:cNvSpPr/>
          <p:nvPr/>
        </p:nvSpPr>
        <p:spPr>
          <a:xfrm>
            <a:off x="5182433" y="2204204"/>
            <a:ext cx="4265414" cy="2962870"/>
          </a:xfrm>
          <a:prstGeom prst="roundRect">
            <a:avLst>
              <a:gd name="adj" fmla="val 2601"/>
            </a:avLst>
          </a:prstGeom>
          <a:solidFill>
            <a:srgbClr val="7E023C"/>
          </a:solidFill>
          <a:ln w="7620">
            <a:solidFill>
              <a:srgbClr val="971B55"/>
            </a:solidFill>
            <a:prstDash val="solid"/>
          </a:ln>
        </p:spPr>
      </p:sp>
      <p:sp>
        <p:nvSpPr>
          <p:cNvPr id="10" name="Shape 7"/>
          <p:cNvSpPr/>
          <p:nvPr/>
        </p:nvSpPr>
        <p:spPr>
          <a:xfrm>
            <a:off x="5373410" y="2395180"/>
            <a:ext cx="550307" cy="550307"/>
          </a:xfrm>
          <a:prstGeom prst="roundRect">
            <a:avLst>
              <a:gd name="adj" fmla="val 16614518"/>
            </a:avLst>
          </a:prstGeom>
          <a:solidFill>
            <a:srgbClr val="F20374"/>
          </a:solidFill>
          <a:ln/>
        </p:spPr>
      </p:sp>
      <p:pic>
        <p:nvPicPr>
          <p:cNvPr id="11" name="Image 1" descr="preencoded.png"/>
          <p:cNvPicPr>
            <a:picLocks noChangeAspect="1"/>
          </p:cNvPicPr>
          <p:nvPr/>
        </p:nvPicPr>
        <p:blipFill>
          <a:blip r:embed="rId4"/>
          <a:stretch>
            <a:fillRect/>
          </a:stretch>
        </p:blipFill>
        <p:spPr>
          <a:xfrm>
            <a:off x="5524738" y="2515553"/>
            <a:ext cx="247650" cy="309563"/>
          </a:xfrm>
          <a:prstGeom prst="rect">
            <a:avLst/>
          </a:prstGeom>
        </p:spPr>
      </p:pic>
      <p:sp>
        <p:nvSpPr>
          <p:cNvPr id="12" name="Text 8"/>
          <p:cNvSpPr/>
          <p:nvPr/>
        </p:nvSpPr>
        <p:spPr>
          <a:xfrm>
            <a:off x="5373410" y="3128843"/>
            <a:ext cx="2158484" cy="269796"/>
          </a:xfrm>
          <a:prstGeom prst="rect">
            <a:avLst/>
          </a:prstGeom>
          <a:noFill/>
          <a:ln/>
        </p:spPr>
        <p:txBody>
          <a:bodyPr wrap="none" lIns="0" tIns="0" rIns="0" bIns="0" rtlCol="0" anchor="t"/>
          <a:lstStyle/>
          <a:p>
            <a:pPr marL="0" indent="0" algn="l">
              <a:lnSpc>
                <a:spcPts val="2100"/>
              </a:lnSpc>
              <a:buNone/>
            </a:pPr>
            <a:r>
              <a:rPr lang="en-US" sz="2800" b="1" dirty="0">
                <a:solidFill>
                  <a:srgbClr val="E5E0DF"/>
                </a:solidFill>
                <a:latin typeface="Arial" panose="020B0604020202020204" pitchFamily="34" charset="0"/>
                <a:ea typeface="Overpass Bold" pitchFamily="34" charset="-122"/>
                <a:cs typeface="Arial" panose="020B0604020202020204" pitchFamily="34" charset="0"/>
              </a:rPr>
              <a:t>Versions &amp; Aliases</a:t>
            </a:r>
          </a:p>
        </p:txBody>
      </p:sp>
      <p:sp>
        <p:nvSpPr>
          <p:cNvPr id="13" name="Text 9"/>
          <p:cNvSpPr/>
          <p:nvPr/>
        </p:nvSpPr>
        <p:spPr>
          <a:xfrm>
            <a:off x="5373410" y="3508653"/>
            <a:ext cx="3883462" cy="1467445"/>
          </a:xfrm>
          <a:prstGeom prst="rect">
            <a:avLst/>
          </a:prstGeom>
          <a:noFill/>
          <a:ln/>
        </p:spPr>
        <p:txBody>
          <a:bodyPr wrap="square" lIns="0" tIns="0" rIns="0" bIns="0" rtlCol="0" anchor="t"/>
          <a:lstStyle/>
          <a:p>
            <a:pPr marL="0" indent="0" algn="l">
              <a:lnSpc>
                <a:spcPts val="2300"/>
              </a:lnSpc>
              <a:buNone/>
            </a:pPr>
            <a:r>
              <a:rPr lang="en-US" sz="1400" dirty="0">
                <a:solidFill>
                  <a:srgbClr val="E5E0DF"/>
                </a:solidFill>
                <a:latin typeface="Arial" panose="020B0604020202020204" pitchFamily="34" charset="0"/>
                <a:ea typeface="Overpass" pitchFamily="34" charset="-122"/>
                <a:cs typeface="Arial" panose="020B0604020202020204" pitchFamily="34" charset="0"/>
              </a:rPr>
              <a:t>Manage different versions of your Lambda functions and use aliases to point to specific versions. This enables safe, controlled deployments, A/B testing, and easy rollbacks without downtime.</a:t>
            </a:r>
            <a:endParaRPr lang="en-US" sz="1400" dirty="0">
              <a:latin typeface="Arial" panose="020B0604020202020204" pitchFamily="34" charset="0"/>
              <a:cs typeface="Arial" panose="020B0604020202020204" pitchFamily="34" charset="0"/>
            </a:endParaRPr>
          </a:p>
        </p:txBody>
      </p:sp>
      <p:sp>
        <p:nvSpPr>
          <p:cNvPr id="14" name="Shape 10"/>
          <p:cNvSpPr/>
          <p:nvPr/>
        </p:nvSpPr>
        <p:spPr>
          <a:xfrm>
            <a:off x="9631204" y="2204204"/>
            <a:ext cx="4265295" cy="2962870"/>
          </a:xfrm>
          <a:prstGeom prst="roundRect">
            <a:avLst>
              <a:gd name="adj" fmla="val 2601"/>
            </a:avLst>
          </a:prstGeom>
          <a:solidFill>
            <a:srgbClr val="7E023C"/>
          </a:solidFill>
          <a:ln w="7620">
            <a:solidFill>
              <a:srgbClr val="971B55"/>
            </a:solidFill>
            <a:prstDash val="solid"/>
          </a:ln>
        </p:spPr>
      </p:sp>
      <p:sp>
        <p:nvSpPr>
          <p:cNvPr id="15" name="Shape 11"/>
          <p:cNvSpPr/>
          <p:nvPr/>
        </p:nvSpPr>
        <p:spPr>
          <a:xfrm>
            <a:off x="9822180" y="2395180"/>
            <a:ext cx="550307" cy="550307"/>
          </a:xfrm>
          <a:prstGeom prst="roundRect">
            <a:avLst>
              <a:gd name="adj" fmla="val 16614518"/>
            </a:avLst>
          </a:prstGeom>
          <a:solidFill>
            <a:srgbClr val="F20374"/>
          </a:solidFill>
          <a:ln/>
        </p:spPr>
      </p:sp>
      <p:pic>
        <p:nvPicPr>
          <p:cNvPr id="16" name="Image 2" descr="preencoded.png"/>
          <p:cNvPicPr>
            <a:picLocks noChangeAspect="1"/>
          </p:cNvPicPr>
          <p:nvPr/>
        </p:nvPicPr>
        <p:blipFill>
          <a:blip r:embed="rId5"/>
          <a:stretch>
            <a:fillRect/>
          </a:stretch>
        </p:blipFill>
        <p:spPr>
          <a:xfrm>
            <a:off x="9973508" y="2515553"/>
            <a:ext cx="247650" cy="309563"/>
          </a:xfrm>
          <a:prstGeom prst="rect">
            <a:avLst/>
          </a:prstGeom>
        </p:spPr>
      </p:pic>
      <p:sp>
        <p:nvSpPr>
          <p:cNvPr id="17" name="Text 12"/>
          <p:cNvSpPr/>
          <p:nvPr/>
        </p:nvSpPr>
        <p:spPr>
          <a:xfrm>
            <a:off x="9822180" y="3128843"/>
            <a:ext cx="2158484" cy="269796"/>
          </a:xfrm>
          <a:prstGeom prst="rect">
            <a:avLst/>
          </a:prstGeom>
          <a:noFill/>
          <a:ln/>
        </p:spPr>
        <p:txBody>
          <a:bodyPr wrap="none" lIns="0" tIns="0" rIns="0" bIns="0" rtlCol="0" anchor="t"/>
          <a:lstStyle/>
          <a:p>
            <a:pPr marL="0" indent="0" algn="l">
              <a:lnSpc>
                <a:spcPts val="2100"/>
              </a:lnSpc>
              <a:buNone/>
            </a:pPr>
            <a:r>
              <a:rPr lang="en-US" sz="2800" b="1" dirty="0">
                <a:solidFill>
                  <a:srgbClr val="E5E0DF"/>
                </a:solidFill>
                <a:latin typeface="Arial" panose="020B0604020202020204" pitchFamily="34" charset="0"/>
                <a:ea typeface="Overpass Bold" pitchFamily="34" charset="-122"/>
                <a:cs typeface="Arial" panose="020B0604020202020204" pitchFamily="34" charset="0"/>
              </a:rPr>
              <a:t>Lambda Layers</a:t>
            </a:r>
          </a:p>
        </p:txBody>
      </p:sp>
      <p:sp>
        <p:nvSpPr>
          <p:cNvPr id="18" name="Text 13"/>
          <p:cNvSpPr/>
          <p:nvPr/>
        </p:nvSpPr>
        <p:spPr>
          <a:xfrm>
            <a:off x="9822180" y="3508653"/>
            <a:ext cx="3883343" cy="1467445"/>
          </a:xfrm>
          <a:prstGeom prst="rect">
            <a:avLst/>
          </a:prstGeom>
          <a:noFill/>
          <a:ln/>
        </p:spPr>
        <p:txBody>
          <a:bodyPr wrap="square" lIns="0" tIns="0" rIns="0" bIns="0" rtlCol="0" anchor="t"/>
          <a:lstStyle/>
          <a:p>
            <a:pPr marL="0" indent="0" algn="l">
              <a:lnSpc>
                <a:spcPts val="2300"/>
              </a:lnSpc>
              <a:buNone/>
            </a:pPr>
            <a:r>
              <a:rPr lang="en-US" sz="1400" dirty="0">
                <a:solidFill>
                  <a:srgbClr val="E5E0DF"/>
                </a:solidFill>
                <a:latin typeface="Arial" panose="020B0604020202020204" pitchFamily="34" charset="0"/>
                <a:ea typeface="Overpass" pitchFamily="34" charset="-122"/>
                <a:cs typeface="Arial" panose="020B0604020202020204" pitchFamily="34" charset="0"/>
              </a:rPr>
              <a:t>Package common dependencies, libraries, and custom runtimes into reusable layers. This reduces function deployment sizes, speeds up deployments, and promotes code reuse across multiple functions.</a:t>
            </a:r>
            <a:endParaRPr lang="en-US" sz="1400" dirty="0">
              <a:latin typeface="Arial" panose="020B0604020202020204" pitchFamily="34" charset="0"/>
              <a:cs typeface="Arial" panose="020B0604020202020204" pitchFamily="34" charset="0"/>
            </a:endParaRPr>
          </a:p>
        </p:txBody>
      </p:sp>
      <p:sp>
        <p:nvSpPr>
          <p:cNvPr id="19" name="Shape 14"/>
          <p:cNvSpPr/>
          <p:nvPr/>
        </p:nvSpPr>
        <p:spPr>
          <a:xfrm>
            <a:off x="726161" y="5373409"/>
            <a:ext cx="6489621" cy="2375892"/>
          </a:xfrm>
          <a:prstGeom prst="roundRect">
            <a:avLst>
              <a:gd name="adj" fmla="val 3243"/>
            </a:avLst>
          </a:prstGeom>
          <a:solidFill>
            <a:srgbClr val="7E023C"/>
          </a:solidFill>
          <a:ln w="7620">
            <a:solidFill>
              <a:srgbClr val="971B55"/>
            </a:solidFill>
            <a:prstDash val="solid"/>
          </a:ln>
        </p:spPr>
      </p:sp>
      <p:sp>
        <p:nvSpPr>
          <p:cNvPr id="20" name="Shape 15"/>
          <p:cNvSpPr/>
          <p:nvPr/>
        </p:nvSpPr>
        <p:spPr>
          <a:xfrm>
            <a:off x="924758" y="5541407"/>
            <a:ext cx="550307" cy="550307"/>
          </a:xfrm>
          <a:prstGeom prst="roundRect">
            <a:avLst>
              <a:gd name="adj" fmla="val 16614518"/>
            </a:avLst>
          </a:prstGeom>
          <a:solidFill>
            <a:srgbClr val="F20374"/>
          </a:solidFill>
          <a:ln/>
        </p:spPr>
      </p:sp>
      <p:pic>
        <p:nvPicPr>
          <p:cNvPr id="21" name="Image 3" descr="preencoded.png"/>
          <p:cNvPicPr>
            <a:picLocks noChangeAspect="1"/>
          </p:cNvPicPr>
          <p:nvPr/>
        </p:nvPicPr>
        <p:blipFill>
          <a:blip r:embed="rId6"/>
          <a:stretch>
            <a:fillRect/>
          </a:stretch>
        </p:blipFill>
        <p:spPr>
          <a:xfrm>
            <a:off x="1076087" y="5661779"/>
            <a:ext cx="247650" cy="309563"/>
          </a:xfrm>
          <a:prstGeom prst="rect">
            <a:avLst/>
          </a:prstGeom>
        </p:spPr>
      </p:pic>
      <p:sp>
        <p:nvSpPr>
          <p:cNvPr id="22" name="Text 16"/>
          <p:cNvSpPr/>
          <p:nvPr/>
        </p:nvSpPr>
        <p:spPr>
          <a:xfrm>
            <a:off x="924758" y="6275070"/>
            <a:ext cx="2515433" cy="269796"/>
          </a:xfrm>
          <a:prstGeom prst="rect">
            <a:avLst/>
          </a:prstGeom>
          <a:noFill/>
          <a:ln/>
        </p:spPr>
        <p:txBody>
          <a:bodyPr wrap="none" lIns="0" tIns="0" rIns="0" bIns="0" rtlCol="0" anchor="t"/>
          <a:lstStyle/>
          <a:p>
            <a:pPr marL="0" indent="0" algn="l">
              <a:lnSpc>
                <a:spcPts val="2100"/>
              </a:lnSpc>
              <a:buNone/>
            </a:pPr>
            <a:r>
              <a:rPr lang="en-US" sz="2800" b="1" dirty="0">
                <a:solidFill>
                  <a:srgbClr val="E5E0DF"/>
                </a:solidFill>
                <a:latin typeface="Arial" panose="020B0604020202020204" pitchFamily="34" charset="0"/>
                <a:ea typeface="Overpass Bold" pitchFamily="34" charset="-122"/>
                <a:cs typeface="Arial" panose="020B0604020202020204" pitchFamily="34" charset="0"/>
              </a:rPr>
              <a:t>Container Image Support</a:t>
            </a:r>
          </a:p>
        </p:txBody>
      </p:sp>
      <p:sp>
        <p:nvSpPr>
          <p:cNvPr id="23" name="Text 17"/>
          <p:cNvSpPr/>
          <p:nvPr/>
        </p:nvSpPr>
        <p:spPr>
          <a:xfrm>
            <a:off x="924758" y="6654879"/>
            <a:ext cx="6107668" cy="880467"/>
          </a:xfrm>
          <a:prstGeom prst="rect">
            <a:avLst/>
          </a:prstGeom>
          <a:noFill/>
          <a:ln/>
        </p:spPr>
        <p:txBody>
          <a:bodyPr wrap="square" lIns="0" tIns="0" rIns="0" bIns="0" rtlCol="0" anchor="t"/>
          <a:lstStyle/>
          <a:p>
            <a:pPr marL="0" indent="0" algn="l">
              <a:lnSpc>
                <a:spcPts val="2300"/>
              </a:lnSpc>
              <a:buNone/>
            </a:pPr>
            <a:r>
              <a:rPr lang="en-US" sz="1400" dirty="0">
                <a:solidFill>
                  <a:srgbClr val="E5E0DF"/>
                </a:solidFill>
                <a:latin typeface="Arial" panose="020B0604020202020204" pitchFamily="34" charset="0"/>
                <a:ea typeface="Overpass" pitchFamily="34" charset="-122"/>
                <a:cs typeface="Arial" panose="020B0604020202020204" pitchFamily="34" charset="0"/>
              </a:rPr>
              <a:t>For workloads with complex dependencies or machine learning models, Lambda allows you to package your function as a container image up to 10 GB. This provides greater control over the execution environment.</a:t>
            </a:r>
            <a:endParaRPr lang="en-US" sz="1400" dirty="0">
              <a:latin typeface="Arial" panose="020B0604020202020204" pitchFamily="34" charset="0"/>
              <a:cs typeface="Arial" panose="020B0604020202020204" pitchFamily="34" charset="0"/>
            </a:endParaRPr>
          </a:p>
        </p:txBody>
      </p:sp>
      <p:sp>
        <p:nvSpPr>
          <p:cNvPr id="24" name="Shape 18"/>
          <p:cNvSpPr/>
          <p:nvPr/>
        </p:nvSpPr>
        <p:spPr>
          <a:xfrm>
            <a:off x="7406759" y="5350431"/>
            <a:ext cx="6489740" cy="2375892"/>
          </a:xfrm>
          <a:prstGeom prst="roundRect">
            <a:avLst>
              <a:gd name="adj" fmla="val 3243"/>
            </a:avLst>
          </a:prstGeom>
          <a:solidFill>
            <a:srgbClr val="7E023C"/>
          </a:solidFill>
          <a:ln w="7620">
            <a:solidFill>
              <a:srgbClr val="971B55"/>
            </a:solidFill>
            <a:prstDash val="solid"/>
          </a:ln>
        </p:spPr>
      </p:sp>
      <p:sp>
        <p:nvSpPr>
          <p:cNvPr id="25" name="Shape 19"/>
          <p:cNvSpPr/>
          <p:nvPr/>
        </p:nvSpPr>
        <p:spPr>
          <a:xfrm>
            <a:off x="7597735" y="5541407"/>
            <a:ext cx="550307" cy="550307"/>
          </a:xfrm>
          <a:prstGeom prst="roundRect">
            <a:avLst>
              <a:gd name="adj" fmla="val 16614518"/>
            </a:avLst>
          </a:prstGeom>
          <a:solidFill>
            <a:srgbClr val="F20374"/>
          </a:solidFill>
          <a:ln/>
        </p:spPr>
      </p:sp>
      <p:pic>
        <p:nvPicPr>
          <p:cNvPr id="26" name="Image 4" descr="preencoded.png"/>
          <p:cNvPicPr>
            <a:picLocks noChangeAspect="1"/>
          </p:cNvPicPr>
          <p:nvPr/>
        </p:nvPicPr>
        <p:blipFill>
          <a:blip r:embed="rId7"/>
          <a:stretch>
            <a:fillRect/>
          </a:stretch>
        </p:blipFill>
        <p:spPr>
          <a:xfrm>
            <a:off x="7749064" y="5661779"/>
            <a:ext cx="247650" cy="309563"/>
          </a:xfrm>
          <a:prstGeom prst="rect">
            <a:avLst/>
          </a:prstGeom>
        </p:spPr>
      </p:pic>
      <p:sp>
        <p:nvSpPr>
          <p:cNvPr id="27" name="Text 20"/>
          <p:cNvSpPr/>
          <p:nvPr/>
        </p:nvSpPr>
        <p:spPr>
          <a:xfrm>
            <a:off x="7597735" y="6275070"/>
            <a:ext cx="3646170" cy="269796"/>
          </a:xfrm>
          <a:prstGeom prst="rect">
            <a:avLst/>
          </a:prstGeom>
          <a:noFill/>
          <a:ln/>
        </p:spPr>
        <p:txBody>
          <a:bodyPr wrap="none" lIns="0" tIns="0" rIns="0" bIns="0" rtlCol="0" anchor="t"/>
          <a:lstStyle/>
          <a:p>
            <a:pPr marL="0" indent="0" algn="l">
              <a:lnSpc>
                <a:spcPts val="2100"/>
              </a:lnSpc>
              <a:buNone/>
            </a:pPr>
            <a:r>
              <a:rPr lang="en-US" sz="2800" b="1" dirty="0">
                <a:solidFill>
                  <a:srgbClr val="E5E0DF"/>
                </a:solidFill>
                <a:latin typeface="Arial" panose="020B0604020202020204" pitchFamily="34" charset="0"/>
                <a:ea typeface="Overpass Bold" pitchFamily="34" charset="-122"/>
                <a:cs typeface="Arial" panose="020B0604020202020204" pitchFamily="34" charset="0"/>
              </a:rPr>
              <a:t>Environment Variables &amp; Extensions</a:t>
            </a:r>
          </a:p>
        </p:txBody>
      </p:sp>
      <p:sp>
        <p:nvSpPr>
          <p:cNvPr id="28" name="Text 21"/>
          <p:cNvSpPr/>
          <p:nvPr/>
        </p:nvSpPr>
        <p:spPr>
          <a:xfrm>
            <a:off x="7597735" y="6654879"/>
            <a:ext cx="6107787" cy="880467"/>
          </a:xfrm>
          <a:prstGeom prst="rect">
            <a:avLst/>
          </a:prstGeom>
          <a:noFill/>
          <a:ln/>
        </p:spPr>
        <p:txBody>
          <a:bodyPr wrap="square" lIns="0" tIns="0" rIns="0" bIns="0" rtlCol="0" anchor="t"/>
          <a:lstStyle/>
          <a:p>
            <a:pPr marL="0" indent="0" algn="l">
              <a:lnSpc>
                <a:spcPts val="2300"/>
              </a:lnSpc>
              <a:buNone/>
            </a:pPr>
            <a:r>
              <a:rPr lang="en-US" sz="1400" dirty="0">
                <a:solidFill>
                  <a:srgbClr val="E5E0DF"/>
                </a:solidFill>
                <a:latin typeface="Arial" panose="020B0604020202020204" pitchFamily="34" charset="0"/>
                <a:ea typeface="Overpass" pitchFamily="34" charset="-122"/>
                <a:cs typeface="Arial" panose="020B0604020202020204" pitchFamily="34" charset="0"/>
              </a:rPr>
              <a:t>Customize your function's behavior with environment variables for configuration. Use Lambda Extensions to integrate with your favorite monitoring, observability, security, and governance tools.</a:t>
            </a:r>
            <a:endParaRPr lang="en-US" sz="1400" dirty="0">
              <a:latin typeface="Arial" panose="020B0604020202020204" pitchFamily="34" charset="0"/>
              <a:cs typeface="Arial" panose="020B0604020202020204" pitchFamily="34" charset="0"/>
            </a:endParaRPr>
          </a:p>
        </p:txBody>
      </p:sp>
      <p:sp>
        <p:nvSpPr>
          <p:cNvPr id="29" name="Rectangle 28">
            <a:extLst>
              <a:ext uri="{FF2B5EF4-FFF2-40B4-BE49-F238E27FC236}">
                <a16:creationId xmlns:a16="http://schemas.microsoft.com/office/drawing/2014/main" id="{D3C1D904-B409-4C81-CEC3-D773CA88D6EF}"/>
              </a:ext>
            </a:extLst>
          </p:cNvPr>
          <p:cNvSpPr/>
          <p:nvPr/>
        </p:nvSpPr>
        <p:spPr>
          <a:xfrm>
            <a:off x="12804755" y="7726323"/>
            <a:ext cx="1825645" cy="497325"/>
          </a:xfrm>
          <a:prstGeom prst="rect">
            <a:avLst/>
          </a:prstGeom>
          <a:solidFill>
            <a:srgbClr val="242121"/>
          </a:solidFill>
          <a:effectLst>
            <a:softEdge rad="63500"/>
          </a:effectLst>
        </p:spPr>
        <p:style>
          <a:lnRef idx="1">
            <a:schemeClr val="dk1"/>
          </a:lnRef>
          <a:fillRef idx="3">
            <a:schemeClr val="dk1"/>
          </a:fillRef>
          <a:effectRef idx="2">
            <a:schemeClr val="dk1"/>
          </a:effectRef>
          <a:fontRef idx="minor">
            <a:schemeClr val="lt1"/>
          </a:fontRef>
        </p:style>
        <p:txBody>
          <a:bodyPr rtlCol="0" anchor="ctr"/>
          <a:lstStyle/>
          <a:p>
            <a:pPr algn="ctr"/>
            <a:endParaRPr lang="en-IN" dirty="0">
              <a:latin typeface="Arial" panose="020B0604020202020204" pitchFamily="34" charset="0"/>
              <a:cs typeface="Arial" panose="020B0604020202020204" pitchFamily="34" charset="0"/>
            </a:endParaRPr>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37724" y="815697"/>
            <a:ext cx="4956453" cy="615910"/>
          </a:xfrm>
          <a:prstGeom prst="rect">
            <a:avLst/>
          </a:prstGeom>
          <a:noFill/>
          <a:ln/>
        </p:spPr>
        <p:txBody>
          <a:bodyPr wrap="none" lIns="0" tIns="0" rIns="0" bIns="0" rtlCol="0" anchor="t"/>
          <a:lstStyle/>
          <a:p>
            <a:pPr>
              <a:lnSpc>
                <a:spcPts val="4200"/>
              </a:lnSpc>
            </a:pPr>
            <a:r>
              <a:rPr lang="en-US" sz="3350" b="1" dirty="0">
                <a:solidFill>
                  <a:srgbClr val="FFFFFF"/>
                </a:solidFill>
                <a:latin typeface="Arial" panose="020B0604020202020204" pitchFamily="34" charset="0"/>
                <a:ea typeface="Verdana Bold" panose="020B0804030504040204" pitchFamily="34" charset="0"/>
                <a:cs typeface="Arial" panose="020B0604020202020204" pitchFamily="34" charset="0"/>
              </a:rPr>
              <a:t>Real-World Use Cases</a:t>
            </a:r>
          </a:p>
        </p:txBody>
      </p:sp>
      <p:sp>
        <p:nvSpPr>
          <p:cNvPr id="3" name="Text 1"/>
          <p:cNvSpPr/>
          <p:nvPr/>
        </p:nvSpPr>
        <p:spPr>
          <a:xfrm>
            <a:off x="837724" y="1850469"/>
            <a:ext cx="12954952" cy="670084"/>
          </a:xfrm>
          <a:prstGeom prst="rect">
            <a:avLst/>
          </a:prstGeom>
          <a:noFill/>
          <a:ln/>
        </p:spPr>
        <p:txBody>
          <a:bodyPr wrap="square" lIns="0" tIns="0" rIns="0" bIns="0" rtlCol="0" anchor="t"/>
          <a:lstStyle/>
          <a:p>
            <a:pPr>
              <a:lnSpc>
                <a:spcPts val="2300"/>
              </a:lnSpc>
            </a:pPr>
            <a:r>
              <a:rPr lang="en-US" sz="1450" dirty="0">
                <a:solidFill>
                  <a:srgbClr val="E5E0DF"/>
                </a:solidFill>
                <a:latin typeface="Arial" panose="020B0604020202020204" pitchFamily="34" charset="0"/>
                <a:cs typeface="Arial" panose="020B0604020202020204" pitchFamily="34" charset="0"/>
              </a:rPr>
              <a:t>AWS Lambda's versatility makes it suitable for a wide range of applications, from backend processing to real-time data analysis. Here are some prevalent scenarios where Lambda truly shines:</a:t>
            </a:r>
          </a:p>
        </p:txBody>
      </p:sp>
      <p:sp>
        <p:nvSpPr>
          <p:cNvPr id="4" name="Text 2"/>
          <p:cNvSpPr/>
          <p:nvPr/>
        </p:nvSpPr>
        <p:spPr>
          <a:xfrm>
            <a:off x="837724" y="2965609"/>
            <a:ext cx="3916323" cy="308015"/>
          </a:xfrm>
          <a:prstGeom prst="rect">
            <a:avLst/>
          </a:prstGeom>
          <a:noFill/>
          <a:ln/>
        </p:spPr>
        <p:txBody>
          <a:bodyPr wrap="none" lIns="0" tIns="0" rIns="0" bIns="0" rtlCol="0" anchor="t"/>
          <a:lstStyle/>
          <a:p>
            <a:pPr>
              <a:lnSpc>
                <a:spcPts val="2100"/>
              </a:lnSpc>
            </a:pPr>
            <a:r>
              <a:rPr lang="en-US" sz="2800" b="1" dirty="0">
                <a:solidFill>
                  <a:srgbClr val="E5E0DF"/>
                </a:solidFill>
                <a:latin typeface="Arial" panose="020B0604020202020204" pitchFamily="34" charset="0"/>
                <a:ea typeface="Overpass Bold" pitchFamily="34" charset="-122"/>
                <a:cs typeface="Arial" panose="020B0604020202020204" pitchFamily="34" charset="0"/>
              </a:rPr>
              <a:t>File Processing &amp; Transformations</a:t>
            </a:r>
          </a:p>
        </p:txBody>
      </p:sp>
      <p:sp>
        <p:nvSpPr>
          <p:cNvPr id="5" name="Text 3"/>
          <p:cNvSpPr/>
          <p:nvPr/>
        </p:nvSpPr>
        <p:spPr>
          <a:xfrm>
            <a:off x="837724" y="3483054"/>
            <a:ext cx="6221968" cy="1675209"/>
          </a:xfrm>
          <a:prstGeom prst="rect">
            <a:avLst/>
          </a:prstGeom>
          <a:noFill/>
          <a:ln/>
        </p:spPr>
        <p:txBody>
          <a:bodyPr wrap="square" lIns="0" tIns="0" rIns="0" bIns="0" rtlCol="0" anchor="t"/>
          <a:lstStyle/>
          <a:p>
            <a:pPr>
              <a:lnSpc>
                <a:spcPts val="2300"/>
              </a:lnSpc>
            </a:pPr>
            <a:r>
              <a:rPr lang="en-US" sz="1450" dirty="0">
                <a:solidFill>
                  <a:srgbClr val="E5E0DF"/>
                </a:solidFill>
                <a:latin typeface="Arial" panose="020B0604020202020204" pitchFamily="34" charset="0"/>
                <a:cs typeface="Arial" panose="020B0604020202020204" pitchFamily="34" charset="0"/>
              </a:rPr>
              <a:t>Trigger Lambda functions automatically when new files are uploaded to Amazon S3. This is ideal for image resizing, video transcoding, data extraction, or generating thumbnails in real-time, eliminating the need for dedicated servers to handle these tasks.</a:t>
            </a:r>
          </a:p>
        </p:txBody>
      </p:sp>
      <p:sp>
        <p:nvSpPr>
          <p:cNvPr id="6" name="Text 4"/>
          <p:cNvSpPr/>
          <p:nvPr/>
        </p:nvSpPr>
        <p:spPr>
          <a:xfrm>
            <a:off x="837724" y="5367695"/>
            <a:ext cx="2464118" cy="308015"/>
          </a:xfrm>
          <a:prstGeom prst="rect">
            <a:avLst/>
          </a:prstGeom>
          <a:noFill/>
          <a:ln/>
        </p:spPr>
        <p:txBody>
          <a:bodyPr wrap="none" lIns="0" tIns="0" rIns="0" bIns="0" rtlCol="0" anchor="t"/>
          <a:lstStyle/>
          <a:p>
            <a:pPr marL="0" indent="0" algn="l">
              <a:lnSpc>
                <a:spcPts val="2400"/>
              </a:lnSpc>
              <a:buNone/>
            </a:pPr>
            <a:r>
              <a:rPr lang="en-US" sz="2800" b="1" dirty="0">
                <a:solidFill>
                  <a:srgbClr val="E5E0DF"/>
                </a:solidFill>
                <a:latin typeface="Arial" panose="020B0604020202020204" pitchFamily="34" charset="0"/>
                <a:ea typeface="Overpass Bold" pitchFamily="34" charset="-122"/>
                <a:cs typeface="Arial" panose="020B0604020202020204" pitchFamily="34" charset="0"/>
              </a:rPr>
              <a:t>Stream Processing</a:t>
            </a:r>
          </a:p>
        </p:txBody>
      </p:sp>
      <p:sp>
        <p:nvSpPr>
          <p:cNvPr id="7" name="Text 5"/>
          <p:cNvSpPr/>
          <p:nvPr/>
        </p:nvSpPr>
        <p:spPr>
          <a:xfrm>
            <a:off x="837724" y="5885140"/>
            <a:ext cx="6221968" cy="1340168"/>
          </a:xfrm>
          <a:prstGeom prst="rect">
            <a:avLst/>
          </a:prstGeom>
          <a:noFill/>
          <a:ln/>
        </p:spPr>
        <p:txBody>
          <a:bodyPr wrap="square" lIns="0" tIns="0" rIns="0" bIns="0" rtlCol="0" anchor="t"/>
          <a:lstStyle/>
          <a:p>
            <a:pPr>
              <a:lnSpc>
                <a:spcPts val="2300"/>
              </a:lnSpc>
            </a:pPr>
            <a:r>
              <a:rPr lang="en-US" sz="1450" dirty="0">
                <a:solidFill>
                  <a:srgbClr val="E5E0DF"/>
                </a:solidFill>
                <a:latin typeface="Arial" panose="020B0604020202020204" pitchFamily="34" charset="0"/>
                <a:cs typeface="Arial" panose="020B0604020202020204" pitchFamily="34" charset="0"/>
              </a:rPr>
              <a:t>Integrate Lambda with Amazon Kinesis or Apache Kafka to process and analyze real-time data streams from various sources. This enables instantaneous insights from application logs, IoT sensor data, or financial transactions.</a:t>
            </a:r>
          </a:p>
        </p:txBody>
      </p:sp>
      <p:sp>
        <p:nvSpPr>
          <p:cNvPr id="8" name="Text 6"/>
          <p:cNvSpPr/>
          <p:nvPr/>
        </p:nvSpPr>
        <p:spPr>
          <a:xfrm>
            <a:off x="7578328" y="2965609"/>
            <a:ext cx="2721173" cy="308015"/>
          </a:xfrm>
          <a:prstGeom prst="rect">
            <a:avLst/>
          </a:prstGeom>
          <a:noFill/>
          <a:ln/>
        </p:spPr>
        <p:txBody>
          <a:bodyPr wrap="none" lIns="0" tIns="0" rIns="0" bIns="0" rtlCol="0" anchor="t"/>
          <a:lstStyle/>
          <a:p>
            <a:pPr marL="0" indent="0" algn="l">
              <a:lnSpc>
                <a:spcPts val="2400"/>
              </a:lnSpc>
              <a:buNone/>
            </a:pPr>
            <a:r>
              <a:rPr lang="en-US" sz="2800" b="1" dirty="0">
                <a:solidFill>
                  <a:srgbClr val="E5E0DF"/>
                </a:solidFill>
                <a:latin typeface="Arial" panose="020B0604020202020204" pitchFamily="34" charset="0"/>
                <a:ea typeface="Overpass Bold" pitchFamily="34" charset="-122"/>
                <a:cs typeface="Arial" panose="020B0604020202020204" pitchFamily="34" charset="0"/>
              </a:rPr>
              <a:t>Web &amp; Mobile Backends</a:t>
            </a:r>
          </a:p>
        </p:txBody>
      </p:sp>
      <p:sp>
        <p:nvSpPr>
          <p:cNvPr id="9" name="Text 7"/>
          <p:cNvSpPr/>
          <p:nvPr/>
        </p:nvSpPr>
        <p:spPr>
          <a:xfrm>
            <a:off x="7578328" y="3483054"/>
            <a:ext cx="6221968" cy="1340168"/>
          </a:xfrm>
          <a:prstGeom prst="rect">
            <a:avLst/>
          </a:prstGeom>
          <a:noFill/>
          <a:ln/>
        </p:spPr>
        <p:txBody>
          <a:bodyPr wrap="square" lIns="0" tIns="0" rIns="0" bIns="0" rtlCol="0" anchor="t"/>
          <a:lstStyle/>
          <a:p>
            <a:pPr>
              <a:lnSpc>
                <a:spcPts val="2300"/>
              </a:lnSpc>
            </a:pPr>
            <a:r>
              <a:rPr lang="en-US" sz="1450" dirty="0">
                <a:solidFill>
                  <a:srgbClr val="E5E0DF"/>
                </a:solidFill>
                <a:latin typeface="Arial" panose="020B0604020202020204" pitchFamily="34" charset="0"/>
                <a:cs typeface="Arial" panose="020B0604020202020204" pitchFamily="34" charset="0"/>
              </a:rPr>
              <a:t>Build highly scalable and secure APIs for web and mobile applications by combining Lambda with Amazon API Gateway. This provides a robust, serverless backend that automatically scales to handle millions of requests without managing servers.</a:t>
            </a:r>
          </a:p>
        </p:txBody>
      </p:sp>
      <p:sp>
        <p:nvSpPr>
          <p:cNvPr id="10" name="Text 8"/>
          <p:cNvSpPr/>
          <p:nvPr/>
        </p:nvSpPr>
        <p:spPr>
          <a:xfrm>
            <a:off x="7578328" y="5032653"/>
            <a:ext cx="2464118" cy="308015"/>
          </a:xfrm>
          <a:prstGeom prst="rect">
            <a:avLst/>
          </a:prstGeom>
          <a:noFill/>
          <a:ln/>
        </p:spPr>
        <p:txBody>
          <a:bodyPr wrap="none" lIns="0" tIns="0" rIns="0" bIns="0" rtlCol="0" anchor="t"/>
          <a:lstStyle/>
          <a:p>
            <a:pPr marL="0" indent="0" algn="l">
              <a:lnSpc>
                <a:spcPts val="2400"/>
              </a:lnSpc>
              <a:buNone/>
            </a:pPr>
            <a:r>
              <a:rPr lang="en-US" sz="2800" b="1" dirty="0">
                <a:solidFill>
                  <a:srgbClr val="E5E0DF"/>
                </a:solidFill>
                <a:latin typeface="Arial" panose="020B0604020202020204" pitchFamily="34" charset="0"/>
                <a:ea typeface="Overpass Bold" pitchFamily="34" charset="-122"/>
                <a:cs typeface="Arial" panose="020B0604020202020204" pitchFamily="34" charset="0"/>
              </a:rPr>
              <a:t>IoT Backends</a:t>
            </a:r>
          </a:p>
        </p:txBody>
      </p:sp>
      <p:sp>
        <p:nvSpPr>
          <p:cNvPr id="11" name="Text 9"/>
          <p:cNvSpPr/>
          <p:nvPr/>
        </p:nvSpPr>
        <p:spPr>
          <a:xfrm>
            <a:off x="7578328" y="5550098"/>
            <a:ext cx="6221968" cy="1340168"/>
          </a:xfrm>
          <a:prstGeom prst="rect">
            <a:avLst/>
          </a:prstGeom>
          <a:noFill/>
          <a:ln/>
        </p:spPr>
        <p:txBody>
          <a:bodyPr wrap="square" lIns="0" tIns="0" rIns="0" bIns="0" rtlCol="0" anchor="t"/>
          <a:lstStyle/>
          <a:p>
            <a:pPr>
              <a:lnSpc>
                <a:spcPts val="2300"/>
              </a:lnSpc>
            </a:pPr>
            <a:r>
              <a:rPr lang="en-US" sz="1450" dirty="0">
                <a:solidFill>
                  <a:srgbClr val="E5E0DF"/>
                </a:solidFill>
                <a:latin typeface="Arial" panose="020B0604020202020204" pitchFamily="34" charset="0"/>
                <a:cs typeface="Arial" panose="020B0604020202020204" pitchFamily="34" charset="0"/>
              </a:rPr>
              <a:t>Process telemetry data from millions of Internet of Things (IoT) devices seamlessly. Lambda can ingest, filter, transform, and route data from connected devices to other AWS services for analytics, storage, or real-time actions.</a:t>
            </a:r>
          </a:p>
        </p:txBody>
      </p:sp>
      <p:sp>
        <p:nvSpPr>
          <p:cNvPr id="12" name="Rectangle 11">
            <a:extLst>
              <a:ext uri="{FF2B5EF4-FFF2-40B4-BE49-F238E27FC236}">
                <a16:creationId xmlns:a16="http://schemas.microsoft.com/office/drawing/2014/main" id="{574905FF-BB6A-228D-3C20-2D9EED97D554}"/>
              </a:ext>
            </a:extLst>
          </p:cNvPr>
          <p:cNvSpPr/>
          <p:nvPr/>
        </p:nvSpPr>
        <p:spPr>
          <a:xfrm>
            <a:off x="12804755" y="7617142"/>
            <a:ext cx="1926129" cy="606506"/>
          </a:xfrm>
          <a:prstGeom prst="rect">
            <a:avLst/>
          </a:prstGeom>
          <a:solidFill>
            <a:srgbClr val="242121"/>
          </a:solidFill>
          <a:effectLst>
            <a:softEdge rad="63500"/>
          </a:effectLst>
        </p:spPr>
        <p:style>
          <a:lnRef idx="1">
            <a:schemeClr val="dk1"/>
          </a:lnRef>
          <a:fillRef idx="3">
            <a:schemeClr val="dk1"/>
          </a:fillRef>
          <a:effectRef idx="2">
            <a:schemeClr val="dk1"/>
          </a:effectRef>
          <a:fontRef idx="minor">
            <a:schemeClr val="lt1"/>
          </a:fontRef>
        </p:style>
        <p:txBody>
          <a:bodyPr rtlCol="0" anchor="ctr"/>
          <a:lstStyle/>
          <a:p>
            <a:pPr algn="ctr"/>
            <a:endParaRPr lang="en-IN" dirty="0">
              <a:latin typeface="Arial" panose="020B0604020202020204" pitchFamily="34" charset="0"/>
              <a:cs typeface="Arial" panose="020B0604020202020204" pitchFamily="34" charset="0"/>
            </a:endParaRPr>
          </a:p>
        </p:txBody>
      </p:sp>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47236" y="546378"/>
            <a:ext cx="8187452" cy="549473"/>
          </a:xfrm>
          <a:prstGeom prst="rect">
            <a:avLst/>
          </a:prstGeom>
          <a:noFill/>
          <a:ln/>
        </p:spPr>
        <p:txBody>
          <a:bodyPr wrap="none" lIns="0" tIns="0" rIns="0" bIns="0" rtlCol="0" anchor="t"/>
          <a:lstStyle/>
          <a:p>
            <a:pPr>
              <a:lnSpc>
                <a:spcPts val="4200"/>
              </a:lnSpc>
            </a:pPr>
            <a:r>
              <a:rPr lang="en-US" sz="3350" b="1" dirty="0">
                <a:solidFill>
                  <a:srgbClr val="FFFFFF"/>
                </a:solidFill>
                <a:latin typeface="Arial" panose="020B0604020202020204" pitchFamily="34" charset="0"/>
                <a:ea typeface="Verdana Bold" panose="020B0804030504040204" pitchFamily="34" charset="0"/>
                <a:cs typeface="Arial" panose="020B0604020202020204" pitchFamily="34" charset="0"/>
              </a:rPr>
              <a:t>Why Choose AWS Lambda? The Benefits</a:t>
            </a:r>
          </a:p>
        </p:txBody>
      </p:sp>
      <p:sp>
        <p:nvSpPr>
          <p:cNvPr id="3" name="Text 1"/>
          <p:cNvSpPr/>
          <p:nvPr/>
        </p:nvSpPr>
        <p:spPr>
          <a:xfrm>
            <a:off x="747236" y="1469469"/>
            <a:ext cx="13135928" cy="597694"/>
          </a:xfrm>
          <a:prstGeom prst="rect">
            <a:avLst/>
          </a:prstGeom>
          <a:noFill/>
          <a:ln/>
        </p:spPr>
        <p:txBody>
          <a:bodyPr wrap="square" lIns="0" tIns="0" rIns="0" bIns="0" rtlCol="0" anchor="t"/>
          <a:lstStyle/>
          <a:p>
            <a:pPr>
              <a:lnSpc>
                <a:spcPts val="2300"/>
              </a:lnSpc>
            </a:pPr>
            <a:r>
              <a:rPr lang="en-US" sz="1450" dirty="0">
                <a:solidFill>
                  <a:srgbClr val="E5E0DF"/>
                </a:solidFill>
                <a:latin typeface="Arial" panose="020B0604020202020204" pitchFamily="34" charset="0"/>
                <a:cs typeface="Arial" panose="020B0604020202020204" pitchFamily="34" charset="0"/>
              </a:rPr>
              <a:t>Adopting AWS Lambda brings a host of compelling advantages that can significantly impact development speed, operational efficiency, and cost management.</a:t>
            </a:r>
          </a:p>
        </p:txBody>
      </p:sp>
      <p:pic>
        <p:nvPicPr>
          <p:cNvPr id="4" name="Image 0" descr="preencoded.png"/>
          <p:cNvPicPr>
            <a:picLocks noChangeAspect="1"/>
          </p:cNvPicPr>
          <p:nvPr/>
        </p:nvPicPr>
        <p:blipFill>
          <a:blip r:embed="rId3"/>
          <a:stretch>
            <a:fillRect/>
          </a:stretch>
        </p:blipFill>
        <p:spPr>
          <a:xfrm>
            <a:off x="747236" y="2277308"/>
            <a:ext cx="6567964" cy="747236"/>
          </a:xfrm>
          <a:prstGeom prst="rect">
            <a:avLst/>
          </a:prstGeom>
        </p:spPr>
      </p:pic>
      <p:sp>
        <p:nvSpPr>
          <p:cNvPr id="5" name="Text 2"/>
          <p:cNvSpPr/>
          <p:nvPr/>
        </p:nvSpPr>
        <p:spPr>
          <a:xfrm>
            <a:off x="934045" y="3211354"/>
            <a:ext cx="2594253" cy="274677"/>
          </a:xfrm>
          <a:prstGeom prst="rect">
            <a:avLst/>
          </a:prstGeom>
          <a:noFill/>
          <a:ln/>
        </p:spPr>
        <p:txBody>
          <a:bodyPr wrap="none" lIns="0" tIns="0" rIns="0" bIns="0" rtlCol="0" anchor="t"/>
          <a:lstStyle/>
          <a:p>
            <a:pPr marL="0" indent="0" algn="l">
              <a:lnSpc>
                <a:spcPts val="2150"/>
              </a:lnSpc>
              <a:buNone/>
            </a:pPr>
            <a:r>
              <a:rPr lang="en-US" sz="2800" b="1" dirty="0">
                <a:solidFill>
                  <a:srgbClr val="E5E0DF"/>
                </a:solidFill>
                <a:latin typeface="Arial" panose="020B0604020202020204" pitchFamily="34" charset="0"/>
                <a:ea typeface="Overpass Bold" pitchFamily="34" charset="-122"/>
                <a:cs typeface="Arial" panose="020B0604020202020204" pitchFamily="34" charset="0"/>
              </a:rPr>
              <a:t>Zero Server Management</a:t>
            </a:r>
          </a:p>
        </p:txBody>
      </p:sp>
      <p:sp>
        <p:nvSpPr>
          <p:cNvPr id="6" name="Text 3"/>
          <p:cNvSpPr/>
          <p:nvPr/>
        </p:nvSpPr>
        <p:spPr>
          <a:xfrm>
            <a:off x="934045" y="3598069"/>
            <a:ext cx="6194346" cy="1195388"/>
          </a:xfrm>
          <a:prstGeom prst="rect">
            <a:avLst/>
          </a:prstGeom>
          <a:noFill/>
          <a:ln/>
        </p:spPr>
        <p:txBody>
          <a:bodyPr wrap="square" lIns="0" tIns="0" rIns="0" bIns="0" rtlCol="0" anchor="t"/>
          <a:lstStyle/>
          <a:p>
            <a:pPr>
              <a:lnSpc>
                <a:spcPts val="2300"/>
              </a:lnSpc>
            </a:pPr>
            <a:r>
              <a:rPr lang="en-US" sz="1450" dirty="0">
                <a:solidFill>
                  <a:srgbClr val="E5E0DF"/>
                </a:solidFill>
                <a:latin typeface="Arial" panose="020B0604020202020204" pitchFamily="34" charset="0"/>
                <a:cs typeface="Arial" panose="020B0604020202020204" pitchFamily="34" charset="0"/>
              </a:rPr>
              <a:t>AWS completely handles the underlying infrastructure, operating system patches, security updates, and server capacity planning. This allows your teams to focus purely on application logic and delivering business value, rather than infrastructure maintenance.</a:t>
            </a:r>
          </a:p>
        </p:txBody>
      </p:sp>
      <p:pic>
        <p:nvPicPr>
          <p:cNvPr id="7" name="Image 1" descr="preencoded.png"/>
          <p:cNvPicPr>
            <a:picLocks noChangeAspect="1"/>
          </p:cNvPicPr>
          <p:nvPr/>
        </p:nvPicPr>
        <p:blipFill>
          <a:blip r:embed="rId4"/>
          <a:stretch>
            <a:fillRect/>
          </a:stretch>
        </p:blipFill>
        <p:spPr>
          <a:xfrm>
            <a:off x="7315200" y="2277308"/>
            <a:ext cx="6567964" cy="747236"/>
          </a:xfrm>
          <a:prstGeom prst="rect">
            <a:avLst/>
          </a:prstGeom>
        </p:spPr>
      </p:pic>
      <p:sp>
        <p:nvSpPr>
          <p:cNvPr id="8" name="Text 4"/>
          <p:cNvSpPr/>
          <p:nvPr/>
        </p:nvSpPr>
        <p:spPr>
          <a:xfrm>
            <a:off x="7502009" y="3211354"/>
            <a:ext cx="2757845" cy="274677"/>
          </a:xfrm>
          <a:prstGeom prst="rect">
            <a:avLst/>
          </a:prstGeom>
          <a:noFill/>
          <a:ln/>
        </p:spPr>
        <p:txBody>
          <a:bodyPr wrap="none" lIns="0" tIns="0" rIns="0" bIns="0" rtlCol="0" anchor="t"/>
          <a:lstStyle/>
          <a:p>
            <a:pPr marL="0" indent="0" algn="l">
              <a:lnSpc>
                <a:spcPts val="2150"/>
              </a:lnSpc>
              <a:buNone/>
            </a:pPr>
            <a:r>
              <a:rPr lang="en-US" sz="2800" b="1" dirty="0">
                <a:solidFill>
                  <a:srgbClr val="E5E0DF"/>
                </a:solidFill>
                <a:latin typeface="Arial" panose="020B0604020202020204" pitchFamily="34" charset="0"/>
                <a:ea typeface="Overpass Bold" pitchFamily="34" charset="-122"/>
                <a:cs typeface="Arial" panose="020B0604020202020204" pitchFamily="34" charset="0"/>
              </a:rPr>
              <a:t>Instant Scaling &amp; Elasticity</a:t>
            </a:r>
          </a:p>
        </p:txBody>
      </p:sp>
      <p:sp>
        <p:nvSpPr>
          <p:cNvPr id="9" name="Text 5"/>
          <p:cNvSpPr/>
          <p:nvPr/>
        </p:nvSpPr>
        <p:spPr>
          <a:xfrm>
            <a:off x="7502009" y="3598069"/>
            <a:ext cx="6194346" cy="1195388"/>
          </a:xfrm>
          <a:prstGeom prst="rect">
            <a:avLst/>
          </a:prstGeom>
          <a:noFill/>
          <a:ln/>
        </p:spPr>
        <p:txBody>
          <a:bodyPr wrap="square" lIns="0" tIns="0" rIns="0" bIns="0" rtlCol="0" anchor="t"/>
          <a:lstStyle/>
          <a:p>
            <a:pPr>
              <a:lnSpc>
                <a:spcPts val="2300"/>
              </a:lnSpc>
            </a:pPr>
            <a:r>
              <a:rPr lang="en-US" sz="1450" dirty="0">
                <a:solidFill>
                  <a:srgbClr val="E5E0DF"/>
                </a:solidFill>
                <a:latin typeface="Arial" panose="020B0604020202020204" pitchFamily="34" charset="0"/>
                <a:cs typeface="Arial" panose="020B0604020202020204" pitchFamily="34" charset="0"/>
              </a:rPr>
              <a:t>Lambda functions can scale from zero to thousands of concurrent executions in milliseconds to meet demand spikes. You never have to over-provision or worry about sudden traffic surges. It handles the scaling automatically and transparently.</a:t>
            </a:r>
          </a:p>
        </p:txBody>
      </p:sp>
      <p:pic>
        <p:nvPicPr>
          <p:cNvPr id="10" name="Image 2" descr="preencoded.png"/>
          <p:cNvPicPr>
            <a:picLocks noChangeAspect="1"/>
          </p:cNvPicPr>
          <p:nvPr/>
        </p:nvPicPr>
        <p:blipFill>
          <a:blip r:embed="rId5"/>
          <a:stretch>
            <a:fillRect/>
          </a:stretch>
        </p:blipFill>
        <p:spPr>
          <a:xfrm>
            <a:off x="747236" y="4980265"/>
            <a:ext cx="6567964" cy="747236"/>
          </a:xfrm>
          <a:prstGeom prst="rect">
            <a:avLst/>
          </a:prstGeom>
        </p:spPr>
      </p:pic>
      <p:sp>
        <p:nvSpPr>
          <p:cNvPr id="11" name="Text 6"/>
          <p:cNvSpPr/>
          <p:nvPr/>
        </p:nvSpPr>
        <p:spPr>
          <a:xfrm>
            <a:off x="934045" y="5914311"/>
            <a:ext cx="2786063" cy="274677"/>
          </a:xfrm>
          <a:prstGeom prst="rect">
            <a:avLst/>
          </a:prstGeom>
          <a:noFill/>
          <a:ln/>
        </p:spPr>
        <p:txBody>
          <a:bodyPr wrap="none" lIns="0" tIns="0" rIns="0" bIns="0" rtlCol="0" anchor="t"/>
          <a:lstStyle/>
          <a:p>
            <a:pPr marL="0" indent="0" algn="l">
              <a:lnSpc>
                <a:spcPts val="2150"/>
              </a:lnSpc>
              <a:buNone/>
            </a:pPr>
            <a:r>
              <a:rPr lang="en-US" sz="2800" b="1" dirty="0">
                <a:solidFill>
                  <a:srgbClr val="E5E0DF"/>
                </a:solidFill>
                <a:latin typeface="Arial" panose="020B0604020202020204" pitchFamily="34" charset="0"/>
                <a:ea typeface="Overpass Bold" pitchFamily="34" charset="-122"/>
                <a:cs typeface="Arial" panose="020B0604020202020204" pitchFamily="34" charset="0"/>
              </a:rPr>
              <a:t>Unmatched Cost Efficiency</a:t>
            </a:r>
          </a:p>
        </p:txBody>
      </p:sp>
      <p:sp>
        <p:nvSpPr>
          <p:cNvPr id="12" name="Text 7"/>
          <p:cNvSpPr/>
          <p:nvPr/>
        </p:nvSpPr>
        <p:spPr>
          <a:xfrm>
            <a:off x="934045" y="6301026"/>
            <a:ext cx="6194346" cy="1195388"/>
          </a:xfrm>
          <a:prstGeom prst="rect">
            <a:avLst/>
          </a:prstGeom>
          <a:noFill/>
          <a:ln/>
        </p:spPr>
        <p:txBody>
          <a:bodyPr wrap="square" lIns="0" tIns="0" rIns="0" bIns="0" rtlCol="0" anchor="t"/>
          <a:lstStyle/>
          <a:p>
            <a:pPr>
              <a:lnSpc>
                <a:spcPts val="2300"/>
              </a:lnSpc>
            </a:pPr>
            <a:r>
              <a:rPr lang="en-US" sz="1450" dirty="0">
                <a:solidFill>
                  <a:srgbClr val="E5E0DF"/>
                </a:solidFill>
                <a:latin typeface="Arial" panose="020B0604020202020204" pitchFamily="34" charset="0"/>
                <a:cs typeface="Arial" panose="020B0604020202020204" pitchFamily="34" charset="0"/>
              </a:rPr>
              <a:t>With Lambda, you only pay for the actual compute time consumed by your code, measured in milliseconds. There are no charges for idle servers or pre-purchased capacity. This granular billing model often leads to significant cost savings compared to traditional server models.</a:t>
            </a:r>
          </a:p>
        </p:txBody>
      </p:sp>
      <p:pic>
        <p:nvPicPr>
          <p:cNvPr id="13" name="Image 3" descr="preencoded.png"/>
          <p:cNvPicPr>
            <a:picLocks noChangeAspect="1"/>
          </p:cNvPicPr>
          <p:nvPr/>
        </p:nvPicPr>
        <p:blipFill>
          <a:blip r:embed="rId6"/>
          <a:stretch>
            <a:fillRect/>
          </a:stretch>
        </p:blipFill>
        <p:spPr>
          <a:xfrm>
            <a:off x="7315200" y="4980265"/>
            <a:ext cx="6567964" cy="747236"/>
          </a:xfrm>
          <a:prstGeom prst="rect">
            <a:avLst/>
          </a:prstGeom>
        </p:spPr>
      </p:pic>
      <p:sp>
        <p:nvSpPr>
          <p:cNvPr id="14" name="Text 8"/>
          <p:cNvSpPr/>
          <p:nvPr/>
        </p:nvSpPr>
        <p:spPr>
          <a:xfrm>
            <a:off x="7502009" y="5914311"/>
            <a:ext cx="2501265" cy="274677"/>
          </a:xfrm>
          <a:prstGeom prst="rect">
            <a:avLst/>
          </a:prstGeom>
          <a:noFill/>
          <a:ln/>
        </p:spPr>
        <p:txBody>
          <a:bodyPr wrap="none" lIns="0" tIns="0" rIns="0" bIns="0" rtlCol="0" anchor="t"/>
          <a:lstStyle/>
          <a:p>
            <a:pPr marL="0" indent="0" algn="l">
              <a:lnSpc>
                <a:spcPts val="2150"/>
              </a:lnSpc>
              <a:buNone/>
            </a:pPr>
            <a:r>
              <a:rPr lang="en-US" sz="2800" b="1" dirty="0">
                <a:solidFill>
                  <a:srgbClr val="E5E0DF"/>
                </a:solidFill>
                <a:latin typeface="Arial" panose="020B0604020202020204" pitchFamily="34" charset="0"/>
                <a:ea typeface="Overpass Bold" pitchFamily="34" charset="-122"/>
                <a:cs typeface="Arial" panose="020B0604020202020204" pitchFamily="34" charset="0"/>
              </a:rPr>
              <a:t>Built-in High Availability</a:t>
            </a:r>
          </a:p>
        </p:txBody>
      </p:sp>
      <p:sp>
        <p:nvSpPr>
          <p:cNvPr id="15" name="Text 9"/>
          <p:cNvSpPr/>
          <p:nvPr/>
        </p:nvSpPr>
        <p:spPr>
          <a:xfrm>
            <a:off x="7502009" y="6301026"/>
            <a:ext cx="6194346" cy="1195388"/>
          </a:xfrm>
          <a:prstGeom prst="rect">
            <a:avLst/>
          </a:prstGeom>
          <a:noFill/>
          <a:ln/>
        </p:spPr>
        <p:txBody>
          <a:bodyPr wrap="square" lIns="0" tIns="0" rIns="0" bIns="0" rtlCol="0" anchor="t"/>
          <a:lstStyle/>
          <a:p>
            <a:pPr>
              <a:lnSpc>
                <a:spcPts val="2300"/>
              </a:lnSpc>
            </a:pPr>
            <a:r>
              <a:rPr lang="en-US" sz="1450" dirty="0">
                <a:solidFill>
                  <a:srgbClr val="E5E0DF"/>
                </a:solidFill>
                <a:latin typeface="Arial" panose="020B0604020202020204" pitchFamily="34" charset="0"/>
                <a:cs typeface="Arial" panose="020B0604020202020204" pitchFamily="34" charset="0"/>
              </a:rPr>
              <a:t>Lambda automatically runs your code across multiple Availability Zones within an AWS Region, providing inherent fault tolerance and high availability. This built-in redundancy ensures your applications remain resilient even in the face of outages.</a:t>
            </a:r>
          </a:p>
        </p:txBody>
      </p:sp>
      <p:sp>
        <p:nvSpPr>
          <p:cNvPr id="16" name="Rectangle 15">
            <a:extLst>
              <a:ext uri="{FF2B5EF4-FFF2-40B4-BE49-F238E27FC236}">
                <a16:creationId xmlns:a16="http://schemas.microsoft.com/office/drawing/2014/main" id="{8F4C2D21-E483-12F6-5FC4-680193DDD7DA}"/>
              </a:ext>
            </a:extLst>
          </p:cNvPr>
          <p:cNvSpPr/>
          <p:nvPr/>
        </p:nvSpPr>
        <p:spPr>
          <a:xfrm>
            <a:off x="12804755" y="7608452"/>
            <a:ext cx="1825645" cy="615196"/>
          </a:xfrm>
          <a:prstGeom prst="rect">
            <a:avLst/>
          </a:prstGeom>
          <a:solidFill>
            <a:srgbClr val="242121"/>
          </a:solidFill>
          <a:effectLst>
            <a:softEdge rad="63500"/>
          </a:effectLst>
        </p:spPr>
        <p:style>
          <a:lnRef idx="1">
            <a:schemeClr val="dk1"/>
          </a:lnRef>
          <a:fillRef idx="3">
            <a:schemeClr val="dk1"/>
          </a:fillRef>
          <a:effectRef idx="2">
            <a:schemeClr val="dk1"/>
          </a:effectRef>
          <a:fontRef idx="minor">
            <a:schemeClr val="lt1"/>
          </a:fontRef>
        </p:style>
        <p:txBody>
          <a:bodyPr rtlCol="0" anchor="ctr"/>
          <a:lstStyle/>
          <a:p>
            <a:pPr algn="ctr"/>
            <a:endParaRPr lang="en-IN" dirty="0">
              <a:latin typeface="Arial" panose="020B0604020202020204" pitchFamily="34" charset="0"/>
              <a:cs typeface="Arial" panose="020B0604020202020204" pitchFamily="34" charset="0"/>
            </a:endParaRPr>
          </a:p>
        </p:txBody>
      </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051816" y="707350"/>
            <a:ext cx="6526768" cy="551021"/>
          </a:xfrm>
          <a:prstGeom prst="rect">
            <a:avLst/>
          </a:prstGeom>
          <a:noFill/>
          <a:ln/>
        </p:spPr>
        <p:txBody>
          <a:bodyPr wrap="none" lIns="0" tIns="0" rIns="0" bIns="0" rtlCol="0" anchor="t"/>
          <a:lstStyle/>
          <a:p>
            <a:pPr>
              <a:lnSpc>
                <a:spcPts val="4200"/>
              </a:lnSpc>
            </a:pPr>
            <a:r>
              <a:rPr lang="en-US" sz="3350" b="1" dirty="0">
                <a:solidFill>
                  <a:srgbClr val="FFFFFF"/>
                </a:solidFill>
                <a:latin typeface="Arial" panose="020B0604020202020204" pitchFamily="34" charset="0"/>
                <a:ea typeface="Verdana Bold" panose="020B0804030504040204" pitchFamily="34" charset="0"/>
                <a:cs typeface="Arial" panose="020B0604020202020204" pitchFamily="34" charset="0"/>
              </a:rPr>
              <a:t>Performance &amp; Scaling Controls</a:t>
            </a:r>
          </a:p>
        </p:txBody>
      </p:sp>
      <p:sp>
        <p:nvSpPr>
          <p:cNvPr id="3" name="Text 1"/>
          <p:cNvSpPr/>
          <p:nvPr/>
        </p:nvSpPr>
        <p:spPr>
          <a:xfrm>
            <a:off x="749379" y="1633061"/>
            <a:ext cx="13131641" cy="599599"/>
          </a:xfrm>
          <a:prstGeom prst="rect">
            <a:avLst/>
          </a:prstGeom>
          <a:noFill/>
          <a:ln/>
        </p:spPr>
        <p:txBody>
          <a:bodyPr wrap="square" lIns="0" tIns="0" rIns="0" bIns="0" rtlCol="0" anchor="t"/>
          <a:lstStyle/>
          <a:p>
            <a:pPr>
              <a:lnSpc>
                <a:spcPts val="2300"/>
              </a:lnSpc>
            </a:pPr>
            <a:r>
              <a:rPr lang="en-US" sz="1450" dirty="0">
                <a:solidFill>
                  <a:srgbClr val="E5E0DF"/>
                </a:solidFill>
                <a:latin typeface="Arial" panose="020B0604020202020204" pitchFamily="34" charset="0"/>
                <a:cs typeface="Arial" panose="020B0604020202020204" pitchFamily="34" charset="0"/>
              </a:rPr>
              <a:t>While Lambda offers automatic scaling, it also provides advanced controls to fine-tune performance and manage how your functions behave under load, ensuring optimal user experience.</a:t>
            </a:r>
          </a:p>
        </p:txBody>
      </p:sp>
      <p:pic>
        <p:nvPicPr>
          <p:cNvPr id="4" name="Image 0" descr="preencoded.png"/>
          <p:cNvPicPr>
            <a:picLocks noChangeAspect="1"/>
          </p:cNvPicPr>
          <p:nvPr/>
        </p:nvPicPr>
        <p:blipFill>
          <a:blip r:embed="rId3"/>
          <a:stretch>
            <a:fillRect/>
          </a:stretch>
        </p:blipFill>
        <p:spPr>
          <a:xfrm>
            <a:off x="2948821" y="2443401"/>
            <a:ext cx="2166699" cy="1661755"/>
          </a:xfrm>
          <a:prstGeom prst="rect">
            <a:avLst/>
          </a:prstGeom>
        </p:spPr>
      </p:pic>
      <p:sp>
        <p:nvSpPr>
          <p:cNvPr id="5" name="Text 2"/>
          <p:cNvSpPr/>
          <p:nvPr/>
        </p:nvSpPr>
        <p:spPr>
          <a:xfrm>
            <a:off x="3900368" y="3330654"/>
            <a:ext cx="263366" cy="329327"/>
          </a:xfrm>
          <a:prstGeom prst="rect">
            <a:avLst/>
          </a:prstGeom>
          <a:noFill/>
          <a:ln/>
        </p:spPr>
        <p:txBody>
          <a:bodyPr wrap="none" lIns="0" tIns="0" rIns="0" bIns="0" rtlCol="0" anchor="t"/>
          <a:lstStyle/>
          <a:p>
            <a:pPr marL="0" indent="0" algn="ctr">
              <a:lnSpc>
                <a:spcPts val="3300"/>
              </a:lnSpc>
              <a:buNone/>
            </a:pPr>
            <a:r>
              <a:rPr lang="en-US" sz="2050" b="1" dirty="0">
                <a:solidFill>
                  <a:srgbClr val="E5E0DF"/>
                </a:solidFill>
                <a:latin typeface="Arial" panose="020B0604020202020204" pitchFamily="34" charset="0"/>
                <a:ea typeface="Overpass Bold" pitchFamily="34" charset="-122"/>
                <a:cs typeface="Arial" panose="020B0604020202020204" pitchFamily="34" charset="0"/>
              </a:rPr>
              <a:t>1</a:t>
            </a:r>
            <a:endParaRPr lang="en-US" sz="2050" dirty="0">
              <a:latin typeface="Arial" panose="020B0604020202020204" pitchFamily="34" charset="0"/>
              <a:cs typeface="Arial" panose="020B0604020202020204" pitchFamily="34" charset="0"/>
            </a:endParaRPr>
          </a:p>
        </p:txBody>
      </p:sp>
      <p:sp>
        <p:nvSpPr>
          <p:cNvPr id="6" name="Text 3"/>
          <p:cNvSpPr/>
          <p:nvPr/>
        </p:nvSpPr>
        <p:spPr>
          <a:xfrm>
            <a:off x="5302806" y="2780586"/>
            <a:ext cx="2204204" cy="275392"/>
          </a:xfrm>
          <a:prstGeom prst="rect">
            <a:avLst/>
          </a:prstGeom>
          <a:noFill/>
          <a:ln/>
        </p:spPr>
        <p:txBody>
          <a:bodyPr wrap="none" lIns="0" tIns="0" rIns="0" bIns="0" rtlCol="0" anchor="t"/>
          <a:lstStyle/>
          <a:p>
            <a:pPr marL="0" indent="0" algn="l">
              <a:lnSpc>
                <a:spcPts val="2150"/>
              </a:lnSpc>
              <a:buNone/>
            </a:pPr>
            <a:r>
              <a:rPr lang="en-US" sz="2800" b="1" dirty="0">
                <a:solidFill>
                  <a:srgbClr val="E5E0DF"/>
                </a:solidFill>
                <a:latin typeface="Arial" panose="020B0604020202020204" pitchFamily="34" charset="0"/>
                <a:ea typeface="Overpass Bold" pitchFamily="34" charset="-122"/>
                <a:cs typeface="Arial" panose="020B0604020202020204" pitchFamily="34" charset="0"/>
              </a:rPr>
              <a:t>Response Streaming</a:t>
            </a:r>
            <a:endParaRPr lang="en-US" sz="2800" dirty="0">
              <a:latin typeface="Arial" panose="020B0604020202020204" pitchFamily="34" charset="0"/>
              <a:cs typeface="Arial" panose="020B0604020202020204" pitchFamily="34" charset="0"/>
            </a:endParaRPr>
          </a:p>
        </p:txBody>
      </p:sp>
      <p:sp>
        <p:nvSpPr>
          <p:cNvPr id="7" name="Text 4"/>
          <p:cNvSpPr/>
          <p:nvPr/>
        </p:nvSpPr>
        <p:spPr>
          <a:xfrm>
            <a:off x="5302806" y="3168372"/>
            <a:ext cx="8390930" cy="599599"/>
          </a:xfrm>
          <a:prstGeom prst="rect">
            <a:avLst/>
          </a:prstGeom>
          <a:noFill/>
          <a:ln/>
        </p:spPr>
        <p:txBody>
          <a:bodyPr wrap="square" lIns="0" tIns="0" rIns="0" bIns="0" rtlCol="0" anchor="t"/>
          <a:lstStyle/>
          <a:p>
            <a:pPr>
              <a:lnSpc>
                <a:spcPts val="2300"/>
              </a:lnSpc>
            </a:pPr>
            <a:r>
              <a:rPr lang="en-US" sz="1450" dirty="0">
                <a:solidFill>
                  <a:srgbClr val="E5E0DF"/>
                </a:solidFill>
                <a:latin typeface="Arial" panose="020B0604020202020204" pitchFamily="34" charset="0"/>
                <a:cs typeface="Arial" panose="020B0604020202020204" pitchFamily="34" charset="0"/>
              </a:rPr>
              <a:t>Improve the time-to-first-byte (TTFB) for large payloads by streaming responses back to clients as soon as they are available, rather than waiting for the entire function execution to complete.</a:t>
            </a:r>
          </a:p>
        </p:txBody>
      </p:sp>
      <p:sp>
        <p:nvSpPr>
          <p:cNvPr id="8" name="Shape 5"/>
          <p:cNvSpPr/>
          <p:nvPr/>
        </p:nvSpPr>
        <p:spPr>
          <a:xfrm>
            <a:off x="5162312" y="4118967"/>
            <a:ext cx="8671917" cy="11430"/>
          </a:xfrm>
          <a:prstGeom prst="roundRect">
            <a:avLst>
              <a:gd name="adj" fmla="val 688478"/>
            </a:avLst>
          </a:prstGeom>
          <a:solidFill>
            <a:srgbClr val="971B55"/>
          </a:solidFill>
          <a:ln/>
        </p:spPr>
      </p:sp>
      <p:pic>
        <p:nvPicPr>
          <p:cNvPr id="9" name="Image 1" descr="preencoded.png"/>
          <p:cNvPicPr>
            <a:picLocks noChangeAspect="1"/>
          </p:cNvPicPr>
          <p:nvPr/>
        </p:nvPicPr>
        <p:blipFill>
          <a:blip r:embed="rId4"/>
          <a:stretch>
            <a:fillRect/>
          </a:stretch>
        </p:blipFill>
        <p:spPr>
          <a:xfrm>
            <a:off x="1865471" y="4151947"/>
            <a:ext cx="4333399" cy="1661755"/>
          </a:xfrm>
          <a:prstGeom prst="rect">
            <a:avLst/>
          </a:prstGeom>
        </p:spPr>
      </p:pic>
      <p:sp>
        <p:nvSpPr>
          <p:cNvPr id="10" name="Text 6"/>
          <p:cNvSpPr/>
          <p:nvPr/>
        </p:nvSpPr>
        <p:spPr>
          <a:xfrm>
            <a:off x="3900488" y="4818102"/>
            <a:ext cx="263366" cy="329327"/>
          </a:xfrm>
          <a:prstGeom prst="rect">
            <a:avLst/>
          </a:prstGeom>
          <a:noFill/>
          <a:ln/>
        </p:spPr>
        <p:txBody>
          <a:bodyPr wrap="none" lIns="0" tIns="0" rIns="0" bIns="0" rtlCol="0" anchor="t"/>
          <a:lstStyle/>
          <a:p>
            <a:pPr marL="0" indent="0" algn="ctr">
              <a:lnSpc>
                <a:spcPts val="3300"/>
              </a:lnSpc>
              <a:buNone/>
            </a:pPr>
            <a:r>
              <a:rPr lang="en-US" sz="2050" b="1" dirty="0">
                <a:solidFill>
                  <a:srgbClr val="E5E0DF"/>
                </a:solidFill>
                <a:latin typeface="Arial" panose="020B0604020202020204" pitchFamily="34" charset="0"/>
                <a:ea typeface="Overpass Bold" pitchFamily="34" charset="-122"/>
                <a:cs typeface="Arial" panose="020B0604020202020204" pitchFamily="34" charset="0"/>
              </a:rPr>
              <a:t>2</a:t>
            </a:r>
            <a:endParaRPr lang="en-US" sz="2050" dirty="0">
              <a:latin typeface="Arial" panose="020B0604020202020204" pitchFamily="34" charset="0"/>
              <a:cs typeface="Arial" panose="020B0604020202020204" pitchFamily="34" charset="0"/>
            </a:endParaRPr>
          </a:p>
        </p:txBody>
      </p:sp>
      <p:sp>
        <p:nvSpPr>
          <p:cNvPr id="11" name="Text 7"/>
          <p:cNvSpPr/>
          <p:nvPr/>
        </p:nvSpPr>
        <p:spPr>
          <a:xfrm>
            <a:off x="6386155" y="4339233"/>
            <a:ext cx="3407093" cy="275392"/>
          </a:xfrm>
          <a:prstGeom prst="rect">
            <a:avLst/>
          </a:prstGeom>
          <a:noFill/>
          <a:ln/>
        </p:spPr>
        <p:txBody>
          <a:bodyPr wrap="none" lIns="0" tIns="0" rIns="0" bIns="0" rtlCol="0" anchor="t"/>
          <a:lstStyle/>
          <a:p>
            <a:pPr marL="0" indent="0" algn="l">
              <a:lnSpc>
                <a:spcPts val="2150"/>
              </a:lnSpc>
              <a:buNone/>
            </a:pPr>
            <a:r>
              <a:rPr lang="en-US" sz="2800" b="1" dirty="0">
                <a:solidFill>
                  <a:srgbClr val="E5E0DF"/>
                </a:solidFill>
                <a:latin typeface="Arial" panose="020B0604020202020204" pitchFamily="34" charset="0"/>
                <a:ea typeface="Overpass Bold" pitchFamily="34" charset="-122"/>
                <a:cs typeface="Arial" panose="020B0604020202020204" pitchFamily="34" charset="0"/>
              </a:rPr>
              <a:t>Fine-Grained Concurrency Limits</a:t>
            </a:r>
          </a:p>
        </p:txBody>
      </p:sp>
      <p:sp>
        <p:nvSpPr>
          <p:cNvPr id="12" name="Text 8"/>
          <p:cNvSpPr/>
          <p:nvPr/>
        </p:nvSpPr>
        <p:spPr>
          <a:xfrm>
            <a:off x="6386155" y="4727019"/>
            <a:ext cx="7307580" cy="899398"/>
          </a:xfrm>
          <a:prstGeom prst="rect">
            <a:avLst/>
          </a:prstGeom>
          <a:noFill/>
          <a:ln/>
        </p:spPr>
        <p:txBody>
          <a:bodyPr wrap="square" lIns="0" tIns="0" rIns="0" bIns="0" rtlCol="0" anchor="t"/>
          <a:lstStyle/>
          <a:p>
            <a:pPr>
              <a:lnSpc>
                <a:spcPts val="2300"/>
              </a:lnSpc>
            </a:pPr>
            <a:r>
              <a:rPr lang="en-US" sz="1450" dirty="0">
                <a:solidFill>
                  <a:srgbClr val="E5E0DF"/>
                </a:solidFill>
                <a:latin typeface="Arial" panose="020B0604020202020204" pitchFamily="34" charset="0"/>
                <a:cs typeface="Arial" panose="020B0604020202020204" pitchFamily="34" charset="0"/>
              </a:rPr>
              <a:t>Set specific concurrency limits for individual functions to prevent them from consuming too many resources or to protect downstream services from being overwhelmed during peak loads.</a:t>
            </a:r>
          </a:p>
        </p:txBody>
      </p:sp>
      <p:sp>
        <p:nvSpPr>
          <p:cNvPr id="13" name="Shape 9"/>
          <p:cNvSpPr/>
          <p:nvPr/>
        </p:nvSpPr>
        <p:spPr>
          <a:xfrm>
            <a:off x="6245662" y="5827514"/>
            <a:ext cx="7588568" cy="11430"/>
          </a:xfrm>
          <a:prstGeom prst="roundRect">
            <a:avLst>
              <a:gd name="adj" fmla="val 688478"/>
            </a:avLst>
          </a:prstGeom>
          <a:solidFill>
            <a:srgbClr val="971B55"/>
          </a:solidFill>
          <a:ln/>
        </p:spPr>
      </p:sp>
      <p:pic>
        <p:nvPicPr>
          <p:cNvPr id="14" name="Image 2" descr="preencoded.png"/>
          <p:cNvPicPr>
            <a:picLocks noChangeAspect="1"/>
          </p:cNvPicPr>
          <p:nvPr/>
        </p:nvPicPr>
        <p:blipFill>
          <a:blip r:embed="rId5"/>
          <a:stretch>
            <a:fillRect/>
          </a:stretch>
        </p:blipFill>
        <p:spPr>
          <a:xfrm>
            <a:off x="782122" y="5860494"/>
            <a:ext cx="6500098" cy="1661755"/>
          </a:xfrm>
          <a:prstGeom prst="rect">
            <a:avLst/>
          </a:prstGeom>
        </p:spPr>
      </p:pic>
      <p:sp>
        <p:nvSpPr>
          <p:cNvPr id="15" name="Text 10"/>
          <p:cNvSpPr/>
          <p:nvPr/>
        </p:nvSpPr>
        <p:spPr>
          <a:xfrm>
            <a:off x="3900488" y="6526649"/>
            <a:ext cx="263366" cy="329327"/>
          </a:xfrm>
          <a:prstGeom prst="rect">
            <a:avLst/>
          </a:prstGeom>
          <a:noFill/>
          <a:ln/>
        </p:spPr>
        <p:txBody>
          <a:bodyPr wrap="none" lIns="0" tIns="0" rIns="0" bIns="0" rtlCol="0" anchor="t"/>
          <a:lstStyle/>
          <a:p>
            <a:pPr marL="0" indent="0" algn="ctr">
              <a:lnSpc>
                <a:spcPts val="3300"/>
              </a:lnSpc>
              <a:buNone/>
            </a:pPr>
            <a:r>
              <a:rPr lang="en-US" sz="2050" b="1" dirty="0">
                <a:solidFill>
                  <a:srgbClr val="E5E0DF"/>
                </a:solidFill>
                <a:latin typeface="Arial" panose="020B0604020202020204" pitchFamily="34" charset="0"/>
                <a:ea typeface="Overpass Bold" pitchFamily="34" charset="-122"/>
                <a:cs typeface="Arial" panose="020B0604020202020204" pitchFamily="34" charset="0"/>
              </a:rPr>
              <a:t>3</a:t>
            </a:r>
            <a:endParaRPr lang="en-US" sz="2050" dirty="0">
              <a:latin typeface="Arial" panose="020B0604020202020204" pitchFamily="34" charset="0"/>
              <a:cs typeface="Arial" panose="020B0604020202020204" pitchFamily="34" charset="0"/>
            </a:endParaRPr>
          </a:p>
        </p:txBody>
      </p:sp>
      <p:sp>
        <p:nvSpPr>
          <p:cNvPr id="16" name="Text 11"/>
          <p:cNvSpPr/>
          <p:nvPr/>
        </p:nvSpPr>
        <p:spPr>
          <a:xfrm>
            <a:off x="7469505" y="6047780"/>
            <a:ext cx="2583180" cy="275392"/>
          </a:xfrm>
          <a:prstGeom prst="rect">
            <a:avLst/>
          </a:prstGeom>
          <a:noFill/>
          <a:ln/>
        </p:spPr>
        <p:txBody>
          <a:bodyPr wrap="none" lIns="0" tIns="0" rIns="0" bIns="0" rtlCol="0" anchor="t"/>
          <a:lstStyle/>
          <a:p>
            <a:pPr>
              <a:lnSpc>
                <a:spcPts val="2150"/>
              </a:lnSpc>
            </a:pPr>
            <a:r>
              <a:rPr lang="en-US" sz="2800" b="1" dirty="0">
                <a:solidFill>
                  <a:srgbClr val="E5E0DF"/>
                </a:solidFill>
                <a:latin typeface="Arial" panose="020B0604020202020204" pitchFamily="34" charset="0"/>
                <a:ea typeface="Overpass Bold" pitchFamily="34" charset="-122"/>
                <a:cs typeface="Arial" panose="020B0604020202020204" pitchFamily="34" charset="0"/>
              </a:rPr>
              <a:t>Provisioned Concurrency</a:t>
            </a:r>
          </a:p>
        </p:txBody>
      </p:sp>
      <p:sp>
        <p:nvSpPr>
          <p:cNvPr id="17" name="Text 12"/>
          <p:cNvSpPr/>
          <p:nvPr/>
        </p:nvSpPr>
        <p:spPr>
          <a:xfrm>
            <a:off x="7469505" y="6435566"/>
            <a:ext cx="6224230" cy="899398"/>
          </a:xfrm>
          <a:prstGeom prst="rect">
            <a:avLst/>
          </a:prstGeom>
          <a:noFill/>
          <a:ln/>
        </p:spPr>
        <p:txBody>
          <a:bodyPr wrap="square" lIns="0" tIns="0" rIns="0" bIns="0" rtlCol="0" anchor="t"/>
          <a:lstStyle/>
          <a:p>
            <a:pPr>
              <a:lnSpc>
                <a:spcPts val="2300"/>
              </a:lnSpc>
            </a:pPr>
            <a:r>
              <a:rPr lang="en-US" sz="1450" dirty="0">
                <a:solidFill>
                  <a:srgbClr val="E5E0DF"/>
                </a:solidFill>
                <a:latin typeface="Arial" panose="020B0604020202020204" pitchFamily="34" charset="0"/>
                <a:cs typeface="Arial" panose="020B0604020202020204" pitchFamily="34" charset="0"/>
              </a:rPr>
              <a:t>Configure a pre-initialized amount of execution environments for your functions to be ready to respond instantly. This eliminates "cold starts" and provides predictable, low-latency performance for critical workloads.</a:t>
            </a:r>
          </a:p>
        </p:txBody>
      </p:sp>
      <p:sp>
        <p:nvSpPr>
          <p:cNvPr id="18" name="Rectangle 17">
            <a:extLst>
              <a:ext uri="{FF2B5EF4-FFF2-40B4-BE49-F238E27FC236}">
                <a16:creationId xmlns:a16="http://schemas.microsoft.com/office/drawing/2014/main" id="{EFE1F1FC-EE2A-93F2-6309-DBBDBD6AAE9B}"/>
              </a:ext>
            </a:extLst>
          </p:cNvPr>
          <p:cNvSpPr/>
          <p:nvPr/>
        </p:nvSpPr>
        <p:spPr>
          <a:xfrm>
            <a:off x="12804755" y="7522249"/>
            <a:ext cx="1757481" cy="701399"/>
          </a:xfrm>
          <a:prstGeom prst="rect">
            <a:avLst/>
          </a:prstGeom>
          <a:solidFill>
            <a:srgbClr val="010101"/>
          </a:solidFill>
          <a:effectLst>
            <a:softEdge rad="31750"/>
          </a:effectLst>
        </p:spPr>
        <p:style>
          <a:lnRef idx="1">
            <a:schemeClr val="dk1"/>
          </a:lnRef>
          <a:fillRef idx="3">
            <a:schemeClr val="dk1"/>
          </a:fillRef>
          <a:effectRef idx="2">
            <a:schemeClr val="dk1"/>
          </a:effectRef>
          <a:fontRef idx="minor">
            <a:schemeClr val="lt1"/>
          </a:fontRef>
        </p:style>
        <p:txBody>
          <a:bodyPr rtlCol="0" anchor="ctr"/>
          <a:lstStyle/>
          <a:p>
            <a:pPr algn="ctr"/>
            <a:endParaRPr lang="en-IN" dirty="0">
              <a:latin typeface="Arial" panose="020B0604020202020204" pitchFamily="34" charset="0"/>
              <a:cs typeface="Arial" panose="020B0604020202020204" pitchFamily="34" charset="0"/>
            </a:endParaRPr>
          </a:p>
        </p:txBody>
      </p:sp>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37724" y="1668185"/>
            <a:ext cx="7161133" cy="615910"/>
          </a:xfrm>
          <a:prstGeom prst="rect">
            <a:avLst/>
          </a:prstGeom>
          <a:noFill/>
          <a:ln/>
        </p:spPr>
        <p:txBody>
          <a:bodyPr wrap="none" lIns="0" tIns="0" rIns="0" bIns="0" rtlCol="0" anchor="t"/>
          <a:lstStyle/>
          <a:p>
            <a:pPr>
              <a:lnSpc>
                <a:spcPts val="4200"/>
              </a:lnSpc>
            </a:pPr>
            <a:r>
              <a:rPr lang="en-US" sz="3350" b="1" dirty="0">
                <a:solidFill>
                  <a:srgbClr val="FFFFFF"/>
                </a:solidFill>
                <a:latin typeface="Arial" panose="020B0604020202020204" pitchFamily="34" charset="0"/>
                <a:ea typeface="Verdana Bold" panose="020B0804030504040204" pitchFamily="34" charset="0"/>
                <a:cs typeface="Arial" panose="020B0604020202020204" pitchFamily="34" charset="0"/>
              </a:rPr>
              <a:t>Integration &amp; Ecosystem Power</a:t>
            </a:r>
          </a:p>
        </p:txBody>
      </p:sp>
      <p:sp>
        <p:nvSpPr>
          <p:cNvPr id="3" name="Text 1"/>
          <p:cNvSpPr/>
          <p:nvPr/>
        </p:nvSpPr>
        <p:spPr>
          <a:xfrm>
            <a:off x="837724" y="2702957"/>
            <a:ext cx="12954952" cy="670084"/>
          </a:xfrm>
          <a:prstGeom prst="rect">
            <a:avLst/>
          </a:prstGeom>
          <a:noFill/>
          <a:ln/>
        </p:spPr>
        <p:txBody>
          <a:bodyPr wrap="square" lIns="0" tIns="0" rIns="0" bIns="0" rtlCol="0" anchor="t"/>
          <a:lstStyle/>
          <a:p>
            <a:pPr>
              <a:lnSpc>
                <a:spcPts val="2300"/>
              </a:lnSpc>
            </a:pPr>
            <a:r>
              <a:rPr lang="en-US" sz="1450" dirty="0">
                <a:solidFill>
                  <a:srgbClr val="E5E0DF"/>
                </a:solidFill>
                <a:latin typeface="Arial" panose="020B0604020202020204" pitchFamily="34" charset="0"/>
                <a:cs typeface="Arial" panose="020B0604020202020204" pitchFamily="34" charset="0"/>
              </a:rPr>
              <a:t>The true strength of AWS Lambda lies in its deep and seamless integration with a vast array of other AWS services, enabling the creation of powerful, modular, and resilient serverless architectures.</a:t>
            </a:r>
          </a:p>
        </p:txBody>
      </p:sp>
      <p:sp>
        <p:nvSpPr>
          <p:cNvPr id="4" name="Shape 2"/>
          <p:cNvSpPr/>
          <p:nvPr/>
        </p:nvSpPr>
        <p:spPr>
          <a:xfrm>
            <a:off x="837724" y="3643551"/>
            <a:ext cx="471249" cy="471249"/>
          </a:xfrm>
          <a:prstGeom prst="roundRect">
            <a:avLst>
              <a:gd name="adj" fmla="val 18668"/>
            </a:avLst>
          </a:prstGeom>
          <a:solidFill>
            <a:srgbClr val="7E023C"/>
          </a:solidFill>
          <a:ln w="7620">
            <a:solidFill>
              <a:srgbClr val="971B55"/>
            </a:solidFill>
            <a:prstDash val="solid"/>
          </a:ln>
        </p:spPr>
      </p:sp>
      <p:sp>
        <p:nvSpPr>
          <p:cNvPr id="5" name="Text 3"/>
          <p:cNvSpPr/>
          <p:nvPr/>
        </p:nvSpPr>
        <p:spPr>
          <a:xfrm>
            <a:off x="1518404" y="3676650"/>
            <a:ext cx="12274272" cy="335042"/>
          </a:xfrm>
          <a:prstGeom prst="rect">
            <a:avLst/>
          </a:prstGeom>
          <a:noFill/>
          <a:ln/>
        </p:spPr>
        <p:txBody>
          <a:bodyPr wrap="none" lIns="0" tIns="0" rIns="0" bIns="0" rtlCol="0" anchor="t"/>
          <a:lstStyle/>
          <a:p>
            <a:pPr marL="0" indent="0" algn="l">
              <a:lnSpc>
                <a:spcPts val="2600"/>
              </a:lnSpc>
              <a:buNone/>
            </a:pPr>
            <a:endParaRPr lang="en-US" sz="1600" dirty="0">
              <a:latin typeface="Arial" panose="020B0604020202020204" pitchFamily="34" charset="0"/>
              <a:cs typeface="Arial" panose="020B0604020202020204" pitchFamily="34" charset="0"/>
            </a:endParaRPr>
          </a:p>
        </p:txBody>
      </p:sp>
      <p:sp>
        <p:nvSpPr>
          <p:cNvPr id="6" name="Text 4"/>
          <p:cNvSpPr/>
          <p:nvPr/>
        </p:nvSpPr>
        <p:spPr>
          <a:xfrm>
            <a:off x="837724" y="4315539"/>
            <a:ext cx="12954952" cy="1005126"/>
          </a:xfrm>
          <a:prstGeom prst="rect">
            <a:avLst/>
          </a:prstGeom>
          <a:noFill/>
          <a:ln/>
        </p:spPr>
        <p:txBody>
          <a:bodyPr wrap="square" lIns="0" tIns="0" rIns="0" bIns="0" rtlCol="0" anchor="t"/>
          <a:lstStyle/>
          <a:p>
            <a:pPr>
              <a:lnSpc>
                <a:spcPts val="2300"/>
              </a:lnSpc>
            </a:pPr>
            <a:r>
              <a:rPr lang="en-US" sz="1450" dirty="0">
                <a:solidFill>
                  <a:srgbClr val="E5E0DF"/>
                </a:solidFill>
                <a:latin typeface="Arial" panose="020B0604020202020204" pitchFamily="34" charset="0"/>
                <a:cs typeface="Arial" panose="020B0604020202020204" pitchFamily="34" charset="0"/>
              </a:rPr>
              <a:t>This interconnected ecosystem allows developers to effortlessly combine Lambda with databases like DynamoDB for data storage, S3 for object storage, API Gateway for building RESTful APIs, and orchestration services like AWS Step Functions for complex workflows. Message queuing with SQS and notifications with SNS further extend its capabilities.</a:t>
            </a:r>
          </a:p>
        </p:txBody>
      </p:sp>
      <p:sp>
        <p:nvSpPr>
          <p:cNvPr id="7" name="Text 5"/>
          <p:cNvSpPr/>
          <p:nvPr/>
        </p:nvSpPr>
        <p:spPr>
          <a:xfrm>
            <a:off x="837724" y="5556290"/>
            <a:ext cx="12954952" cy="1005126"/>
          </a:xfrm>
          <a:prstGeom prst="rect">
            <a:avLst/>
          </a:prstGeom>
          <a:noFill/>
          <a:ln/>
        </p:spPr>
        <p:txBody>
          <a:bodyPr wrap="square" lIns="0" tIns="0" rIns="0" bIns="0" rtlCol="0" anchor="t"/>
          <a:lstStyle/>
          <a:p>
            <a:pPr>
              <a:lnSpc>
                <a:spcPts val="2300"/>
              </a:lnSpc>
            </a:pPr>
            <a:r>
              <a:rPr lang="en-US" sz="1450" dirty="0">
                <a:solidFill>
                  <a:srgbClr val="E5E0DF"/>
                </a:solidFill>
                <a:latin typeface="Arial" panose="020B0604020202020204" pitchFamily="34" charset="0"/>
                <a:cs typeface="Arial" panose="020B0604020202020204" pitchFamily="34" charset="0"/>
              </a:rPr>
              <a:t>Furthermore, the extensive support for Infrastructure as Code (IaC) tools, particularly AWS Cloud Development Kit (CDK), allows developers to define their entire serverless applications using familiar programming languages. This automates deployments, ensures consistency, and enables version control of your infrastructure alongside your code.</a:t>
            </a:r>
          </a:p>
        </p:txBody>
      </p:sp>
      <p:sp>
        <p:nvSpPr>
          <p:cNvPr id="8" name="Rectangle 7">
            <a:extLst>
              <a:ext uri="{FF2B5EF4-FFF2-40B4-BE49-F238E27FC236}">
                <a16:creationId xmlns:a16="http://schemas.microsoft.com/office/drawing/2014/main" id="{A7E7F32D-3B16-E4FE-BE5E-58E3F96580FD}"/>
              </a:ext>
            </a:extLst>
          </p:cNvPr>
          <p:cNvSpPr/>
          <p:nvPr/>
        </p:nvSpPr>
        <p:spPr>
          <a:xfrm>
            <a:off x="12804755" y="7724538"/>
            <a:ext cx="1757481" cy="499110"/>
          </a:xfrm>
          <a:prstGeom prst="rect">
            <a:avLst/>
          </a:prstGeom>
          <a:solidFill>
            <a:srgbClr val="242121"/>
          </a:solidFill>
          <a:effectLst>
            <a:softEdge rad="31750"/>
          </a:effectLst>
        </p:spPr>
        <p:style>
          <a:lnRef idx="1">
            <a:schemeClr val="dk1"/>
          </a:lnRef>
          <a:fillRef idx="3">
            <a:schemeClr val="dk1"/>
          </a:fillRef>
          <a:effectRef idx="2">
            <a:schemeClr val="dk1"/>
          </a:effectRef>
          <a:fontRef idx="minor">
            <a:schemeClr val="lt1"/>
          </a:fontRef>
        </p:style>
        <p:txBody>
          <a:bodyPr rtlCol="0" anchor="ctr"/>
          <a:lstStyle/>
          <a:p>
            <a:pPr algn="ctr"/>
            <a:endParaRPr lang="en-IN">
              <a:latin typeface="Arial" panose="020B0604020202020204" pitchFamily="34" charset="0"/>
              <a:cs typeface="Arial" panose="020B0604020202020204" pitchFamily="34" charset="0"/>
            </a:endParaRPr>
          </a:p>
        </p:txBody>
      </p:sp>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20374">
              <a:alpha val="80000"/>
            </a:srgbClr>
          </a:solidFill>
          <a:ln/>
        </p:spPr>
        <p:txBody>
          <a:bodyPr/>
          <a:lstStyle/>
          <a:p>
            <a:pPr algn="ctr">
              <a:lnSpc>
                <a:spcPct val="150000"/>
              </a:lnSpc>
            </a:pPr>
            <a:r>
              <a:rPr lang="en-US" sz="8800" b="1" dirty="0">
                <a:solidFill>
                  <a:srgbClr val="FFFFFF"/>
                </a:solidFill>
                <a:latin typeface="Arial" panose="020B0604020202020204" pitchFamily="34" charset="0"/>
                <a:ea typeface="Verdana Bold" panose="020B0804030504040204" pitchFamily="34" charset="0"/>
                <a:cs typeface="Arial" panose="020B0604020202020204" pitchFamily="34" charset="0"/>
              </a:rPr>
              <a:t>The Future is Serverless</a:t>
            </a:r>
          </a:p>
          <a:p>
            <a:pPr algn="ctr">
              <a:lnSpc>
                <a:spcPct val="150000"/>
              </a:lnSpc>
            </a:pPr>
            <a:endParaRPr lang="en-IN" sz="2800" b="1" dirty="0">
              <a:solidFill>
                <a:srgbClr val="FFFFFF"/>
              </a:solidFill>
              <a:latin typeface="Arial" panose="020B0604020202020204" pitchFamily="34" charset="0"/>
              <a:ea typeface="Verdana Bold" panose="020B0804030504040204" pitchFamily="34" charset="0"/>
              <a:cs typeface="Arial" panose="020B0604020202020204" pitchFamily="34" charset="0"/>
            </a:endParaRPr>
          </a:p>
        </p:txBody>
      </p:sp>
      <p:sp>
        <p:nvSpPr>
          <p:cNvPr id="4" name="Text 1"/>
          <p:cNvSpPr/>
          <p:nvPr/>
        </p:nvSpPr>
        <p:spPr>
          <a:xfrm>
            <a:off x="746879" y="514707"/>
            <a:ext cx="13136642" cy="3295174"/>
          </a:xfrm>
          <a:prstGeom prst="rect">
            <a:avLst/>
          </a:prstGeom>
          <a:noFill/>
          <a:ln/>
        </p:spPr>
        <p:txBody>
          <a:bodyPr wrap="square" lIns="0" tIns="0" rIns="0" bIns="0" rtlCol="0" anchor="t"/>
          <a:lstStyle/>
          <a:p>
            <a:pPr>
              <a:lnSpc>
                <a:spcPts val="4200"/>
              </a:lnSpc>
            </a:pPr>
            <a:endParaRPr lang="en-US" sz="10350" b="1" dirty="0">
              <a:solidFill>
                <a:srgbClr val="FFFFFF"/>
              </a:solidFill>
              <a:latin typeface="Arial" panose="020B0604020202020204" pitchFamily="34" charset="0"/>
              <a:ea typeface="Verdana Bold" panose="020B0804030504040204" pitchFamily="34" charset="0"/>
              <a:cs typeface="Arial" panose="020B0604020202020204" pitchFamily="34" charset="0"/>
            </a:endParaRPr>
          </a:p>
        </p:txBody>
      </p:sp>
      <p:sp>
        <p:nvSpPr>
          <p:cNvPr id="5" name="Text 2"/>
          <p:cNvSpPr/>
          <p:nvPr/>
        </p:nvSpPr>
        <p:spPr>
          <a:xfrm>
            <a:off x="5118259" y="4089916"/>
            <a:ext cx="4393883" cy="549116"/>
          </a:xfrm>
          <a:prstGeom prst="rect">
            <a:avLst/>
          </a:prstGeom>
          <a:noFill/>
          <a:ln/>
        </p:spPr>
        <p:txBody>
          <a:bodyPr wrap="none" lIns="0" tIns="0" rIns="0" bIns="0" rtlCol="0" anchor="t"/>
          <a:lstStyle/>
          <a:p>
            <a:pPr>
              <a:lnSpc>
                <a:spcPts val="4200"/>
              </a:lnSpc>
            </a:pPr>
            <a:r>
              <a:rPr lang="en-US" sz="3200" b="1" dirty="0">
                <a:solidFill>
                  <a:srgbClr val="FFFFFF"/>
                </a:solidFill>
                <a:latin typeface="Arial" panose="020B0604020202020204" pitchFamily="34" charset="0"/>
                <a:ea typeface="Verdana Bold" panose="020B0804030504040204" pitchFamily="34" charset="0"/>
                <a:cs typeface="Arial" panose="020B0604020202020204" pitchFamily="34" charset="0"/>
              </a:rPr>
              <a:t>With AWS Lambda</a:t>
            </a:r>
          </a:p>
        </p:txBody>
      </p:sp>
      <p:sp>
        <p:nvSpPr>
          <p:cNvPr id="6" name="Text 3"/>
          <p:cNvSpPr/>
          <p:nvPr/>
        </p:nvSpPr>
        <p:spPr>
          <a:xfrm>
            <a:off x="746879" y="4919067"/>
            <a:ext cx="13136642" cy="373499"/>
          </a:xfrm>
          <a:prstGeom prst="rect">
            <a:avLst/>
          </a:prstGeom>
          <a:noFill/>
          <a:ln/>
        </p:spPr>
        <p:txBody>
          <a:bodyPr wrap="none" lIns="0" tIns="0" rIns="0" bIns="0" rtlCol="0" anchor="t"/>
          <a:lstStyle/>
          <a:p>
            <a:pPr>
              <a:lnSpc>
                <a:spcPts val="2300"/>
              </a:lnSpc>
            </a:pPr>
            <a:r>
              <a:rPr lang="en-US" sz="2400" dirty="0">
                <a:solidFill>
                  <a:srgbClr val="E5E0DF"/>
                </a:solidFill>
                <a:latin typeface="Arial" panose="020B0604020202020204" pitchFamily="34" charset="0"/>
                <a:cs typeface="Arial" panose="020B0604020202020204" pitchFamily="34" charset="0"/>
              </a:rPr>
              <a:t>Embrace the serverless revolution and transform how you build and scale applications.</a:t>
            </a:r>
          </a:p>
        </p:txBody>
      </p:sp>
      <p:sp>
        <p:nvSpPr>
          <p:cNvPr id="7" name="Text 4"/>
          <p:cNvSpPr/>
          <p:nvPr/>
        </p:nvSpPr>
        <p:spPr>
          <a:xfrm>
            <a:off x="746879" y="5670590"/>
            <a:ext cx="6340554" cy="597218"/>
          </a:xfrm>
          <a:prstGeom prst="rect">
            <a:avLst/>
          </a:prstGeom>
          <a:noFill/>
          <a:ln/>
        </p:spPr>
        <p:txBody>
          <a:bodyPr wrap="square" lIns="0" tIns="0" rIns="0" bIns="0" rtlCol="0" anchor="t"/>
          <a:lstStyle/>
          <a:p>
            <a:pPr>
              <a:lnSpc>
                <a:spcPts val="2300"/>
              </a:lnSpc>
              <a:buSzPct val="100000"/>
            </a:pPr>
            <a:r>
              <a:rPr lang="en-US" sz="2000" dirty="0">
                <a:solidFill>
                  <a:srgbClr val="E5E0DF"/>
                </a:solidFill>
                <a:latin typeface="Arial" panose="020B0604020202020204" pitchFamily="34" charset="0"/>
                <a:cs typeface="Arial" panose="020B0604020202020204" pitchFamily="34" charset="0"/>
              </a:rPr>
              <a:t>Empower your teams to innovate faster by eliminating infrastructure overhead.</a:t>
            </a:r>
          </a:p>
        </p:txBody>
      </p:sp>
      <p:sp>
        <p:nvSpPr>
          <p:cNvPr id="8" name="Text 5"/>
          <p:cNvSpPr/>
          <p:nvPr/>
        </p:nvSpPr>
        <p:spPr>
          <a:xfrm>
            <a:off x="746879" y="6333053"/>
            <a:ext cx="6340554" cy="597218"/>
          </a:xfrm>
          <a:prstGeom prst="rect">
            <a:avLst/>
          </a:prstGeom>
          <a:noFill/>
          <a:ln/>
        </p:spPr>
        <p:txBody>
          <a:bodyPr wrap="square" lIns="0" tIns="0" rIns="0" bIns="0" rtlCol="0" anchor="t"/>
          <a:lstStyle/>
          <a:p>
            <a:pPr>
              <a:lnSpc>
                <a:spcPts val="2300"/>
              </a:lnSpc>
              <a:buSzPct val="100000"/>
            </a:pPr>
            <a:r>
              <a:rPr lang="en-US" sz="2000" dirty="0">
                <a:solidFill>
                  <a:srgbClr val="E5E0DF"/>
                </a:solidFill>
                <a:latin typeface="Arial" panose="020B0604020202020204" pitchFamily="34" charset="0"/>
                <a:cs typeface="Arial" panose="020B0604020202020204" pitchFamily="34" charset="0"/>
              </a:rPr>
              <a:t>Scale effortlessly to meet unpredictable demand, from zero to millions of invocations.</a:t>
            </a:r>
          </a:p>
        </p:txBody>
      </p:sp>
      <p:sp>
        <p:nvSpPr>
          <p:cNvPr id="9" name="Text 6"/>
          <p:cNvSpPr/>
          <p:nvPr/>
        </p:nvSpPr>
        <p:spPr>
          <a:xfrm>
            <a:off x="7550587" y="5670590"/>
            <a:ext cx="6340554" cy="597218"/>
          </a:xfrm>
          <a:prstGeom prst="rect">
            <a:avLst/>
          </a:prstGeom>
          <a:noFill/>
          <a:ln/>
        </p:spPr>
        <p:txBody>
          <a:bodyPr wrap="square" lIns="0" tIns="0" rIns="0" bIns="0" rtlCol="0" anchor="t"/>
          <a:lstStyle/>
          <a:p>
            <a:pPr>
              <a:lnSpc>
                <a:spcPts val="2300"/>
              </a:lnSpc>
              <a:buSzPct val="100000"/>
            </a:pPr>
            <a:r>
              <a:rPr lang="en-US" sz="2000" dirty="0">
                <a:solidFill>
                  <a:srgbClr val="E5E0DF"/>
                </a:solidFill>
                <a:latin typeface="Arial" panose="020B0604020202020204" pitchFamily="34" charset="0"/>
                <a:cs typeface="Arial" panose="020B0604020202020204" pitchFamily="34" charset="0"/>
              </a:rPr>
              <a:t>Optimize costs with a pay-per-millisecond model, only paying for what you use.</a:t>
            </a:r>
          </a:p>
        </p:txBody>
      </p:sp>
      <p:sp>
        <p:nvSpPr>
          <p:cNvPr id="10" name="Text 7"/>
          <p:cNvSpPr/>
          <p:nvPr/>
        </p:nvSpPr>
        <p:spPr>
          <a:xfrm>
            <a:off x="7550587" y="6333053"/>
            <a:ext cx="6340554" cy="597218"/>
          </a:xfrm>
          <a:prstGeom prst="rect">
            <a:avLst/>
          </a:prstGeom>
          <a:noFill/>
          <a:ln/>
        </p:spPr>
        <p:txBody>
          <a:bodyPr wrap="square" lIns="0" tIns="0" rIns="0" bIns="0" rtlCol="0" anchor="t"/>
          <a:lstStyle/>
          <a:p>
            <a:pPr>
              <a:lnSpc>
                <a:spcPts val="2300"/>
              </a:lnSpc>
              <a:buSzPct val="100000"/>
            </a:pPr>
            <a:r>
              <a:rPr lang="en-US" sz="2000" dirty="0">
                <a:solidFill>
                  <a:srgbClr val="E5E0DF"/>
                </a:solidFill>
                <a:latin typeface="Arial" panose="020B0604020202020204" pitchFamily="34" charset="0"/>
                <a:cs typeface="Arial" panose="020B0604020202020204" pitchFamily="34" charset="0"/>
              </a:rPr>
              <a:t>Focus on building impactful, differentiated applications, not managing servers.</a:t>
            </a:r>
          </a:p>
        </p:txBody>
      </p:sp>
      <p:sp>
        <p:nvSpPr>
          <p:cNvPr id="11" name="Text 8"/>
          <p:cNvSpPr/>
          <p:nvPr/>
        </p:nvSpPr>
        <p:spPr>
          <a:xfrm>
            <a:off x="468259" y="7360265"/>
            <a:ext cx="10590967" cy="439341"/>
          </a:xfrm>
          <a:prstGeom prst="rect">
            <a:avLst/>
          </a:prstGeom>
          <a:noFill/>
          <a:ln/>
        </p:spPr>
        <p:txBody>
          <a:bodyPr wrap="none" lIns="0" tIns="0" rIns="0" bIns="0" rtlCol="0" anchor="t"/>
          <a:lstStyle/>
          <a:p>
            <a:pPr indent="0">
              <a:lnSpc>
                <a:spcPts val="4200"/>
              </a:lnSpc>
              <a:buNone/>
            </a:pPr>
            <a:r>
              <a:rPr lang="en-US" sz="2800" b="1" dirty="0">
                <a:solidFill>
                  <a:srgbClr val="FFFFFF"/>
                </a:solidFill>
                <a:latin typeface="Arial" panose="020B0604020202020204" pitchFamily="34" charset="0"/>
                <a:ea typeface="Verdana Bold" panose="020B0804030504040204" pitchFamily="34" charset="0"/>
                <a:cs typeface="Arial" panose="020B0604020202020204" pitchFamily="34" charset="0"/>
              </a:rPr>
              <a:t>Start your </a:t>
            </a:r>
            <a:r>
              <a:rPr lang="en-US" sz="3350" b="1" dirty="0">
                <a:solidFill>
                  <a:srgbClr val="FFFFFF"/>
                </a:solidFill>
                <a:latin typeface="Arial" panose="020B0604020202020204" pitchFamily="34" charset="0"/>
                <a:ea typeface="Verdana Bold" panose="020B0804030504040204" pitchFamily="34" charset="0"/>
                <a:cs typeface="Arial" panose="020B0604020202020204" pitchFamily="34" charset="0"/>
              </a:rPr>
              <a:t>serverless</a:t>
            </a:r>
            <a:r>
              <a:rPr lang="en-US" sz="2800" b="1" dirty="0">
                <a:solidFill>
                  <a:srgbClr val="FFFFFF"/>
                </a:solidFill>
                <a:latin typeface="Arial" panose="020B0604020202020204" pitchFamily="34" charset="0"/>
                <a:ea typeface="Verdana Bold" panose="020B0804030504040204" pitchFamily="34" charset="0"/>
                <a:cs typeface="Arial" panose="020B0604020202020204" pitchFamily="34" charset="0"/>
              </a:rPr>
              <a:t> journey today and unlock new possibilities!</a:t>
            </a:r>
          </a:p>
        </p:txBody>
      </p:sp>
    </p:spTree>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TotalTime>
  <Words>1544</Words>
  <Application>Microsoft Office PowerPoint</Application>
  <PresentationFormat>Custom</PresentationFormat>
  <Paragraphs>92</Paragraphs>
  <Slides>10</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moham</dc:creator>
  <cp:lastModifiedBy>MD Waseem</cp:lastModifiedBy>
  <cp:revision>11</cp:revision>
  <dcterms:created xsi:type="dcterms:W3CDTF">2025-08-17T06:44:58Z</dcterms:created>
  <dcterms:modified xsi:type="dcterms:W3CDTF">2025-08-17T12:19:08Z</dcterms:modified>
</cp:coreProperties>
</file>